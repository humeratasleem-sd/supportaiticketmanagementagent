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92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2922"/>
          </a:solidFill>
          <a:ln/>
        </p:spPr>
      </p:sp>
      <p:sp>
        <p:nvSpPr>
          <p:cNvPr id="3" name="Shape 1"/>
          <p:cNvSpPr/>
          <p:nvPr/>
        </p:nvSpPr>
        <p:spPr>
          <a:xfrm>
            <a:off x="-1371600" y="-1645920"/>
            <a:ext cx="4572000" cy="4572000"/>
          </a:xfrm>
          <a:prstGeom prst="roundRect">
            <a:avLst>
              <a:gd name="adj" fmla="val 50000"/>
            </a:avLst>
          </a:prstGeom>
          <a:solidFill>
            <a:srgbClr val="0E312A"/>
          </a:solidFill>
          <a:ln/>
        </p:spPr>
      </p:sp>
      <p:sp>
        <p:nvSpPr>
          <p:cNvPr id="4" name="Shape 2"/>
          <p:cNvSpPr/>
          <p:nvPr/>
        </p:nvSpPr>
        <p:spPr>
          <a:xfrm>
            <a:off x="9875520" y="4114800"/>
            <a:ext cx="5029200" cy="5029200"/>
          </a:xfrm>
          <a:prstGeom prst="roundRect">
            <a:avLst>
              <a:gd name="adj" fmla="val 50000"/>
            </a:avLst>
          </a:prstGeom>
          <a:solidFill>
            <a:srgbClr val="0A1F19"/>
          </a:solidFill>
          <a:ln/>
        </p:spPr>
      </p:sp>
      <p:sp>
        <p:nvSpPr>
          <p:cNvPr id="5" name="Text 3"/>
          <p:cNvSpPr txBox="1"/>
          <p:nvPr/>
        </p:nvSpPr>
        <p:spPr>
          <a:xfrm>
            <a:off x="1152144" y="1417320"/>
            <a:ext cx="7315200" cy="274320"/>
          </a:xfrm>
          <a:prstGeom prst="rect">
            <a:avLst/>
          </a:prstGeom>
          <a:noFill/>
          <a:ln/>
        </p:spPr>
        <p:txBody>
          <a:bodyPr wrap="square" lIns="0" tIns="0" rIns="0" bIns="0" rtlCol="0" anchor="ctr"/>
          <a:lstStyle/>
          <a:p>
            <a:pPr indent="0" marL="0">
              <a:buNone/>
            </a:pPr>
            <a:r>
              <a:rPr lang="en-US" sz="1200" b="1" spc="120" kern="0" dirty="0">
                <a:solidFill>
                  <a:srgbClr val="2DD4BF"/>
                </a:solidFill>
                <a:latin typeface="Inter" pitchFamily="34" charset="0"/>
                <a:ea typeface="Inter" pitchFamily="34" charset="-122"/>
                <a:cs typeface="Inter" pitchFamily="34" charset="-120"/>
              </a:rPr>
              <a:t>INFOSYS SPRINGBOARD VIRTUAL INTERNSHIP 7.0</a:t>
            </a:r>
            <a:endParaRPr lang="en-US" sz="1200" dirty="0"/>
          </a:p>
        </p:txBody>
      </p:sp>
      <p:sp>
        <p:nvSpPr>
          <p:cNvPr id="6" name="Shape 4"/>
          <p:cNvSpPr/>
          <p:nvPr/>
        </p:nvSpPr>
        <p:spPr>
          <a:xfrm>
            <a:off x="1152144" y="1874520"/>
            <a:ext cx="822960" cy="822960"/>
          </a:xfrm>
          <a:prstGeom prst="roundRect">
            <a:avLst>
              <a:gd name="adj" fmla="val 22222"/>
            </a:avLst>
          </a:prstGeom>
          <a:solidFill>
            <a:srgbClr val="0D9488"/>
          </a:solidFill>
          <a:ln/>
        </p:spPr>
      </p:sp>
      <p:sp>
        <p:nvSpPr>
          <p:cNvPr id="7" name="Text 5"/>
          <p:cNvSpPr txBox="1"/>
          <p:nvPr/>
        </p:nvSpPr>
        <p:spPr>
          <a:xfrm>
            <a:off x="1152144" y="1874520"/>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Plus Jakarta Sans" pitchFamily="34" charset="0"/>
                <a:ea typeface="Plus Jakarta Sans" pitchFamily="34" charset="-122"/>
                <a:cs typeface="Plus Jakarta Sans" pitchFamily="34" charset="-120"/>
              </a:rPr>
              <a:t>SP</a:t>
            </a:r>
            <a:endParaRPr lang="en-US" sz="2400" dirty="0"/>
          </a:p>
        </p:txBody>
      </p:sp>
      <p:sp>
        <p:nvSpPr>
          <p:cNvPr id="8" name="Text 6"/>
          <p:cNvSpPr txBox="1"/>
          <p:nvPr/>
        </p:nvSpPr>
        <p:spPr>
          <a:xfrm>
            <a:off x="2148840" y="1874520"/>
            <a:ext cx="7315200" cy="868680"/>
          </a:xfrm>
          <a:prstGeom prst="rect">
            <a:avLst/>
          </a:prstGeom>
          <a:noFill/>
          <a:ln/>
        </p:spPr>
        <p:txBody>
          <a:bodyPr wrap="square" lIns="0" tIns="0" rIns="0" bIns="0" rtlCol="0" anchor="ctr"/>
          <a:lstStyle/>
          <a:p>
            <a:pPr indent="0" marL="0">
              <a:buNone/>
            </a:pPr>
            <a:r>
              <a:rPr lang="en-US" sz="4600" b="1" dirty="0">
                <a:solidFill>
                  <a:srgbClr val="FFFFFF"/>
                </a:solidFill>
                <a:latin typeface="Plus Jakarta Sans" pitchFamily="34" charset="0"/>
                <a:ea typeface="Plus Jakarta Sans" pitchFamily="34" charset="-122"/>
                <a:cs typeface="Plus Jakarta Sans" pitchFamily="34" charset="-120"/>
              </a:rPr>
              <a:t>SupportPilot</a:t>
            </a:r>
            <a:endParaRPr lang="en-US" sz="4600" dirty="0"/>
          </a:p>
        </p:txBody>
      </p:sp>
      <p:sp>
        <p:nvSpPr>
          <p:cNvPr id="9" name="Text 7"/>
          <p:cNvSpPr txBox="1"/>
          <p:nvPr/>
        </p:nvSpPr>
        <p:spPr>
          <a:xfrm>
            <a:off x="1152144" y="2971800"/>
            <a:ext cx="8686800" cy="365760"/>
          </a:xfrm>
          <a:prstGeom prst="rect">
            <a:avLst/>
          </a:prstGeom>
          <a:noFill/>
          <a:ln/>
        </p:spPr>
        <p:txBody>
          <a:bodyPr wrap="square" lIns="0" tIns="0" rIns="0" bIns="0" rtlCol="0" anchor="ctr"/>
          <a:lstStyle/>
          <a:p>
            <a:pPr indent="0" marL="0">
              <a:buNone/>
            </a:pPr>
            <a:r>
              <a:rPr lang="en-US" sz="1700" b="1" dirty="0">
                <a:solidFill>
                  <a:srgbClr val="FFFFFF"/>
                </a:solidFill>
                <a:latin typeface="Inter" pitchFamily="34" charset="0"/>
                <a:ea typeface="Inter" pitchFamily="34" charset="-122"/>
                <a:cs typeface="Inter" pitchFamily="34" charset="-120"/>
              </a:rPr>
              <a:t>AI-Powered Customer Support &amp; Ticket Resolution Platform</a:t>
            </a:r>
            <a:endParaRPr lang="en-US" sz="1700" dirty="0"/>
          </a:p>
        </p:txBody>
      </p:sp>
      <p:sp>
        <p:nvSpPr>
          <p:cNvPr id="10" name="Text 8"/>
          <p:cNvSpPr txBox="1"/>
          <p:nvPr/>
        </p:nvSpPr>
        <p:spPr>
          <a:xfrm>
            <a:off x="1152144" y="3401568"/>
            <a:ext cx="7863840" cy="594360"/>
          </a:xfrm>
          <a:prstGeom prst="rect">
            <a:avLst/>
          </a:prstGeom>
          <a:noFill/>
          <a:ln/>
        </p:spPr>
        <p:txBody>
          <a:bodyPr wrap="square" lIns="0" tIns="0" rIns="0" bIns="0" rtlCol="0" anchor="ctr"/>
          <a:lstStyle/>
          <a:p>
            <a:pPr indent="0" marL="0">
              <a:lnSpc>
                <a:spcPct val="125000"/>
              </a:lnSpc>
              <a:buNone/>
            </a:pPr>
            <a:r>
              <a:rPr lang="en-US" sz="1250" dirty="0">
                <a:solidFill>
                  <a:srgbClr val="94A3B8"/>
                </a:solidFill>
                <a:latin typeface="Inter" pitchFamily="34" charset="0"/>
                <a:ea typeface="Inter" pitchFamily="34" charset="-122"/>
                <a:cs typeface="Inter" pitchFamily="34" charset="-120"/>
              </a:rPr>
              <a:t>Automating ticket intake, RAG knowledge retrieval, confidence-based triage, agent collaboration, and enterprise workflow management across four end-to-end delivery milestones.</a:t>
            </a:r>
            <a:endParaRPr lang="en-US" sz="1250" dirty="0"/>
          </a:p>
        </p:txBody>
      </p:sp>
      <p:sp>
        <p:nvSpPr>
          <p:cNvPr id="11" name="Shape 9"/>
          <p:cNvSpPr/>
          <p:nvPr/>
        </p:nvSpPr>
        <p:spPr>
          <a:xfrm>
            <a:off x="1152144" y="4160520"/>
            <a:ext cx="2148840" cy="329184"/>
          </a:xfrm>
          <a:prstGeom prst="roundRect">
            <a:avLst>
              <a:gd name="adj" fmla="val 44444"/>
            </a:avLst>
          </a:prstGeom>
          <a:solidFill>
            <a:srgbClr val="15554B"/>
          </a:solidFill>
          <a:ln w="12700">
            <a:solidFill>
              <a:srgbClr val="1E6B5C"/>
            </a:solidFill>
            <a:prstDash val="solid"/>
          </a:ln>
        </p:spPr>
      </p:sp>
      <p:sp>
        <p:nvSpPr>
          <p:cNvPr id="12" name="Text 10"/>
          <p:cNvSpPr txBox="1"/>
          <p:nvPr/>
        </p:nvSpPr>
        <p:spPr>
          <a:xfrm>
            <a:off x="1152144" y="4160520"/>
            <a:ext cx="2148840" cy="329184"/>
          </a:xfrm>
          <a:prstGeom prst="rect">
            <a:avLst/>
          </a:prstGeom>
          <a:noFill/>
          <a:ln/>
        </p:spPr>
        <p:txBody>
          <a:bodyPr wrap="square" lIns="0" tIns="0" rIns="0" bIns="0" rtlCol="0" anchor="ctr"/>
          <a:lstStyle/>
          <a:p>
            <a:pPr algn="ctr" indent="0" marL="0">
              <a:buNone/>
            </a:pPr>
            <a:r>
              <a:rPr lang="en-US" sz="1100" b="1" dirty="0">
                <a:solidFill>
                  <a:srgbClr val="2DD4BF"/>
                </a:solidFill>
                <a:latin typeface="Inter" pitchFamily="34" charset="0"/>
                <a:ea typeface="Inter" pitchFamily="34" charset="-122"/>
                <a:cs typeface="Inter" pitchFamily="34" charset="-120"/>
              </a:rPr>
              <a:t>TEAM 1</a:t>
            </a:r>
            <a:endParaRPr lang="en-US" sz="1100" dirty="0"/>
          </a:p>
        </p:txBody>
      </p:sp>
      <p:sp>
        <p:nvSpPr>
          <p:cNvPr id="13" name="Shape 11"/>
          <p:cNvSpPr/>
          <p:nvPr/>
        </p:nvSpPr>
        <p:spPr>
          <a:xfrm>
            <a:off x="1152144" y="5074920"/>
            <a:ext cx="9875520" cy="10973"/>
          </a:xfrm>
          <a:prstGeom prst="rect">
            <a:avLst/>
          </a:prstGeom>
          <a:solidFill>
            <a:srgbClr val="1E4A3F"/>
          </a:solidFill>
          <a:ln/>
        </p:spPr>
      </p:sp>
      <p:sp>
        <p:nvSpPr>
          <p:cNvPr id="14" name="Text 12"/>
          <p:cNvSpPr txBox="1"/>
          <p:nvPr/>
        </p:nvSpPr>
        <p:spPr>
          <a:xfrm>
            <a:off x="1152144" y="5349240"/>
            <a:ext cx="6400800" cy="201168"/>
          </a:xfrm>
          <a:prstGeom prst="rect">
            <a:avLst/>
          </a:prstGeom>
          <a:noFill/>
          <a:ln/>
        </p:spPr>
        <p:txBody>
          <a:bodyPr wrap="square" lIns="0" tIns="0" rIns="0" bIns="0" rtlCol="0" anchor="ctr"/>
          <a:lstStyle/>
          <a:p>
            <a:pPr indent="0" marL="0">
              <a:buNone/>
            </a:pPr>
            <a:r>
              <a:rPr lang="en-US" sz="1000" b="1" spc="100" kern="0" dirty="0">
                <a:solidFill>
                  <a:srgbClr val="2DD4BF"/>
                </a:solidFill>
                <a:latin typeface="Inter" pitchFamily="34" charset="0"/>
                <a:ea typeface="Inter" pitchFamily="34" charset="-122"/>
                <a:cs typeface="Inter" pitchFamily="34" charset="-120"/>
              </a:rPr>
              <a:t>SOURCE REPOSITORY</a:t>
            </a:r>
            <a:endParaRPr lang="en-US" sz="1000" dirty="0"/>
          </a:p>
        </p:txBody>
      </p:sp>
      <p:sp>
        <p:nvSpPr>
          <p:cNvPr id="15" name="Text 13"/>
          <p:cNvSpPr txBox="1"/>
          <p:nvPr/>
        </p:nvSpPr>
        <p:spPr>
          <a:xfrm>
            <a:off x="1152144" y="5550408"/>
            <a:ext cx="8686800" cy="274320"/>
          </a:xfrm>
          <a:prstGeom prst="rect">
            <a:avLst/>
          </a:prstGeom>
          <a:noFill/>
          <a:ln/>
        </p:spPr>
        <p:txBody>
          <a:bodyPr wrap="square" lIns="0" tIns="0" rIns="0" bIns="0" rtlCol="0" anchor="ctr"/>
          <a:lstStyle/>
          <a:p>
            <a:pPr indent="0" marL="0">
              <a:buNone/>
            </a:pPr>
            <a:r>
              <a:rPr lang="en-US" sz="1250" b="1" dirty="0">
                <a:solidFill>
                  <a:srgbClr val="F8FAF9"/>
                </a:solidFill>
                <a:latin typeface="Inter" pitchFamily="34" charset="0"/>
                <a:ea typeface="Inter" pitchFamily="34" charset="-122"/>
                <a:cs typeface="Inter" pitchFamily="34" charset="-120"/>
              </a:rPr>
              <a:t>github.com/ananyaravikumar548/Infosys_Support-AI-Ticket-Management-</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9"/>
        </a:solidFill>
      </p:bgPr>
    </p:bg>
    <p:spTree>
      <p:nvGrpSpPr>
        <p:cNvPr id="1" name=""/>
        <p:cNvGrpSpPr/>
        <p:nvPr/>
      </p:nvGrpSpPr>
      <p:grpSpPr>
        <a:xfrm>
          <a:off x="0" y="0"/>
          <a:ext cx="0" cy="0"/>
          <a:chOff x="0" y="0"/>
          <a:chExt cx="0" cy="0"/>
        </a:xfrm>
      </p:grpSpPr>
      <p:sp>
        <p:nvSpPr>
          <p:cNvPr id="2" name="Text 0"/>
          <p:cNvSpPr txBox="1"/>
          <p:nvPr/>
        </p:nvSpPr>
        <p:spPr>
          <a:xfrm>
            <a:off x="457200" y="320040"/>
            <a:ext cx="10607040" cy="274320"/>
          </a:xfrm>
          <a:prstGeom prst="rect">
            <a:avLst/>
          </a:prstGeom>
          <a:noFill/>
          <a:ln/>
        </p:spPr>
        <p:txBody>
          <a:bodyPr wrap="square" lIns="0" tIns="0" rIns="0" bIns="0" rtlCol="0" anchor="ctr"/>
          <a:lstStyle/>
          <a:p>
            <a:pPr indent="0" marL="0">
              <a:buNone/>
            </a:pPr>
            <a:r>
              <a:rPr lang="en-US" sz="1100" b="1" spc="100" kern="0" dirty="0">
                <a:solidFill>
                  <a:srgbClr val="0D9488"/>
                </a:solidFill>
                <a:latin typeface="Inter" pitchFamily="34" charset="0"/>
                <a:ea typeface="Inter" pitchFamily="34" charset="-122"/>
                <a:cs typeface="Inter" pitchFamily="34" charset="-120"/>
              </a:rPr>
              <a:t>EXECUTIVE OVERVIEW</a:t>
            </a:r>
            <a:endParaRPr lang="en-US" sz="1100" dirty="0"/>
          </a:p>
        </p:txBody>
      </p:sp>
      <p:sp>
        <p:nvSpPr>
          <p:cNvPr id="3" name="Text 1"/>
          <p:cNvSpPr txBox="1"/>
          <p:nvPr/>
        </p:nvSpPr>
        <p:spPr>
          <a:xfrm>
            <a:off x="457200" y="566928"/>
            <a:ext cx="10972800" cy="566928"/>
          </a:xfrm>
          <a:prstGeom prst="rect">
            <a:avLst/>
          </a:prstGeom>
          <a:noFill/>
          <a:ln/>
        </p:spPr>
        <p:txBody>
          <a:bodyPr wrap="square" lIns="0" tIns="0" rIns="0" bIns="0" rtlCol="0" anchor="ctr"/>
          <a:lstStyle/>
          <a:p>
            <a:pPr indent="0" marL="0">
              <a:buNone/>
            </a:pPr>
            <a:r>
              <a:rPr lang="en-US" sz="2600" b="1" dirty="0">
                <a:solidFill>
                  <a:srgbClr val="0F2922"/>
                </a:solidFill>
                <a:latin typeface="Plus Jakarta Sans" pitchFamily="34" charset="0"/>
                <a:ea typeface="Plus Jakarta Sans" pitchFamily="34" charset="-122"/>
                <a:cs typeface="Plus Jakarta Sans" pitchFamily="34" charset="-120"/>
              </a:rPr>
              <a:t>Introduction to SupportPilot</a:t>
            </a:r>
            <a:endParaRPr lang="en-US" sz="2600" dirty="0"/>
          </a:p>
        </p:txBody>
      </p:sp>
      <p:sp>
        <p:nvSpPr>
          <p:cNvPr id="4" name="Shape 2"/>
          <p:cNvSpPr/>
          <p:nvPr/>
        </p:nvSpPr>
        <p:spPr>
          <a:xfrm>
            <a:off x="457200" y="1207008"/>
            <a:ext cx="11277295" cy="18288"/>
          </a:xfrm>
          <a:prstGeom prst="rect">
            <a:avLst/>
          </a:prstGeom>
          <a:solidFill>
            <a:srgbClr val="E2E8F0"/>
          </a:solidFill>
          <a:ln/>
        </p:spPr>
      </p:sp>
      <p:sp>
        <p:nvSpPr>
          <p:cNvPr id="5" name="Shape 3"/>
          <p:cNvSpPr/>
          <p:nvPr/>
        </p:nvSpPr>
        <p:spPr>
          <a:xfrm>
            <a:off x="457200" y="1417320"/>
            <a:ext cx="11277295" cy="1417320"/>
          </a:xfrm>
          <a:prstGeom prst="roundRect">
            <a:avLst>
              <a:gd name="adj" fmla="val 5161"/>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6" name="Text 4"/>
          <p:cNvSpPr txBox="1"/>
          <p:nvPr/>
        </p:nvSpPr>
        <p:spPr>
          <a:xfrm>
            <a:off x="731520" y="1572768"/>
            <a:ext cx="3657600" cy="274320"/>
          </a:xfrm>
          <a:prstGeom prst="rect">
            <a:avLst/>
          </a:prstGeom>
          <a:noFill/>
          <a:ln/>
        </p:spPr>
        <p:txBody>
          <a:bodyPr wrap="square" lIns="0" tIns="0" rIns="0" bIns="0" rtlCol="0" anchor="ctr"/>
          <a:lstStyle/>
          <a:p>
            <a:pPr indent="0" marL="0">
              <a:buNone/>
            </a:pPr>
            <a:r>
              <a:rPr lang="en-US" sz="1400" b="1" dirty="0">
                <a:solidFill>
                  <a:srgbClr val="0F2922"/>
                </a:solidFill>
                <a:latin typeface="Plus Jakarta Sans" pitchFamily="34" charset="0"/>
                <a:ea typeface="Plus Jakarta Sans" pitchFamily="34" charset="-122"/>
                <a:cs typeface="Plus Jakarta Sans" pitchFamily="34" charset="-120"/>
              </a:rPr>
              <a:t>Platform Purpose</a:t>
            </a:r>
            <a:endParaRPr lang="en-US" sz="1400" dirty="0"/>
          </a:p>
        </p:txBody>
      </p:sp>
      <p:sp>
        <p:nvSpPr>
          <p:cNvPr id="7" name="Text 5"/>
          <p:cNvSpPr txBox="1"/>
          <p:nvPr/>
        </p:nvSpPr>
        <p:spPr>
          <a:xfrm>
            <a:off x="731520" y="1874520"/>
            <a:ext cx="10698480" cy="868680"/>
          </a:xfrm>
          <a:prstGeom prst="rect">
            <a:avLst/>
          </a:prstGeom>
          <a:noFill/>
          <a:ln/>
        </p:spPr>
        <p:txBody>
          <a:bodyPr wrap="square" lIns="0" tIns="0" rIns="0" bIns="0" rtlCol="0" anchor="ctr"/>
          <a:lstStyle/>
          <a:p>
            <a:pPr indent="0" marL="0">
              <a:lnSpc>
                <a:spcPct val="125000"/>
              </a:lnSpc>
              <a:buNone/>
            </a:pPr>
            <a:r>
              <a:rPr lang="en-US" sz="1200" dirty="0">
                <a:solidFill>
                  <a:srgbClr val="475569"/>
                </a:solidFill>
                <a:latin typeface="Inter" pitchFamily="34" charset="0"/>
                <a:ea typeface="Inter" pitchFamily="34" charset="-122"/>
                <a:cs typeface="Inter" pitchFamily="34" charset="-120"/>
              </a:rPr>
              <a:t>SupportPilot is an enterprise-grade AI customer support platform engineered to automate ticket intake, intelligent triage, vector knowledge retrieval (RAG), confidence-gated human escalation, and controlled ticket closure. Built for high-volume enterprise environments, it unifies customer interaction, agent resolution workflows, and executive analytics.</a:t>
            </a:r>
            <a:endParaRPr lang="en-US" sz="1200" dirty="0"/>
          </a:p>
        </p:txBody>
      </p:sp>
      <p:sp>
        <p:nvSpPr>
          <p:cNvPr id="8" name="Shape 6"/>
          <p:cNvSpPr/>
          <p:nvPr/>
        </p:nvSpPr>
        <p:spPr>
          <a:xfrm>
            <a:off x="457200" y="3063240"/>
            <a:ext cx="3576218" cy="2880360"/>
          </a:xfrm>
          <a:prstGeom prst="roundRect">
            <a:avLst>
              <a:gd name="adj" fmla="val 2540"/>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9" name="Shape 7"/>
          <p:cNvSpPr/>
          <p:nvPr/>
        </p:nvSpPr>
        <p:spPr>
          <a:xfrm>
            <a:off x="658368" y="3264408"/>
            <a:ext cx="384048" cy="384048"/>
          </a:xfrm>
          <a:prstGeom prst="ellipse">
            <a:avLst/>
          </a:prstGeom>
          <a:solidFill>
            <a:srgbClr val="0D9488"/>
          </a:solidFill>
          <a:ln/>
        </p:spPr>
      </p:sp>
      <p:sp>
        <p:nvSpPr>
          <p:cNvPr id="10" name="Text 8"/>
          <p:cNvSpPr txBox="1"/>
          <p:nvPr/>
        </p:nvSpPr>
        <p:spPr>
          <a:xfrm>
            <a:off x="658368" y="32644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1</a:t>
            </a:r>
            <a:endParaRPr lang="en-US" sz="1300" dirty="0"/>
          </a:p>
        </p:txBody>
      </p:sp>
      <p:sp>
        <p:nvSpPr>
          <p:cNvPr id="11" name="Text 9"/>
          <p:cNvSpPr txBox="1"/>
          <p:nvPr/>
        </p:nvSpPr>
        <p:spPr>
          <a:xfrm>
            <a:off x="658368" y="3776472"/>
            <a:ext cx="3173882" cy="274320"/>
          </a:xfrm>
          <a:prstGeom prst="rect">
            <a:avLst/>
          </a:prstGeom>
          <a:noFill/>
          <a:ln/>
        </p:spPr>
        <p:txBody>
          <a:bodyPr wrap="square" lIns="0" tIns="0" rIns="0" bIns="0" rtlCol="0" anchor="ctr"/>
          <a:lstStyle/>
          <a:p>
            <a:pPr indent="0" marL="0">
              <a:buNone/>
            </a:pPr>
            <a:r>
              <a:rPr lang="en-US" sz="1300" b="1" dirty="0">
                <a:solidFill>
                  <a:srgbClr val="0F2922"/>
                </a:solidFill>
                <a:latin typeface="Plus Jakarta Sans" pitchFamily="34" charset="0"/>
                <a:ea typeface="Plus Jakarta Sans" pitchFamily="34" charset="-122"/>
                <a:cs typeface="Plus Jakarta Sans" pitchFamily="34" charset="-120"/>
              </a:rPr>
              <a:t>Multi-Persona Ecosystem</a:t>
            </a:r>
            <a:endParaRPr lang="en-US" sz="1300" dirty="0"/>
          </a:p>
        </p:txBody>
      </p:sp>
      <p:sp>
        <p:nvSpPr>
          <p:cNvPr id="12" name="Text 10"/>
          <p:cNvSpPr txBox="1"/>
          <p:nvPr/>
        </p:nvSpPr>
        <p:spPr>
          <a:xfrm>
            <a:off x="658368" y="4050792"/>
            <a:ext cx="3173882" cy="1737360"/>
          </a:xfrm>
          <a:prstGeom prst="rect">
            <a:avLst/>
          </a:prstGeom>
          <a:noFill/>
          <a:ln/>
        </p:spPr>
        <p:txBody>
          <a:bodyPr wrap="square" lIns="0" tIns="0" rIns="0" bIns="0" rtlCol="0" anchor="t"/>
          <a:lstStyle/>
          <a:p>
            <a:pPr indent="0" marL="0">
              <a:lnSpc>
                <a:spcPct val="115000"/>
              </a:lnSpc>
              <a:buNone/>
            </a:pPr>
            <a:r>
              <a:rPr lang="en-US" sz="1050" dirty="0">
                <a:solidFill>
                  <a:srgbClr val="475569"/>
                </a:solidFill>
                <a:latin typeface="Inter" pitchFamily="34" charset="0"/>
                <a:ea typeface="Inter" pitchFamily="34" charset="-122"/>
                <a:cs typeface="Inter" pitchFamily="34" charset="-120"/>
              </a:rPr>
              <a:t>Customized portals for Customers (intake &amp; tracking), Agents (AI-assisted workspace), Managers (workload, SLA &amp; Jira sync), and Admins (confidence thresholds &amp; RBAC).</a:t>
            </a:r>
            <a:endParaRPr lang="en-US" sz="1050" dirty="0"/>
          </a:p>
        </p:txBody>
      </p:sp>
      <p:sp>
        <p:nvSpPr>
          <p:cNvPr id="13" name="Shape 11"/>
          <p:cNvSpPr/>
          <p:nvPr/>
        </p:nvSpPr>
        <p:spPr>
          <a:xfrm>
            <a:off x="4307738" y="3063240"/>
            <a:ext cx="3576218" cy="2880360"/>
          </a:xfrm>
          <a:prstGeom prst="roundRect">
            <a:avLst>
              <a:gd name="adj" fmla="val 2540"/>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14" name="Shape 12"/>
          <p:cNvSpPr/>
          <p:nvPr/>
        </p:nvSpPr>
        <p:spPr>
          <a:xfrm>
            <a:off x="4508906" y="3264408"/>
            <a:ext cx="384048" cy="384048"/>
          </a:xfrm>
          <a:prstGeom prst="ellipse">
            <a:avLst/>
          </a:prstGeom>
          <a:solidFill>
            <a:srgbClr val="0D9488"/>
          </a:solidFill>
          <a:ln/>
        </p:spPr>
      </p:sp>
      <p:sp>
        <p:nvSpPr>
          <p:cNvPr id="15" name="Text 13"/>
          <p:cNvSpPr txBox="1"/>
          <p:nvPr/>
        </p:nvSpPr>
        <p:spPr>
          <a:xfrm>
            <a:off x="4508906" y="32644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2</a:t>
            </a:r>
            <a:endParaRPr lang="en-US" sz="1300" dirty="0"/>
          </a:p>
        </p:txBody>
      </p:sp>
      <p:sp>
        <p:nvSpPr>
          <p:cNvPr id="16" name="Text 14"/>
          <p:cNvSpPr txBox="1"/>
          <p:nvPr/>
        </p:nvSpPr>
        <p:spPr>
          <a:xfrm>
            <a:off x="4508906" y="3776472"/>
            <a:ext cx="3173882" cy="274320"/>
          </a:xfrm>
          <a:prstGeom prst="rect">
            <a:avLst/>
          </a:prstGeom>
          <a:noFill/>
          <a:ln/>
        </p:spPr>
        <p:txBody>
          <a:bodyPr wrap="square" lIns="0" tIns="0" rIns="0" bIns="0" rtlCol="0" anchor="ctr"/>
          <a:lstStyle/>
          <a:p>
            <a:pPr indent="0" marL="0">
              <a:buNone/>
            </a:pPr>
            <a:r>
              <a:rPr lang="en-US" sz="1300" b="1" dirty="0">
                <a:solidFill>
                  <a:srgbClr val="0F2922"/>
                </a:solidFill>
                <a:latin typeface="Plus Jakarta Sans" pitchFamily="34" charset="0"/>
                <a:ea typeface="Plus Jakarta Sans" pitchFamily="34" charset="-122"/>
                <a:cs typeface="Plus Jakarta Sans" pitchFamily="34" charset="-120"/>
              </a:rPr>
              <a:t>Lifecycle Automation</a:t>
            </a:r>
            <a:endParaRPr lang="en-US" sz="1300" dirty="0"/>
          </a:p>
        </p:txBody>
      </p:sp>
      <p:sp>
        <p:nvSpPr>
          <p:cNvPr id="17" name="Text 15"/>
          <p:cNvSpPr txBox="1"/>
          <p:nvPr/>
        </p:nvSpPr>
        <p:spPr>
          <a:xfrm>
            <a:off x="4508906" y="4050792"/>
            <a:ext cx="3173882" cy="1737360"/>
          </a:xfrm>
          <a:prstGeom prst="rect">
            <a:avLst/>
          </a:prstGeom>
          <a:noFill/>
          <a:ln/>
        </p:spPr>
        <p:txBody>
          <a:bodyPr wrap="square" lIns="0" tIns="0" rIns="0" bIns="0" rtlCol="0" anchor="t"/>
          <a:lstStyle/>
          <a:p>
            <a:pPr indent="0" marL="0">
              <a:lnSpc>
                <a:spcPct val="115000"/>
              </a:lnSpc>
              <a:buNone/>
            </a:pPr>
            <a:r>
              <a:rPr lang="en-US" sz="1050" dirty="0">
                <a:solidFill>
                  <a:srgbClr val="475569"/>
                </a:solidFill>
                <a:latin typeface="Inter" pitchFamily="34" charset="0"/>
                <a:ea typeface="Inter" pitchFamily="34" charset="-122"/>
                <a:cs typeface="Inter" pitchFamily="34" charset="-120"/>
              </a:rPr>
              <a:t>End-to-end automation from intent detection and RAG document search, to auto-drafting, SLA tracking, agent validation, and customer confirmation.</a:t>
            </a:r>
            <a:endParaRPr lang="en-US" sz="1050" dirty="0"/>
          </a:p>
        </p:txBody>
      </p:sp>
      <p:sp>
        <p:nvSpPr>
          <p:cNvPr id="18" name="Shape 16"/>
          <p:cNvSpPr/>
          <p:nvPr/>
        </p:nvSpPr>
        <p:spPr>
          <a:xfrm>
            <a:off x="8158277" y="3063240"/>
            <a:ext cx="3576218" cy="2880360"/>
          </a:xfrm>
          <a:prstGeom prst="roundRect">
            <a:avLst>
              <a:gd name="adj" fmla="val 2540"/>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19" name="Shape 17"/>
          <p:cNvSpPr/>
          <p:nvPr/>
        </p:nvSpPr>
        <p:spPr>
          <a:xfrm>
            <a:off x="8359445" y="3264408"/>
            <a:ext cx="384048" cy="384048"/>
          </a:xfrm>
          <a:prstGeom prst="ellipse">
            <a:avLst/>
          </a:prstGeom>
          <a:solidFill>
            <a:srgbClr val="0D9488"/>
          </a:solidFill>
          <a:ln/>
        </p:spPr>
      </p:sp>
      <p:sp>
        <p:nvSpPr>
          <p:cNvPr id="20" name="Text 18"/>
          <p:cNvSpPr txBox="1"/>
          <p:nvPr/>
        </p:nvSpPr>
        <p:spPr>
          <a:xfrm>
            <a:off x="8359445" y="32644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3</a:t>
            </a:r>
            <a:endParaRPr lang="en-US" sz="1300" dirty="0"/>
          </a:p>
        </p:txBody>
      </p:sp>
      <p:sp>
        <p:nvSpPr>
          <p:cNvPr id="21" name="Text 19"/>
          <p:cNvSpPr txBox="1"/>
          <p:nvPr/>
        </p:nvSpPr>
        <p:spPr>
          <a:xfrm>
            <a:off x="8359445" y="3776472"/>
            <a:ext cx="3173882" cy="274320"/>
          </a:xfrm>
          <a:prstGeom prst="rect">
            <a:avLst/>
          </a:prstGeom>
          <a:noFill/>
          <a:ln/>
        </p:spPr>
        <p:txBody>
          <a:bodyPr wrap="square" lIns="0" tIns="0" rIns="0" bIns="0" rtlCol="0" anchor="ctr"/>
          <a:lstStyle/>
          <a:p>
            <a:pPr indent="0" marL="0">
              <a:buNone/>
            </a:pPr>
            <a:r>
              <a:rPr lang="en-US" sz="1300" b="1" dirty="0">
                <a:solidFill>
                  <a:srgbClr val="0F2922"/>
                </a:solidFill>
                <a:latin typeface="Plus Jakarta Sans" pitchFamily="34" charset="0"/>
                <a:ea typeface="Plus Jakarta Sans" pitchFamily="34" charset="-122"/>
                <a:cs typeface="Plus Jakarta Sans" pitchFamily="34" charset="-120"/>
              </a:rPr>
              <a:t>Core Objective</a:t>
            </a:r>
            <a:endParaRPr lang="en-US" sz="1300" dirty="0"/>
          </a:p>
        </p:txBody>
      </p:sp>
      <p:sp>
        <p:nvSpPr>
          <p:cNvPr id="22" name="Text 20"/>
          <p:cNvSpPr txBox="1"/>
          <p:nvPr/>
        </p:nvSpPr>
        <p:spPr>
          <a:xfrm>
            <a:off x="8359445" y="4050792"/>
            <a:ext cx="3173882" cy="1737360"/>
          </a:xfrm>
          <a:prstGeom prst="rect">
            <a:avLst/>
          </a:prstGeom>
          <a:noFill/>
          <a:ln/>
        </p:spPr>
        <p:txBody>
          <a:bodyPr wrap="square" lIns="0" tIns="0" rIns="0" bIns="0" rtlCol="0" anchor="t"/>
          <a:lstStyle/>
          <a:p>
            <a:pPr indent="0" marL="0">
              <a:lnSpc>
                <a:spcPct val="115000"/>
              </a:lnSpc>
              <a:buNone/>
            </a:pPr>
            <a:r>
              <a:rPr lang="en-US" sz="1050" dirty="0">
                <a:solidFill>
                  <a:srgbClr val="475569"/>
                </a:solidFill>
                <a:latin typeface="Inter" pitchFamily="34" charset="0"/>
                <a:ea typeface="Inter" pitchFamily="34" charset="-122"/>
                <a:cs typeface="Inter" pitchFamily="34" charset="-120"/>
              </a:rPr>
              <a:t>Slashing Mean Time to Resolution (MTTR) by up to 75%, eliminating agent burnout on repetitive L1 tickets, and providing 100% SLA and audit visibility.</a:t>
            </a:r>
            <a:endParaRPr lang="en-US" sz="1050" dirty="0"/>
          </a:p>
        </p:txBody>
      </p:sp>
      <p:sp>
        <p:nvSpPr>
          <p:cNvPr id="23" name="Text 21"/>
          <p:cNvSpPr txBox="1"/>
          <p:nvPr/>
        </p:nvSpPr>
        <p:spPr>
          <a:xfrm>
            <a:off x="11475720" y="6510528"/>
            <a:ext cx="365760" cy="256032"/>
          </a:xfrm>
          <a:prstGeom prst="rect">
            <a:avLst/>
          </a:prstGeom>
          <a:noFill/>
          <a:ln/>
        </p:spPr>
        <p:txBody>
          <a:bodyPr wrap="square" lIns="0" tIns="0" rIns="0" bIns="0" rtlCol="0" anchor="ctr"/>
          <a:lstStyle/>
          <a:p>
            <a:pPr algn="r" indent="0" marL="0">
              <a:buNone/>
            </a:pPr>
            <a:r>
              <a:rPr lang="en-US" sz="900" b="1" dirty="0">
                <a:solidFill>
                  <a:srgbClr val="CBD5E1"/>
                </a:solidFill>
                <a:latin typeface="Inter" pitchFamily="34" charset="0"/>
                <a:ea typeface="Inter" pitchFamily="34" charset="-122"/>
                <a:cs typeface="Inter"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9"/>
        </a:solidFill>
      </p:bgPr>
    </p:bg>
    <p:spTree>
      <p:nvGrpSpPr>
        <p:cNvPr id="1" name=""/>
        <p:cNvGrpSpPr/>
        <p:nvPr/>
      </p:nvGrpSpPr>
      <p:grpSpPr>
        <a:xfrm>
          <a:off x="0" y="0"/>
          <a:ext cx="0" cy="0"/>
          <a:chOff x="0" y="0"/>
          <a:chExt cx="0" cy="0"/>
        </a:xfrm>
      </p:grpSpPr>
      <p:sp>
        <p:nvSpPr>
          <p:cNvPr id="2" name="Text 0"/>
          <p:cNvSpPr txBox="1"/>
          <p:nvPr/>
        </p:nvSpPr>
        <p:spPr>
          <a:xfrm>
            <a:off x="457200" y="320040"/>
            <a:ext cx="10607040" cy="274320"/>
          </a:xfrm>
          <a:prstGeom prst="rect">
            <a:avLst/>
          </a:prstGeom>
          <a:noFill/>
          <a:ln/>
        </p:spPr>
        <p:txBody>
          <a:bodyPr wrap="square" lIns="0" tIns="0" rIns="0" bIns="0" rtlCol="0" anchor="ctr"/>
          <a:lstStyle/>
          <a:p>
            <a:pPr indent="0" marL="0">
              <a:buNone/>
            </a:pPr>
            <a:r>
              <a:rPr lang="en-US" sz="1100" b="1" spc="100" kern="0" dirty="0">
                <a:solidFill>
                  <a:srgbClr val="0D9488"/>
                </a:solidFill>
                <a:latin typeface="Inter" pitchFamily="34" charset="0"/>
                <a:ea typeface="Inter" pitchFamily="34" charset="-122"/>
                <a:cs typeface="Inter" pitchFamily="34" charset="-120"/>
              </a:rPr>
              <a:t>INDUSTRY BOTTLENECKS</a:t>
            </a:r>
            <a:endParaRPr lang="en-US" sz="1100" dirty="0"/>
          </a:p>
        </p:txBody>
      </p:sp>
      <p:sp>
        <p:nvSpPr>
          <p:cNvPr id="3" name="Text 1"/>
          <p:cNvSpPr txBox="1"/>
          <p:nvPr/>
        </p:nvSpPr>
        <p:spPr>
          <a:xfrm>
            <a:off x="457200" y="566928"/>
            <a:ext cx="10972800" cy="566928"/>
          </a:xfrm>
          <a:prstGeom prst="rect">
            <a:avLst/>
          </a:prstGeom>
          <a:noFill/>
          <a:ln/>
        </p:spPr>
        <p:txBody>
          <a:bodyPr wrap="square" lIns="0" tIns="0" rIns="0" bIns="0" rtlCol="0" anchor="ctr"/>
          <a:lstStyle/>
          <a:p>
            <a:pPr indent="0" marL="0">
              <a:buNone/>
            </a:pPr>
            <a:r>
              <a:rPr lang="en-US" sz="2600" b="1" dirty="0">
                <a:solidFill>
                  <a:srgbClr val="0F2922"/>
                </a:solidFill>
                <a:latin typeface="Plus Jakarta Sans" pitchFamily="34" charset="0"/>
                <a:ea typeface="Plus Jakarta Sans" pitchFamily="34" charset="-122"/>
                <a:cs typeface="Plus Jakarta Sans" pitchFamily="34" charset="-120"/>
              </a:rPr>
              <a:t>Practical Challenges in Traditional Support</a:t>
            </a:r>
            <a:endParaRPr lang="en-US" sz="2600" dirty="0"/>
          </a:p>
        </p:txBody>
      </p:sp>
      <p:sp>
        <p:nvSpPr>
          <p:cNvPr id="4" name="Shape 2"/>
          <p:cNvSpPr/>
          <p:nvPr/>
        </p:nvSpPr>
        <p:spPr>
          <a:xfrm>
            <a:off x="457200" y="1207008"/>
            <a:ext cx="11277295" cy="18288"/>
          </a:xfrm>
          <a:prstGeom prst="rect">
            <a:avLst/>
          </a:prstGeom>
          <a:solidFill>
            <a:srgbClr val="E2E8F0"/>
          </a:solidFill>
          <a:ln/>
        </p:spPr>
      </p:sp>
      <p:sp>
        <p:nvSpPr>
          <p:cNvPr id="5" name="Shape 3"/>
          <p:cNvSpPr/>
          <p:nvPr/>
        </p:nvSpPr>
        <p:spPr>
          <a:xfrm>
            <a:off x="457200" y="1417320"/>
            <a:ext cx="3576218" cy="2331720"/>
          </a:xfrm>
          <a:prstGeom prst="roundRect">
            <a:avLst>
              <a:gd name="adj" fmla="val 3137"/>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6" name="Shape 4"/>
          <p:cNvSpPr/>
          <p:nvPr/>
        </p:nvSpPr>
        <p:spPr>
          <a:xfrm>
            <a:off x="640080" y="1600200"/>
            <a:ext cx="365760" cy="365760"/>
          </a:xfrm>
          <a:prstGeom prst="ellipse">
            <a:avLst/>
          </a:prstGeom>
          <a:solidFill>
            <a:srgbClr val="991B1B"/>
          </a:solidFill>
          <a:ln/>
        </p:spPr>
      </p:sp>
      <p:sp>
        <p:nvSpPr>
          <p:cNvPr id="7" name="Text 5"/>
          <p:cNvSpPr txBox="1"/>
          <p:nvPr/>
        </p:nvSpPr>
        <p:spPr>
          <a:xfrm>
            <a:off x="640080" y="16002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a:t>
            </a:r>
            <a:endParaRPr lang="en-US" sz="1300" dirty="0"/>
          </a:p>
        </p:txBody>
      </p:sp>
      <p:sp>
        <p:nvSpPr>
          <p:cNvPr id="8" name="Text 6"/>
          <p:cNvSpPr txBox="1"/>
          <p:nvPr/>
        </p:nvSpPr>
        <p:spPr>
          <a:xfrm>
            <a:off x="1143000" y="1600200"/>
            <a:ext cx="2707538" cy="365760"/>
          </a:xfrm>
          <a:prstGeom prst="rect">
            <a:avLst/>
          </a:prstGeom>
          <a:noFill/>
          <a:ln/>
        </p:spPr>
        <p:txBody>
          <a:bodyPr wrap="square" lIns="0" tIns="0" rIns="0" bIns="0" rtlCol="0" anchor="ctr"/>
          <a:lstStyle/>
          <a:p>
            <a:pPr indent="0" marL="0">
              <a:buNone/>
            </a:pPr>
            <a:r>
              <a:rPr lang="en-US" sz="1250" b="1" dirty="0">
                <a:solidFill>
                  <a:srgbClr val="0F2922"/>
                </a:solidFill>
                <a:latin typeface="Plus Jakarta Sans" pitchFamily="34" charset="0"/>
                <a:ea typeface="Plus Jakarta Sans" pitchFamily="34" charset="-122"/>
                <a:cs typeface="Plus Jakarta Sans" pitchFamily="34" charset="-120"/>
              </a:rPr>
              <a:t>High Ticket Volume</a:t>
            </a:r>
            <a:endParaRPr lang="en-US" sz="1250" dirty="0"/>
          </a:p>
        </p:txBody>
      </p:sp>
      <p:sp>
        <p:nvSpPr>
          <p:cNvPr id="9" name="Text 7"/>
          <p:cNvSpPr txBox="1"/>
          <p:nvPr/>
        </p:nvSpPr>
        <p:spPr>
          <a:xfrm>
            <a:off x="640080" y="2130552"/>
            <a:ext cx="3210458" cy="1051560"/>
          </a:xfrm>
          <a:prstGeom prst="rect">
            <a:avLst/>
          </a:prstGeom>
          <a:noFill/>
          <a:ln/>
        </p:spPr>
        <p:txBody>
          <a:bodyPr wrap="square" lIns="0" tIns="0" rIns="0" bIns="0" rtlCol="0" anchor="ctr"/>
          <a:lstStyle/>
          <a:p>
            <a:pPr indent="0" marL="0">
              <a:lnSpc>
                <a:spcPct val="120000"/>
              </a:lnSpc>
              <a:buNone/>
            </a:pPr>
            <a:r>
              <a:rPr lang="en-US" sz="1000" dirty="0">
                <a:solidFill>
                  <a:srgbClr val="475569"/>
                </a:solidFill>
                <a:latin typeface="Inter" pitchFamily="34" charset="0"/>
                <a:ea typeface="Inter" pitchFamily="34" charset="-122"/>
                <a:cs typeface="Inter" pitchFamily="34" charset="-120"/>
              </a:rPr>
              <a:t>Unfiltered inbound queues cause severe backlog build-up during peak operational hours.</a:t>
            </a:r>
            <a:endParaRPr lang="en-US" sz="1000" dirty="0"/>
          </a:p>
        </p:txBody>
      </p:sp>
      <p:sp>
        <p:nvSpPr>
          <p:cNvPr id="10" name="Text 8"/>
          <p:cNvSpPr txBox="1"/>
          <p:nvPr/>
        </p:nvSpPr>
        <p:spPr>
          <a:xfrm>
            <a:off x="640080" y="3364992"/>
            <a:ext cx="3210458" cy="274320"/>
          </a:xfrm>
          <a:prstGeom prst="rect">
            <a:avLst/>
          </a:prstGeom>
          <a:noFill/>
          <a:ln/>
        </p:spPr>
        <p:txBody>
          <a:bodyPr wrap="square" lIns="0" tIns="0" rIns="0" bIns="0" rtlCol="0" anchor="ctr"/>
          <a:lstStyle/>
          <a:p>
            <a:pPr indent="0" marL="0">
              <a:buNone/>
            </a:pPr>
            <a:r>
              <a:rPr lang="en-US" sz="950" b="1" dirty="0">
                <a:solidFill>
                  <a:srgbClr val="991B1B"/>
                </a:solidFill>
                <a:latin typeface="Inter" pitchFamily="34" charset="0"/>
                <a:ea typeface="Inter" pitchFamily="34" charset="-122"/>
                <a:cs typeface="Inter" pitchFamily="34" charset="-120"/>
              </a:rPr>
              <a:t>Avg. 48h response delay</a:t>
            </a:r>
            <a:endParaRPr lang="en-US" sz="950" dirty="0"/>
          </a:p>
        </p:txBody>
      </p:sp>
      <p:sp>
        <p:nvSpPr>
          <p:cNvPr id="11" name="Shape 9"/>
          <p:cNvSpPr/>
          <p:nvPr/>
        </p:nvSpPr>
        <p:spPr>
          <a:xfrm>
            <a:off x="4307738" y="1417320"/>
            <a:ext cx="3576218" cy="2331720"/>
          </a:xfrm>
          <a:prstGeom prst="roundRect">
            <a:avLst>
              <a:gd name="adj" fmla="val 3137"/>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12" name="Shape 10"/>
          <p:cNvSpPr/>
          <p:nvPr/>
        </p:nvSpPr>
        <p:spPr>
          <a:xfrm>
            <a:off x="4490618" y="1600200"/>
            <a:ext cx="365760" cy="365760"/>
          </a:xfrm>
          <a:prstGeom prst="ellipse">
            <a:avLst/>
          </a:prstGeom>
          <a:solidFill>
            <a:srgbClr val="991B1B"/>
          </a:solidFill>
          <a:ln/>
        </p:spPr>
      </p:sp>
      <p:sp>
        <p:nvSpPr>
          <p:cNvPr id="13" name="Text 11"/>
          <p:cNvSpPr txBox="1"/>
          <p:nvPr/>
        </p:nvSpPr>
        <p:spPr>
          <a:xfrm>
            <a:off x="4490618" y="16002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a:t>
            </a:r>
            <a:endParaRPr lang="en-US" sz="1300" dirty="0"/>
          </a:p>
        </p:txBody>
      </p:sp>
      <p:sp>
        <p:nvSpPr>
          <p:cNvPr id="14" name="Text 12"/>
          <p:cNvSpPr txBox="1"/>
          <p:nvPr/>
        </p:nvSpPr>
        <p:spPr>
          <a:xfrm>
            <a:off x="4993538" y="1600200"/>
            <a:ext cx="2707538" cy="365760"/>
          </a:xfrm>
          <a:prstGeom prst="rect">
            <a:avLst/>
          </a:prstGeom>
          <a:noFill/>
          <a:ln/>
        </p:spPr>
        <p:txBody>
          <a:bodyPr wrap="square" lIns="0" tIns="0" rIns="0" bIns="0" rtlCol="0" anchor="ctr"/>
          <a:lstStyle/>
          <a:p>
            <a:pPr indent="0" marL="0">
              <a:buNone/>
            </a:pPr>
            <a:r>
              <a:rPr lang="en-US" sz="1250" b="1" dirty="0">
                <a:solidFill>
                  <a:srgbClr val="0F2922"/>
                </a:solidFill>
                <a:latin typeface="Plus Jakarta Sans" pitchFamily="34" charset="0"/>
                <a:ea typeface="Plus Jakarta Sans" pitchFamily="34" charset="-122"/>
                <a:cs typeface="Plus Jakarta Sans" pitchFamily="34" charset="-120"/>
              </a:rPr>
              <a:t>Repetitive Requests</a:t>
            </a:r>
            <a:endParaRPr lang="en-US" sz="1250" dirty="0"/>
          </a:p>
        </p:txBody>
      </p:sp>
      <p:sp>
        <p:nvSpPr>
          <p:cNvPr id="15" name="Text 13"/>
          <p:cNvSpPr txBox="1"/>
          <p:nvPr/>
        </p:nvSpPr>
        <p:spPr>
          <a:xfrm>
            <a:off x="4490618" y="2130552"/>
            <a:ext cx="3210458" cy="1051560"/>
          </a:xfrm>
          <a:prstGeom prst="rect">
            <a:avLst/>
          </a:prstGeom>
          <a:noFill/>
          <a:ln/>
        </p:spPr>
        <p:txBody>
          <a:bodyPr wrap="square" lIns="0" tIns="0" rIns="0" bIns="0" rtlCol="0" anchor="ctr"/>
          <a:lstStyle/>
          <a:p>
            <a:pPr indent="0" marL="0">
              <a:lnSpc>
                <a:spcPct val="120000"/>
              </a:lnSpc>
              <a:buNone/>
            </a:pPr>
            <a:r>
              <a:rPr lang="en-US" sz="1000" dirty="0">
                <a:solidFill>
                  <a:srgbClr val="475569"/>
                </a:solidFill>
                <a:latin typeface="Inter" pitchFamily="34" charset="0"/>
                <a:ea typeface="Inter" pitchFamily="34" charset="-122"/>
                <a:cs typeface="Inter" pitchFamily="34" charset="-120"/>
              </a:rPr>
              <a:t>Agents spend over 60% of their workday typing identical answers to standard L1 queries.</a:t>
            </a:r>
            <a:endParaRPr lang="en-US" sz="1000" dirty="0"/>
          </a:p>
        </p:txBody>
      </p:sp>
      <p:sp>
        <p:nvSpPr>
          <p:cNvPr id="16" name="Text 14"/>
          <p:cNvSpPr txBox="1"/>
          <p:nvPr/>
        </p:nvSpPr>
        <p:spPr>
          <a:xfrm>
            <a:off x="4490618" y="3364992"/>
            <a:ext cx="3210458" cy="274320"/>
          </a:xfrm>
          <a:prstGeom prst="rect">
            <a:avLst/>
          </a:prstGeom>
          <a:noFill/>
          <a:ln/>
        </p:spPr>
        <p:txBody>
          <a:bodyPr wrap="square" lIns="0" tIns="0" rIns="0" bIns="0" rtlCol="0" anchor="ctr"/>
          <a:lstStyle/>
          <a:p>
            <a:pPr indent="0" marL="0">
              <a:buNone/>
            </a:pPr>
            <a:r>
              <a:rPr lang="en-US" sz="950" b="1" dirty="0">
                <a:solidFill>
                  <a:srgbClr val="991B1B"/>
                </a:solidFill>
                <a:latin typeface="Inter" pitchFamily="34" charset="0"/>
                <a:ea typeface="Inter" pitchFamily="34" charset="-122"/>
                <a:cs typeface="Inter" pitchFamily="34" charset="-120"/>
              </a:rPr>
              <a:t>Wasted operational budget</a:t>
            </a:r>
            <a:endParaRPr lang="en-US" sz="950" dirty="0"/>
          </a:p>
        </p:txBody>
      </p:sp>
      <p:sp>
        <p:nvSpPr>
          <p:cNvPr id="17" name="Shape 15"/>
          <p:cNvSpPr/>
          <p:nvPr/>
        </p:nvSpPr>
        <p:spPr>
          <a:xfrm>
            <a:off x="8158277" y="1417320"/>
            <a:ext cx="3576218" cy="2331720"/>
          </a:xfrm>
          <a:prstGeom prst="roundRect">
            <a:avLst>
              <a:gd name="adj" fmla="val 3137"/>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18" name="Shape 16"/>
          <p:cNvSpPr/>
          <p:nvPr/>
        </p:nvSpPr>
        <p:spPr>
          <a:xfrm>
            <a:off x="8341157" y="1600200"/>
            <a:ext cx="365760" cy="365760"/>
          </a:xfrm>
          <a:prstGeom prst="ellipse">
            <a:avLst/>
          </a:prstGeom>
          <a:solidFill>
            <a:srgbClr val="991B1B"/>
          </a:solidFill>
          <a:ln/>
        </p:spPr>
      </p:sp>
      <p:sp>
        <p:nvSpPr>
          <p:cNvPr id="19" name="Text 17"/>
          <p:cNvSpPr txBox="1"/>
          <p:nvPr/>
        </p:nvSpPr>
        <p:spPr>
          <a:xfrm>
            <a:off x="8341157" y="16002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x</a:t>
            </a:r>
            <a:endParaRPr lang="en-US" sz="1300" dirty="0"/>
          </a:p>
        </p:txBody>
      </p:sp>
      <p:sp>
        <p:nvSpPr>
          <p:cNvPr id="20" name="Text 18"/>
          <p:cNvSpPr txBox="1"/>
          <p:nvPr/>
        </p:nvSpPr>
        <p:spPr>
          <a:xfrm>
            <a:off x="8844077" y="1600200"/>
            <a:ext cx="2707538" cy="365760"/>
          </a:xfrm>
          <a:prstGeom prst="rect">
            <a:avLst/>
          </a:prstGeom>
          <a:noFill/>
          <a:ln/>
        </p:spPr>
        <p:txBody>
          <a:bodyPr wrap="square" lIns="0" tIns="0" rIns="0" bIns="0" rtlCol="0" anchor="ctr"/>
          <a:lstStyle/>
          <a:p>
            <a:pPr indent="0" marL="0">
              <a:buNone/>
            </a:pPr>
            <a:r>
              <a:rPr lang="en-US" sz="1250" b="1" dirty="0">
                <a:solidFill>
                  <a:srgbClr val="0F2922"/>
                </a:solidFill>
                <a:latin typeface="Plus Jakarta Sans" pitchFamily="34" charset="0"/>
                <a:ea typeface="Plus Jakarta Sans" pitchFamily="34" charset="-122"/>
                <a:cs typeface="Plus Jakarta Sans" pitchFamily="34" charset="-120"/>
              </a:rPr>
              <a:t>Manual Classification</a:t>
            </a:r>
            <a:endParaRPr lang="en-US" sz="1250" dirty="0"/>
          </a:p>
        </p:txBody>
      </p:sp>
      <p:sp>
        <p:nvSpPr>
          <p:cNvPr id="21" name="Text 19"/>
          <p:cNvSpPr txBox="1"/>
          <p:nvPr/>
        </p:nvSpPr>
        <p:spPr>
          <a:xfrm>
            <a:off x="8341157" y="2130552"/>
            <a:ext cx="3210458" cy="1051560"/>
          </a:xfrm>
          <a:prstGeom prst="rect">
            <a:avLst/>
          </a:prstGeom>
          <a:noFill/>
          <a:ln/>
        </p:spPr>
        <p:txBody>
          <a:bodyPr wrap="square" lIns="0" tIns="0" rIns="0" bIns="0" rtlCol="0" anchor="ctr"/>
          <a:lstStyle/>
          <a:p>
            <a:pPr indent="0" marL="0">
              <a:lnSpc>
                <a:spcPct val="120000"/>
              </a:lnSpc>
              <a:buNone/>
            </a:pPr>
            <a:r>
              <a:rPr lang="en-US" sz="1000" dirty="0">
                <a:solidFill>
                  <a:srgbClr val="475569"/>
                </a:solidFill>
                <a:latin typeface="Inter" pitchFamily="34" charset="0"/>
                <a:ea typeface="Inter" pitchFamily="34" charset="-122"/>
                <a:cs typeface="Inter" pitchFamily="34" charset="-120"/>
              </a:rPr>
              <a:t>Human categorization errors lead to incorrect queue routing and ping-pong reassignment.</a:t>
            </a:r>
            <a:endParaRPr lang="en-US" sz="1000" dirty="0"/>
          </a:p>
        </p:txBody>
      </p:sp>
      <p:sp>
        <p:nvSpPr>
          <p:cNvPr id="22" name="Text 20"/>
          <p:cNvSpPr txBox="1"/>
          <p:nvPr/>
        </p:nvSpPr>
        <p:spPr>
          <a:xfrm>
            <a:off x="8341157" y="3364992"/>
            <a:ext cx="3210458" cy="274320"/>
          </a:xfrm>
          <a:prstGeom prst="rect">
            <a:avLst/>
          </a:prstGeom>
          <a:noFill/>
          <a:ln/>
        </p:spPr>
        <p:txBody>
          <a:bodyPr wrap="square" lIns="0" tIns="0" rIns="0" bIns="0" rtlCol="0" anchor="ctr"/>
          <a:lstStyle/>
          <a:p>
            <a:pPr indent="0" marL="0">
              <a:buNone/>
            </a:pPr>
            <a:r>
              <a:rPr lang="en-US" sz="950" b="1" dirty="0">
                <a:solidFill>
                  <a:srgbClr val="991B1B"/>
                </a:solidFill>
                <a:latin typeface="Inter" pitchFamily="34" charset="0"/>
                <a:ea typeface="Inter" pitchFamily="34" charset="-122"/>
                <a:cs typeface="Inter" pitchFamily="34" charset="-120"/>
              </a:rPr>
              <a:t>25% misrouting rate</a:t>
            </a:r>
            <a:endParaRPr lang="en-US" sz="950" dirty="0"/>
          </a:p>
        </p:txBody>
      </p:sp>
      <p:sp>
        <p:nvSpPr>
          <p:cNvPr id="23" name="Shape 21"/>
          <p:cNvSpPr/>
          <p:nvPr/>
        </p:nvSpPr>
        <p:spPr>
          <a:xfrm>
            <a:off x="457200" y="4023360"/>
            <a:ext cx="3576218" cy="2331720"/>
          </a:xfrm>
          <a:prstGeom prst="roundRect">
            <a:avLst>
              <a:gd name="adj" fmla="val 3137"/>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24" name="Shape 22"/>
          <p:cNvSpPr/>
          <p:nvPr/>
        </p:nvSpPr>
        <p:spPr>
          <a:xfrm>
            <a:off x="640080" y="4206240"/>
            <a:ext cx="365760" cy="365760"/>
          </a:xfrm>
          <a:prstGeom prst="ellipse">
            <a:avLst/>
          </a:prstGeom>
          <a:solidFill>
            <a:srgbClr val="92400E"/>
          </a:solidFill>
          <a:ln/>
        </p:spPr>
      </p:sp>
      <p:sp>
        <p:nvSpPr>
          <p:cNvPr id="25" name="Text 23"/>
          <p:cNvSpPr txBox="1"/>
          <p:nvPr/>
        </p:nvSpPr>
        <p:spPr>
          <a:xfrm>
            <a:off x="640080" y="42062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S</a:t>
            </a:r>
            <a:endParaRPr lang="en-US" sz="1300" dirty="0"/>
          </a:p>
        </p:txBody>
      </p:sp>
      <p:sp>
        <p:nvSpPr>
          <p:cNvPr id="26" name="Text 24"/>
          <p:cNvSpPr txBox="1"/>
          <p:nvPr/>
        </p:nvSpPr>
        <p:spPr>
          <a:xfrm>
            <a:off x="1143000" y="4206240"/>
            <a:ext cx="2707538" cy="365760"/>
          </a:xfrm>
          <a:prstGeom prst="rect">
            <a:avLst/>
          </a:prstGeom>
          <a:noFill/>
          <a:ln/>
        </p:spPr>
        <p:txBody>
          <a:bodyPr wrap="square" lIns="0" tIns="0" rIns="0" bIns="0" rtlCol="0" anchor="ctr"/>
          <a:lstStyle/>
          <a:p>
            <a:pPr indent="0" marL="0">
              <a:buNone/>
            </a:pPr>
            <a:r>
              <a:rPr lang="en-US" sz="1250" b="1" dirty="0">
                <a:solidFill>
                  <a:srgbClr val="0F2922"/>
                </a:solidFill>
                <a:latin typeface="Plus Jakarta Sans" pitchFamily="34" charset="0"/>
                <a:ea typeface="Plus Jakarta Sans" pitchFamily="34" charset="-122"/>
                <a:cs typeface="Plus Jakarta Sans" pitchFamily="34" charset="-120"/>
              </a:rPr>
              <a:t>Slow Prioritization</a:t>
            </a:r>
            <a:endParaRPr lang="en-US" sz="1250" dirty="0"/>
          </a:p>
        </p:txBody>
      </p:sp>
      <p:sp>
        <p:nvSpPr>
          <p:cNvPr id="27" name="Text 25"/>
          <p:cNvSpPr txBox="1"/>
          <p:nvPr/>
        </p:nvSpPr>
        <p:spPr>
          <a:xfrm>
            <a:off x="640080" y="4736592"/>
            <a:ext cx="3210458" cy="1051560"/>
          </a:xfrm>
          <a:prstGeom prst="rect">
            <a:avLst/>
          </a:prstGeom>
          <a:noFill/>
          <a:ln/>
        </p:spPr>
        <p:txBody>
          <a:bodyPr wrap="square" lIns="0" tIns="0" rIns="0" bIns="0" rtlCol="0" anchor="ctr"/>
          <a:lstStyle/>
          <a:p>
            <a:pPr indent="0" marL="0">
              <a:lnSpc>
                <a:spcPct val="120000"/>
              </a:lnSpc>
              <a:buNone/>
            </a:pPr>
            <a:r>
              <a:rPr lang="en-US" sz="1000" dirty="0">
                <a:solidFill>
                  <a:srgbClr val="475569"/>
                </a:solidFill>
                <a:latin typeface="Inter" pitchFamily="34" charset="0"/>
                <a:ea typeface="Inter" pitchFamily="34" charset="-122"/>
                <a:cs typeface="Inter" pitchFamily="34" charset="-120"/>
              </a:rPr>
              <a:t>Critical production outages get buried under minor general inquiry tickets.</a:t>
            </a:r>
            <a:endParaRPr lang="en-US" sz="1000" dirty="0"/>
          </a:p>
        </p:txBody>
      </p:sp>
      <p:sp>
        <p:nvSpPr>
          <p:cNvPr id="28" name="Text 26"/>
          <p:cNvSpPr txBox="1"/>
          <p:nvPr/>
        </p:nvSpPr>
        <p:spPr>
          <a:xfrm>
            <a:off x="640080" y="5971032"/>
            <a:ext cx="3210458" cy="274320"/>
          </a:xfrm>
          <a:prstGeom prst="rect">
            <a:avLst/>
          </a:prstGeom>
          <a:noFill/>
          <a:ln/>
        </p:spPr>
        <p:txBody>
          <a:bodyPr wrap="square" lIns="0" tIns="0" rIns="0" bIns="0" rtlCol="0" anchor="ctr"/>
          <a:lstStyle/>
          <a:p>
            <a:pPr indent="0" marL="0">
              <a:buNone/>
            </a:pPr>
            <a:r>
              <a:rPr lang="en-US" sz="950" b="1" dirty="0">
                <a:solidFill>
                  <a:srgbClr val="92400E"/>
                </a:solidFill>
                <a:latin typeface="Inter" pitchFamily="34" charset="0"/>
                <a:ea typeface="Inter" pitchFamily="34" charset="-122"/>
                <a:cs typeface="Inter" pitchFamily="34" charset="-120"/>
              </a:rPr>
              <a:t>High customer churn risk</a:t>
            </a:r>
            <a:endParaRPr lang="en-US" sz="950" dirty="0"/>
          </a:p>
        </p:txBody>
      </p:sp>
      <p:sp>
        <p:nvSpPr>
          <p:cNvPr id="29" name="Shape 27"/>
          <p:cNvSpPr/>
          <p:nvPr/>
        </p:nvSpPr>
        <p:spPr>
          <a:xfrm>
            <a:off x="4307738" y="4023360"/>
            <a:ext cx="3576218" cy="2331720"/>
          </a:xfrm>
          <a:prstGeom prst="roundRect">
            <a:avLst>
              <a:gd name="adj" fmla="val 3137"/>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30" name="Shape 28"/>
          <p:cNvSpPr/>
          <p:nvPr/>
        </p:nvSpPr>
        <p:spPr>
          <a:xfrm>
            <a:off x="4490618" y="4206240"/>
            <a:ext cx="365760" cy="365760"/>
          </a:xfrm>
          <a:prstGeom prst="ellipse">
            <a:avLst/>
          </a:prstGeom>
          <a:solidFill>
            <a:srgbClr val="92400E"/>
          </a:solidFill>
          <a:ln/>
        </p:spPr>
      </p:sp>
      <p:sp>
        <p:nvSpPr>
          <p:cNvPr id="31" name="Text 29"/>
          <p:cNvSpPr txBox="1"/>
          <p:nvPr/>
        </p:nvSpPr>
        <p:spPr>
          <a:xfrm>
            <a:off x="4490618" y="42062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a:t>
            </a:r>
            <a:endParaRPr lang="en-US" sz="1300" dirty="0"/>
          </a:p>
        </p:txBody>
      </p:sp>
      <p:sp>
        <p:nvSpPr>
          <p:cNvPr id="32" name="Text 30"/>
          <p:cNvSpPr txBox="1"/>
          <p:nvPr/>
        </p:nvSpPr>
        <p:spPr>
          <a:xfrm>
            <a:off x="4993538" y="4206240"/>
            <a:ext cx="2707538" cy="365760"/>
          </a:xfrm>
          <a:prstGeom prst="rect">
            <a:avLst/>
          </a:prstGeom>
          <a:noFill/>
          <a:ln/>
        </p:spPr>
        <p:txBody>
          <a:bodyPr wrap="square" lIns="0" tIns="0" rIns="0" bIns="0" rtlCol="0" anchor="ctr"/>
          <a:lstStyle/>
          <a:p>
            <a:pPr indent="0" marL="0">
              <a:buNone/>
            </a:pPr>
            <a:r>
              <a:rPr lang="en-US" sz="1250" b="1" dirty="0">
                <a:solidFill>
                  <a:srgbClr val="0F2922"/>
                </a:solidFill>
                <a:latin typeface="Plus Jakarta Sans" pitchFamily="34" charset="0"/>
                <a:ea typeface="Plus Jakarta Sans" pitchFamily="34" charset="-122"/>
                <a:cs typeface="Plus Jakarta Sans" pitchFamily="34" charset="-120"/>
              </a:rPr>
              <a:t>Knowledge Search Effort</a:t>
            </a:r>
            <a:endParaRPr lang="en-US" sz="1250" dirty="0"/>
          </a:p>
        </p:txBody>
      </p:sp>
      <p:sp>
        <p:nvSpPr>
          <p:cNvPr id="33" name="Text 31"/>
          <p:cNvSpPr txBox="1"/>
          <p:nvPr/>
        </p:nvSpPr>
        <p:spPr>
          <a:xfrm>
            <a:off x="4490618" y="4736592"/>
            <a:ext cx="3210458" cy="1051560"/>
          </a:xfrm>
          <a:prstGeom prst="rect">
            <a:avLst/>
          </a:prstGeom>
          <a:noFill/>
          <a:ln/>
        </p:spPr>
        <p:txBody>
          <a:bodyPr wrap="square" lIns="0" tIns="0" rIns="0" bIns="0" rtlCol="0" anchor="ctr"/>
          <a:lstStyle/>
          <a:p>
            <a:pPr indent="0" marL="0">
              <a:lnSpc>
                <a:spcPct val="120000"/>
              </a:lnSpc>
              <a:buNone/>
            </a:pPr>
            <a:r>
              <a:rPr lang="en-US" sz="1000" dirty="0">
                <a:solidFill>
                  <a:srgbClr val="475569"/>
                </a:solidFill>
                <a:latin typeface="Inter" pitchFamily="34" charset="0"/>
                <a:ea typeface="Inter" pitchFamily="34" charset="-122"/>
                <a:cs typeface="Inter" pitchFamily="34" charset="-120"/>
              </a:rPr>
              <a:t>Agents context-switch across disconnected docs, PDFs, and internal wikis.</a:t>
            </a:r>
            <a:endParaRPr lang="en-US" sz="1000" dirty="0"/>
          </a:p>
        </p:txBody>
      </p:sp>
      <p:sp>
        <p:nvSpPr>
          <p:cNvPr id="34" name="Text 32"/>
          <p:cNvSpPr txBox="1"/>
          <p:nvPr/>
        </p:nvSpPr>
        <p:spPr>
          <a:xfrm>
            <a:off x="4490618" y="5971032"/>
            <a:ext cx="3210458" cy="274320"/>
          </a:xfrm>
          <a:prstGeom prst="rect">
            <a:avLst/>
          </a:prstGeom>
          <a:noFill/>
          <a:ln/>
        </p:spPr>
        <p:txBody>
          <a:bodyPr wrap="square" lIns="0" tIns="0" rIns="0" bIns="0" rtlCol="0" anchor="ctr"/>
          <a:lstStyle/>
          <a:p>
            <a:pPr indent="0" marL="0">
              <a:buNone/>
            </a:pPr>
            <a:r>
              <a:rPr lang="en-US" sz="950" b="1" dirty="0">
                <a:solidFill>
                  <a:srgbClr val="92400E"/>
                </a:solidFill>
                <a:latin typeface="Inter" pitchFamily="34" charset="0"/>
                <a:ea typeface="Inter" pitchFamily="34" charset="-122"/>
                <a:cs typeface="Inter" pitchFamily="34" charset="-120"/>
              </a:rPr>
              <a:t>~15 min spent per ticket</a:t>
            </a:r>
            <a:endParaRPr lang="en-US" sz="950" dirty="0"/>
          </a:p>
        </p:txBody>
      </p:sp>
      <p:sp>
        <p:nvSpPr>
          <p:cNvPr id="35" name="Shape 33"/>
          <p:cNvSpPr/>
          <p:nvPr/>
        </p:nvSpPr>
        <p:spPr>
          <a:xfrm>
            <a:off x="8158277" y="4023360"/>
            <a:ext cx="3576218" cy="2331720"/>
          </a:xfrm>
          <a:prstGeom prst="roundRect">
            <a:avLst>
              <a:gd name="adj" fmla="val 3137"/>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36" name="Shape 34"/>
          <p:cNvSpPr/>
          <p:nvPr/>
        </p:nvSpPr>
        <p:spPr>
          <a:xfrm>
            <a:off x="8341157" y="4206240"/>
            <a:ext cx="365760" cy="365760"/>
          </a:xfrm>
          <a:prstGeom prst="ellipse">
            <a:avLst/>
          </a:prstGeom>
          <a:solidFill>
            <a:srgbClr val="92400E"/>
          </a:solidFill>
          <a:ln/>
        </p:spPr>
      </p:sp>
      <p:sp>
        <p:nvSpPr>
          <p:cNvPr id="37" name="Text 35"/>
          <p:cNvSpPr txBox="1"/>
          <p:nvPr/>
        </p:nvSpPr>
        <p:spPr>
          <a:xfrm>
            <a:off x="8341157" y="42062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T</a:t>
            </a:r>
            <a:endParaRPr lang="en-US" sz="1300" dirty="0"/>
          </a:p>
        </p:txBody>
      </p:sp>
      <p:sp>
        <p:nvSpPr>
          <p:cNvPr id="38" name="Text 36"/>
          <p:cNvSpPr txBox="1"/>
          <p:nvPr/>
        </p:nvSpPr>
        <p:spPr>
          <a:xfrm>
            <a:off x="8844077" y="4206240"/>
            <a:ext cx="2707538" cy="365760"/>
          </a:xfrm>
          <a:prstGeom prst="rect">
            <a:avLst/>
          </a:prstGeom>
          <a:noFill/>
          <a:ln/>
        </p:spPr>
        <p:txBody>
          <a:bodyPr wrap="square" lIns="0" tIns="0" rIns="0" bIns="0" rtlCol="0" anchor="ctr"/>
          <a:lstStyle/>
          <a:p>
            <a:pPr indent="0" marL="0">
              <a:buNone/>
            </a:pPr>
            <a:r>
              <a:rPr lang="en-US" sz="1250" b="1" dirty="0">
                <a:solidFill>
                  <a:srgbClr val="0F2922"/>
                </a:solidFill>
                <a:latin typeface="Plus Jakarta Sans" pitchFamily="34" charset="0"/>
                <a:ea typeface="Plus Jakarta Sans" pitchFamily="34" charset="-122"/>
                <a:cs typeface="Plus Jakarta Sans" pitchFamily="34" charset="-120"/>
              </a:rPr>
              <a:t>SLA Breach Risks</a:t>
            </a:r>
            <a:endParaRPr lang="en-US" sz="1250" dirty="0"/>
          </a:p>
        </p:txBody>
      </p:sp>
      <p:sp>
        <p:nvSpPr>
          <p:cNvPr id="39" name="Text 37"/>
          <p:cNvSpPr txBox="1"/>
          <p:nvPr/>
        </p:nvSpPr>
        <p:spPr>
          <a:xfrm>
            <a:off x="8341157" y="4736592"/>
            <a:ext cx="3210458" cy="1051560"/>
          </a:xfrm>
          <a:prstGeom prst="rect">
            <a:avLst/>
          </a:prstGeom>
          <a:noFill/>
          <a:ln/>
        </p:spPr>
        <p:txBody>
          <a:bodyPr wrap="square" lIns="0" tIns="0" rIns="0" bIns="0" rtlCol="0" anchor="ctr"/>
          <a:lstStyle/>
          <a:p>
            <a:pPr indent="0" marL="0">
              <a:lnSpc>
                <a:spcPct val="120000"/>
              </a:lnSpc>
              <a:buNone/>
            </a:pPr>
            <a:r>
              <a:rPr lang="en-US" sz="1000" dirty="0">
                <a:solidFill>
                  <a:srgbClr val="475569"/>
                </a:solidFill>
                <a:latin typeface="Inter" pitchFamily="34" charset="0"/>
                <a:ea typeface="Inter" pitchFamily="34" charset="-122"/>
                <a:cs typeface="Inter" pitchFamily="34" charset="-120"/>
              </a:rPr>
              <a:t>Lack of real-time timer tracking and proactive escalation triggers causes missed SLAs.</a:t>
            </a:r>
            <a:endParaRPr lang="en-US" sz="1000" dirty="0"/>
          </a:p>
        </p:txBody>
      </p:sp>
      <p:sp>
        <p:nvSpPr>
          <p:cNvPr id="40" name="Text 38"/>
          <p:cNvSpPr txBox="1"/>
          <p:nvPr/>
        </p:nvSpPr>
        <p:spPr>
          <a:xfrm>
            <a:off x="8341157" y="5971032"/>
            <a:ext cx="3210458" cy="274320"/>
          </a:xfrm>
          <a:prstGeom prst="rect">
            <a:avLst/>
          </a:prstGeom>
          <a:noFill/>
          <a:ln/>
        </p:spPr>
        <p:txBody>
          <a:bodyPr wrap="square" lIns="0" tIns="0" rIns="0" bIns="0" rtlCol="0" anchor="ctr"/>
          <a:lstStyle/>
          <a:p>
            <a:pPr indent="0" marL="0">
              <a:buNone/>
            </a:pPr>
            <a:r>
              <a:rPr lang="en-US" sz="950" b="1" dirty="0">
                <a:solidFill>
                  <a:srgbClr val="92400E"/>
                </a:solidFill>
                <a:latin typeface="Inter" pitchFamily="34" charset="0"/>
                <a:ea typeface="Inter" pitchFamily="34" charset="-122"/>
                <a:cs typeface="Inter" pitchFamily="34" charset="-120"/>
              </a:rPr>
              <a:t>Frequent contract penalties</a:t>
            </a:r>
            <a:endParaRPr lang="en-US" sz="950" dirty="0"/>
          </a:p>
        </p:txBody>
      </p:sp>
      <p:sp>
        <p:nvSpPr>
          <p:cNvPr id="41" name="Text 39"/>
          <p:cNvSpPr txBox="1"/>
          <p:nvPr/>
        </p:nvSpPr>
        <p:spPr>
          <a:xfrm>
            <a:off x="11475720" y="6510528"/>
            <a:ext cx="365760" cy="256032"/>
          </a:xfrm>
          <a:prstGeom prst="rect">
            <a:avLst/>
          </a:prstGeom>
          <a:noFill/>
          <a:ln/>
        </p:spPr>
        <p:txBody>
          <a:bodyPr wrap="square" lIns="0" tIns="0" rIns="0" bIns="0" rtlCol="0" anchor="ctr"/>
          <a:lstStyle/>
          <a:p>
            <a:pPr algn="r" indent="0" marL="0">
              <a:buNone/>
            </a:pPr>
            <a:r>
              <a:rPr lang="en-US" sz="900" b="1" dirty="0">
                <a:solidFill>
                  <a:srgbClr val="CBD5E1"/>
                </a:solidFill>
                <a:latin typeface="Inter" pitchFamily="34" charset="0"/>
                <a:ea typeface="Inter" pitchFamily="34" charset="-122"/>
                <a:cs typeface="Inter"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9"/>
        </a:solidFill>
      </p:bgPr>
    </p:bg>
    <p:spTree>
      <p:nvGrpSpPr>
        <p:cNvPr id="1" name=""/>
        <p:cNvGrpSpPr/>
        <p:nvPr/>
      </p:nvGrpSpPr>
      <p:grpSpPr>
        <a:xfrm>
          <a:off x="0" y="0"/>
          <a:ext cx="0" cy="0"/>
          <a:chOff x="0" y="0"/>
          <a:chExt cx="0" cy="0"/>
        </a:xfrm>
      </p:grpSpPr>
      <p:sp>
        <p:nvSpPr>
          <p:cNvPr id="2" name="Text 0"/>
          <p:cNvSpPr txBox="1"/>
          <p:nvPr/>
        </p:nvSpPr>
        <p:spPr>
          <a:xfrm>
            <a:off x="457200" y="320040"/>
            <a:ext cx="10607040" cy="274320"/>
          </a:xfrm>
          <a:prstGeom prst="rect">
            <a:avLst/>
          </a:prstGeom>
          <a:noFill/>
          <a:ln/>
        </p:spPr>
        <p:txBody>
          <a:bodyPr wrap="square" lIns="0" tIns="0" rIns="0" bIns="0" rtlCol="0" anchor="ctr"/>
          <a:lstStyle/>
          <a:p>
            <a:pPr indent="0" marL="0">
              <a:buNone/>
            </a:pPr>
            <a:r>
              <a:rPr lang="en-US" sz="1100" b="1" spc="100" kern="0" dirty="0">
                <a:solidFill>
                  <a:srgbClr val="0D9488"/>
                </a:solidFill>
                <a:latin typeface="Inter" pitchFamily="34" charset="0"/>
                <a:ea typeface="Inter" pitchFamily="34" charset="-122"/>
                <a:cs typeface="Inter" pitchFamily="34" charset="-120"/>
              </a:rPr>
              <a:t>CORE THESIS</a:t>
            </a:r>
            <a:endParaRPr lang="en-US" sz="1100" dirty="0"/>
          </a:p>
        </p:txBody>
      </p:sp>
      <p:sp>
        <p:nvSpPr>
          <p:cNvPr id="3" name="Text 1"/>
          <p:cNvSpPr txBox="1"/>
          <p:nvPr/>
        </p:nvSpPr>
        <p:spPr>
          <a:xfrm>
            <a:off x="457200" y="566928"/>
            <a:ext cx="10972800" cy="566928"/>
          </a:xfrm>
          <a:prstGeom prst="rect">
            <a:avLst/>
          </a:prstGeom>
          <a:noFill/>
          <a:ln/>
        </p:spPr>
        <p:txBody>
          <a:bodyPr wrap="square" lIns="0" tIns="0" rIns="0" bIns="0" rtlCol="0" anchor="ctr"/>
          <a:lstStyle/>
          <a:p>
            <a:pPr indent="0" marL="0">
              <a:buNone/>
            </a:pPr>
            <a:r>
              <a:rPr lang="en-US" sz="2600" b="1" dirty="0">
                <a:solidFill>
                  <a:srgbClr val="0F2922"/>
                </a:solidFill>
                <a:latin typeface="Plus Jakarta Sans" pitchFamily="34" charset="0"/>
                <a:ea typeface="Plus Jakarta Sans" pitchFamily="34" charset="-122"/>
                <a:cs typeface="Plus Jakarta Sans" pitchFamily="34" charset="-120"/>
              </a:rPr>
              <a:t>Problem Statement</a:t>
            </a:r>
            <a:endParaRPr lang="en-US" sz="2600" dirty="0"/>
          </a:p>
        </p:txBody>
      </p:sp>
      <p:sp>
        <p:nvSpPr>
          <p:cNvPr id="4" name="Shape 2"/>
          <p:cNvSpPr/>
          <p:nvPr/>
        </p:nvSpPr>
        <p:spPr>
          <a:xfrm>
            <a:off x="457200" y="1207008"/>
            <a:ext cx="11277295" cy="18288"/>
          </a:xfrm>
          <a:prstGeom prst="rect">
            <a:avLst/>
          </a:prstGeom>
          <a:solidFill>
            <a:srgbClr val="E2E8F0"/>
          </a:solidFill>
          <a:ln/>
        </p:spPr>
      </p:sp>
      <p:sp>
        <p:nvSpPr>
          <p:cNvPr id="5" name="Shape 3"/>
          <p:cNvSpPr/>
          <p:nvPr/>
        </p:nvSpPr>
        <p:spPr>
          <a:xfrm>
            <a:off x="457200" y="1417320"/>
            <a:ext cx="11277295" cy="1965960"/>
          </a:xfrm>
          <a:prstGeom prst="roundRect">
            <a:avLst>
              <a:gd name="adj" fmla="val 3721"/>
            </a:avLst>
          </a:prstGeom>
          <a:solidFill>
            <a:srgbClr val="0F2922"/>
          </a:solidFill>
          <a:ln w="12700">
            <a:solidFill>
              <a:srgbClr val="0F2922"/>
            </a:solidFill>
            <a:prstDash val="solid"/>
          </a:ln>
          <a:effectLst>
            <a:outerShdw sx="100000" sy="100000" kx="0" ky="0" algn="bl" rotWithShape="0" blurRad="101600" dist="25400" dir="5400000">
              <a:srgbClr val="0F2922">
                <a:alpha val="8000"/>
              </a:srgbClr>
            </a:outerShdw>
          </a:effectLst>
        </p:spPr>
      </p:sp>
      <p:sp>
        <p:nvSpPr>
          <p:cNvPr id="6" name="Text 4"/>
          <p:cNvSpPr txBox="1"/>
          <p:nvPr/>
        </p:nvSpPr>
        <p:spPr>
          <a:xfrm>
            <a:off x="868680" y="1645920"/>
            <a:ext cx="10469880" cy="1508760"/>
          </a:xfrm>
          <a:prstGeom prst="rect">
            <a:avLst/>
          </a:prstGeom>
          <a:noFill/>
          <a:ln/>
        </p:spPr>
        <p:txBody>
          <a:bodyPr wrap="square" lIns="0" tIns="0" rIns="0" bIns="0" rtlCol="0" anchor="ctr"/>
          <a:lstStyle/>
          <a:p>
            <a:pPr indent="0" marL="0">
              <a:lnSpc>
                <a:spcPct val="130000"/>
              </a:lnSpc>
              <a:buNone/>
            </a:pPr>
            <a:r>
              <a:rPr lang="en-US" sz="1600" b="1" i="1" dirty="0">
                <a:solidFill>
                  <a:srgbClr val="FFFFFF"/>
                </a:solidFill>
                <a:latin typeface="Plus Jakarta Sans" pitchFamily="34" charset="0"/>
                <a:ea typeface="Plus Jakarta Sans" pitchFamily="34" charset="-122"/>
                <a:cs typeface="Plus Jakarta Sans" pitchFamily="34" charset="-120"/>
              </a:rPr>
              <a:t>“Traditional customer support systems rely heavily on manual triage, leading to delayed response times, poor resource allocation, agent burnout, and inconsistent resolution quality. Organizations urgently require an intelligent, automated management platform to streamline workflows and maintain high customer satisfaction.”</a:t>
            </a:r>
            <a:endParaRPr lang="en-US" sz="1600" dirty="0"/>
          </a:p>
        </p:txBody>
      </p:sp>
      <p:sp>
        <p:nvSpPr>
          <p:cNvPr id="7" name="Shape 5"/>
          <p:cNvSpPr/>
          <p:nvPr/>
        </p:nvSpPr>
        <p:spPr>
          <a:xfrm>
            <a:off x="457200" y="3703320"/>
            <a:ext cx="3576218" cy="2240280"/>
          </a:xfrm>
          <a:prstGeom prst="roundRect">
            <a:avLst>
              <a:gd name="adj" fmla="val 3265"/>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8" name="Shape 6"/>
          <p:cNvSpPr/>
          <p:nvPr/>
        </p:nvSpPr>
        <p:spPr>
          <a:xfrm>
            <a:off x="685800" y="3931920"/>
            <a:ext cx="822960" cy="292608"/>
          </a:xfrm>
          <a:prstGeom prst="roundRect">
            <a:avLst>
              <a:gd name="adj" fmla="val 50000"/>
            </a:avLst>
          </a:prstGeom>
          <a:solidFill>
            <a:srgbClr val="FEE2E2"/>
          </a:solidFill>
          <a:ln w="12700">
            <a:solidFill>
              <a:srgbClr val="FCA5A5"/>
            </a:solidFill>
            <a:prstDash val="solid"/>
          </a:ln>
        </p:spPr>
      </p:sp>
      <p:sp>
        <p:nvSpPr>
          <p:cNvPr id="9" name="Text 7"/>
          <p:cNvSpPr txBox="1"/>
          <p:nvPr/>
        </p:nvSpPr>
        <p:spPr>
          <a:xfrm>
            <a:off x="685800" y="3931920"/>
            <a:ext cx="822960" cy="292608"/>
          </a:xfrm>
          <a:prstGeom prst="rect">
            <a:avLst/>
          </a:prstGeom>
          <a:noFill/>
          <a:ln/>
        </p:spPr>
        <p:txBody>
          <a:bodyPr wrap="square" lIns="0" tIns="0" rIns="0" bIns="0" rtlCol="0" anchor="ctr"/>
          <a:lstStyle/>
          <a:p>
            <a:pPr algn="ctr" indent="0" marL="0">
              <a:buNone/>
            </a:pPr>
            <a:r>
              <a:rPr lang="en-US" sz="900" b="1" dirty="0">
                <a:solidFill>
                  <a:srgbClr val="991B1B"/>
                </a:solidFill>
                <a:latin typeface="Inter" pitchFamily="34" charset="0"/>
                <a:ea typeface="Inter" pitchFamily="34" charset="-122"/>
                <a:cs typeface="Inter" pitchFamily="34" charset="-120"/>
              </a:rPr>
              <a:t>High</a:t>
            </a:r>
            <a:endParaRPr lang="en-US" sz="900" dirty="0"/>
          </a:p>
        </p:txBody>
      </p:sp>
      <p:sp>
        <p:nvSpPr>
          <p:cNvPr id="10" name="Text 8"/>
          <p:cNvSpPr txBox="1"/>
          <p:nvPr/>
        </p:nvSpPr>
        <p:spPr>
          <a:xfrm>
            <a:off x="685800" y="4370832"/>
            <a:ext cx="3119018" cy="365760"/>
          </a:xfrm>
          <a:prstGeom prst="rect">
            <a:avLst/>
          </a:prstGeom>
          <a:noFill/>
          <a:ln/>
        </p:spPr>
        <p:txBody>
          <a:bodyPr wrap="square" lIns="0" tIns="0" rIns="0" bIns="0" rtlCol="0" anchor="ctr"/>
          <a:lstStyle/>
          <a:p>
            <a:pPr indent="0" marL="0">
              <a:buNone/>
            </a:pPr>
            <a:r>
              <a:rPr lang="en-US" sz="1400" b="1" dirty="0">
                <a:solidFill>
                  <a:srgbClr val="0F2922"/>
                </a:solidFill>
                <a:latin typeface="Plus Jakarta Sans" pitchFamily="34" charset="0"/>
                <a:ea typeface="Plus Jakarta Sans" pitchFamily="34" charset="-122"/>
                <a:cs typeface="Plus Jakarta Sans" pitchFamily="34" charset="-120"/>
              </a:rPr>
              <a:t>High Response Time</a:t>
            </a:r>
            <a:endParaRPr lang="en-US" sz="1400" dirty="0"/>
          </a:p>
        </p:txBody>
      </p:sp>
      <p:sp>
        <p:nvSpPr>
          <p:cNvPr id="11" name="Text 9"/>
          <p:cNvSpPr txBox="1"/>
          <p:nvPr/>
        </p:nvSpPr>
        <p:spPr>
          <a:xfrm>
            <a:off x="685800" y="4773168"/>
            <a:ext cx="3119018" cy="1005840"/>
          </a:xfrm>
          <a:prstGeom prst="rect">
            <a:avLst/>
          </a:prstGeom>
          <a:noFill/>
          <a:ln/>
        </p:spPr>
        <p:txBody>
          <a:bodyPr wrap="square" lIns="0" tIns="0" rIns="0" bIns="0" rtlCol="0" anchor="ctr"/>
          <a:lstStyle/>
          <a:p>
            <a:pPr indent="0" marL="0">
              <a:lnSpc>
                <a:spcPct val="125000"/>
              </a:lnSpc>
              <a:buNone/>
            </a:pPr>
            <a:r>
              <a:rPr lang="en-US" sz="1100" dirty="0">
                <a:solidFill>
                  <a:srgbClr val="475569"/>
                </a:solidFill>
                <a:latin typeface="Inter" pitchFamily="34" charset="0"/>
                <a:ea typeface="Inter" pitchFamily="34" charset="-122"/>
                <a:cs typeface="Inter" pitchFamily="34" charset="-120"/>
              </a:rPr>
              <a:t>Manual intake creates backlogs and extends customer wait times.</a:t>
            </a:r>
            <a:endParaRPr lang="en-US" sz="1100" dirty="0"/>
          </a:p>
        </p:txBody>
      </p:sp>
      <p:sp>
        <p:nvSpPr>
          <p:cNvPr id="12" name="Shape 10"/>
          <p:cNvSpPr/>
          <p:nvPr/>
        </p:nvSpPr>
        <p:spPr>
          <a:xfrm>
            <a:off x="4307738" y="3703320"/>
            <a:ext cx="3576218" cy="2240280"/>
          </a:xfrm>
          <a:prstGeom prst="roundRect">
            <a:avLst>
              <a:gd name="adj" fmla="val 3265"/>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13" name="Shape 11"/>
          <p:cNvSpPr/>
          <p:nvPr/>
        </p:nvSpPr>
        <p:spPr>
          <a:xfrm>
            <a:off x="4536338" y="3931920"/>
            <a:ext cx="822960" cy="292608"/>
          </a:xfrm>
          <a:prstGeom prst="roundRect">
            <a:avLst>
              <a:gd name="adj" fmla="val 50000"/>
            </a:avLst>
          </a:prstGeom>
          <a:solidFill>
            <a:srgbClr val="FEF3C7"/>
          </a:solidFill>
          <a:ln w="12700">
            <a:solidFill>
              <a:srgbClr val="FCD34D"/>
            </a:solidFill>
            <a:prstDash val="solid"/>
          </a:ln>
        </p:spPr>
      </p:sp>
      <p:sp>
        <p:nvSpPr>
          <p:cNvPr id="14" name="Text 12"/>
          <p:cNvSpPr txBox="1"/>
          <p:nvPr/>
        </p:nvSpPr>
        <p:spPr>
          <a:xfrm>
            <a:off x="4536338" y="3931920"/>
            <a:ext cx="822960" cy="292608"/>
          </a:xfrm>
          <a:prstGeom prst="rect">
            <a:avLst/>
          </a:prstGeom>
          <a:noFill/>
          <a:ln/>
        </p:spPr>
        <p:txBody>
          <a:bodyPr wrap="square" lIns="0" tIns="0" rIns="0" bIns="0" rtlCol="0" anchor="ctr"/>
          <a:lstStyle/>
          <a:p>
            <a:pPr algn="ctr" indent="0" marL="0">
              <a:buNone/>
            </a:pPr>
            <a:r>
              <a:rPr lang="en-US" sz="900" b="1" dirty="0">
                <a:solidFill>
                  <a:srgbClr val="92400E"/>
                </a:solidFill>
                <a:latin typeface="Inter" pitchFamily="34" charset="0"/>
                <a:ea typeface="Inter" pitchFamily="34" charset="-122"/>
                <a:cs typeface="Inter" pitchFamily="34" charset="-120"/>
              </a:rPr>
              <a:t>Degraded</a:t>
            </a:r>
            <a:endParaRPr lang="en-US" sz="900" dirty="0"/>
          </a:p>
        </p:txBody>
      </p:sp>
      <p:sp>
        <p:nvSpPr>
          <p:cNvPr id="15" name="Text 13"/>
          <p:cNvSpPr txBox="1"/>
          <p:nvPr/>
        </p:nvSpPr>
        <p:spPr>
          <a:xfrm>
            <a:off x="4536338" y="4370832"/>
            <a:ext cx="3119018" cy="365760"/>
          </a:xfrm>
          <a:prstGeom prst="rect">
            <a:avLst/>
          </a:prstGeom>
          <a:noFill/>
          <a:ln/>
        </p:spPr>
        <p:txBody>
          <a:bodyPr wrap="square" lIns="0" tIns="0" rIns="0" bIns="0" rtlCol="0" anchor="ctr"/>
          <a:lstStyle/>
          <a:p>
            <a:pPr indent="0" marL="0">
              <a:buNone/>
            </a:pPr>
            <a:r>
              <a:rPr lang="en-US" sz="1400" b="1" dirty="0">
                <a:solidFill>
                  <a:srgbClr val="0F2922"/>
                </a:solidFill>
                <a:latin typeface="Plus Jakarta Sans" pitchFamily="34" charset="0"/>
                <a:ea typeface="Plus Jakarta Sans" pitchFamily="34" charset="-122"/>
                <a:cs typeface="Plus Jakarta Sans" pitchFamily="34" charset="-120"/>
              </a:rPr>
              <a:t>Degraded Productivity</a:t>
            </a:r>
            <a:endParaRPr lang="en-US" sz="1400" dirty="0"/>
          </a:p>
        </p:txBody>
      </p:sp>
      <p:sp>
        <p:nvSpPr>
          <p:cNvPr id="16" name="Text 14"/>
          <p:cNvSpPr txBox="1"/>
          <p:nvPr/>
        </p:nvSpPr>
        <p:spPr>
          <a:xfrm>
            <a:off x="4536338" y="4773168"/>
            <a:ext cx="3119018" cy="1005840"/>
          </a:xfrm>
          <a:prstGeom prst="rect">
            <a:avLst/>
          </a:prstGeom>
          <a:noFill/>
          <a:ln/>
        </p:spPr>
        <p:txBody>
          <a:bodyPr wrap="square" lIns="0" tIns="0" rIns="0" bIns="0" rtlCol="0" anchor="ctr"/>
          <a:lstStyle/>
          <a:p>
            <a:pPr indent="0" marL="0">
              <a:lnSpc>
                <a:spcPct val="125000"/>
              </a:lnSpc>
              <a:buNone/>
            </a:pPr>
            <a:r>
              <a:rPr lang="en-US" sz="1100" dirty="0">
                <a:solidFill>
                  <a:srgbClr val="475569"/>
                </a:solidFill>
                <a:latin typeface="Inter" pitchFamily="34" charset="0"/>
                <a:ea typeface="Inter" pitchFamily="34" charset="-122"/>
                <a:cs typeface="Inter" pitchFamily="34" charset="-120"/>
              </a:rPr>
              <a:t>Agents spend 40% of time searching scattered knowledge bases.</a:t>
            </a:r>
            <a:endParaRPr lang="en-US" sz="1100" dirty="0"/>
          </a:p>
        </p:txBody>
      </p:sp>
      <p:sp>
        <p:nvSpPr>
          <p:cNvPr id="17" name="Shape 15"/>
          <p:cNvSpPr/>
          <p:nvPr/>
        </p:nvSpPr>
        <p:spPr>
          <a:xfrm>
            <a:off x="8158277" y="3703320"/>
            <a:ext cx="3576218" cy="2240280"/>
          </a:xfrm>
          <a:prstGeom prst="roundRect">
            <a:avLst>
              <a:gd name="adj" fmla="val 3265"/>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18" name="Shape 16"/>
          <p:cNvSpPr/>
          <p:nvPr/>
        </p:nvSpPr>
        <p:spPr>
          <a:xfrm>
            <a:off x="8386877" y="3931920"/>
            <a:ext cx="822960" cy="292608"/>
          </a:xfrm>
          <a:prstGeom prst="roundRect">
            <a:avLst>
              <a:gd name="adj" fmla="val 50000"/>
            </a:avLst>
          </a:prstGeom>
          <a:solidFill>
            <a:srgbClr val="FEE2E2"/>
          </a:solidFill>
          <a:ln w="12700">
            <a:solidFill>
              <a:srgbClr val="FCA5A5"/>
            </a:solidFill>
            <a:prstDash val="solid"/>
          </a:ln>
        </p:spPr>
      </p:sp>
      <p:sp>
        <p:nvSpPr>
          <p:cNvPr id="19" name="Text 17"/>
          <p:cNvSpPr txBox="1"/>
          <p:nvPr/>
        </p:nvSpPr>
        <p:spPr>
          <a:xfrm>
            <a:off x="8386877" y="3931920"/>
            <a:ext cx="822960" cy="292608"/>
          </a:xfrm>
          <a:prstGeom prst="rect">
            <a:avLst/>
          </a:prstGeom>
          <a:noFill/>
          <a:ln/>
        </p:spPr>
        <p:txBody>
          <a:bodyPr wrap="square" lIns="0" tIns="0" rIns="0" bIns="0" rtlCol="0" anchor="ctr"/>
          <a:lstStyle/>
          <a:p>
            <a:pPr algn="ctr" indent="0" marL="0">
              <a:buNone/>
            </a:pPr>
            <a:r>
              <a:rPr lang="en-US" sz="900" b="1" dirty="0">
                <a:solidFill>
                  <a:srgbClr val="991B1B"/>
                </a:solidFill>
                <a:latin typeface="Inter" pitchFamily="34" charset="0"/>
                <a:ea typeface="Inter" pitchFamily="34" charset="-122"/>
                <a:cs typeface="Inter" pitchFamily="34" charset="-120"/>
              </a:rPr>
              <a:t>Poor</a:t>
            </a:r>
            <a:endParaRPr lang="en-US" sz="900" dirty="0"/>
          </a:p>
        </p:txBody>
      </p:sp>
      <p:sp>
        <p:nvSpPr>
          <p:cNvPr id="20" name="Text 18"/>
          <p:cNvSpPr txBox="1"/>
          <p:nvPr/>
        </p:nvSpPr>
        <p:spPr>
          <a:xfrm>
            <a:off x="8386877" y="4370832"/>
            <a:ext cx="3119018" cy="365760"/>
          </a:xfrm>
          <a:prstGeom prst="rect">
            <a:avLst/>
          </a:prstGeom>
          <a:noFill/>
          <a:ln/>
        </p:spPr>
        <p:txBody>
          <a:bodyPr wrap="square" lIns="0" tIns="0" rIns="0" bIns="0" rtlCol="0" anchor="ctr"/>
          <a:lstStyle/>
          <a:p>
            <a:pPr indent="0" marL="0">
              <a:buNone/>
            </a:pPr>
            <a:r>
              <a:rPr lang="en-US" sz="1400" b="1" dirty="0">
                <a:solidFill>
                  <a:srgbClr val="0F2922"/>
                </a:solidFill>
                <a:latin typeface="Plus Jakarta Sans" pitchFamily="34" charset="0"/>
                <a:ea typeface="Plus Jakarta Sans" pitchFamily="34" charset="-122"/>
                <a:cs typeface="Plus Jakarta Sans" pitchFamily="34" charset="-120"/>
              </a:rPr>
              <a:t>Poor Experience</a:t>
            </a:r>
            <a:endParaRPr lang="en-US" sz="1400" dirty="0"/>
          </a:p>
        </p:txBody>
      </p:sp>
      <p:sp>
        <p:nvSpPr>
          <p:cNvPr id="21" name="Text 19"/>
          <p:cNvSpPr txBox="1"/>
          <p:nvPr/>
        </p:nvSpPr>
        <p:spPr>
          <a:xfrm>
            <a:off x="8386877" y="4773168"/>
            <a:ext cx="3119018" cy="1005840"/>
          </a:xfrm>
          <a:prstGeom prst="rect">
            <a:avLst/>
          </a:prstGeom>
          <a:noFill/>
          <a:ln/>
        </p:spPr>
        <p:txBody>
          <a:bodyPr wrap="square" lIns="0" tIns="0" rIns="0" bIns="0" rtlCol="0" anchor="ctr"/>
          <a:lstStyle/>
          <a:p>
            <a:pPr indent="0" marL="0">
              <a:lnSpc>
                <a:spcPct val="125000"/>
              </a:lnSpc>
              <a:buNone/>
            </a:pPr>
            <a:r>
              <a:rPr lang="en-US" sz="1100" dirty="0">
                <a:solidFill>
                  <a:srgbClr val="475569"/>
                </a:solidFill>
                <a:latin typeface="Inter" pitchFamily="34" charset="0"/>
                <a:ea typeface="Inter" pitchFamily="34" charset="-122"/>
                <a:cs typeface="Inter" pitchFamily="34" charset="-120"/>
              </a:rPr>
              <a:t>Inconsistent responses directly harm customer trust and retention.</a:t>
            </a:r>
            <a:endParaRPr lang="en-US" sz="1100" dirty="0"/>
          </a:p>
        </p:txBody>
      </p:sp>
      <p:sp>
        <p:nvSpPr>
          <p:cNvPr id="22" name="Text 20"/>
          <p:cNvSpPr txBox="1"/>
          <p:nvPr/>
        </p:nvSpPr>
        <p:spPr>
          <a:xfrm>
            <a:off x="11475720" y="6510528"/>
            <a:ext cx="365760" cy="256032"/>
          </a:xfrm>
          <a:prstGeom prst="rect">
            <a:avLst/>
          </a:prstGeom>
          <a:noFill/>
          <a:ln/>
        </p:spPr>
        <p:txBody>
          <a:bodyPr wrap="square" lIns="0" tIns="0" rIns="0" bIns="0" rtlCol="0" anchor="ctr"/>
          <a:lstStyle/>
          <a:p>
            <a:pPr algn="r" indent="0" marL="0">
              <a:buNone/>
            </a:pPr>
            <a:r>
              <a:rPr lang="en-US" sz="900" b="1" dirty="0">
                <a:solidFill>
                  <a:srgbClr val="CBD5E1"/>
                </a:solidFill>
                <a:latin typeface="Inter" pitchFamily="34" charset="0"/>
                <a:ea typeface="Inter" pitchFamily="34" charset="-122"/>
                <a:cs typeface="Inter"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9"/>
        </a:solidFill>
      </p:bgPr>
    </p:bg>
    <p:spTree>
      <p:nvGrpSpPr>
        <p:cNvPr id="1" name=""/>
        <p:cNvGrpSpPr/>
        <p:nvPr/>
      </p:nvGrpSpPr>
      <p:grpSpPr>
        <a:xfrm>
          <a:off x="0" y="0"/>
          <a:ext cx="0" cy="0"/>
          <a:chOff x="0" y="0"/>
          <a:chExt cx="0" cy="0"/>
        </a:xfrm>
      </p:grpSpPr>
      <p:sp>
        <p:nvSpPr>
          <p:cNvPr id="2" name="Text 0"/>
          <p:cNvSpPr txBox="1"/>
          <p:nvPr/>
        </p:nvSpPr>
        <p:spPr>
          <a:xfrm>
            <a:off x="457200" y="320040"/>
            <a:ext cx="10607040" cy="274320"/>
          </a:xfrm>
          <a:prstGeom prst="rect">
            <a:avLst/>
          </a:prstGeom>
          <a:noFill/>
          <a:ln/>
        </p:spPr>
        <p:txBody>
          <a:bodyPr wrap="square" lIns="0" tIns="0" rIns="0" bIns="0" rtlCol="0" anchor="ctr"/>
          <a:lstStyle/>
          <a:p>
            <a:pPr indent="0" marL="0">
              <a:buNone/>
            </a:pPr>
            <a:r>
              <a:rPr lang="en-US" sz="1100" b="1" spc="100" kern="0" dirty="0">
                <a:solidFill>
                  <a:srgbClr val="0D9488"/>
                </a:solidFill>
                <a:latin typeface="Inter" pitchFamily="34" charset="0"/>
                <a:ea typeface="Inter" pitchFamily="34" charset="-122"/>
                <a:cs typeface="Inter" pitchFamily="34" charset="-120"/>
              </a:rPr>
              <a:t>DIAGNOSTIC ANALYSIS</a:t>
            </a:r>
            <a:endParaRPr lang="en-US" sz="1100" dirty="0"/>
          </a:p>
        </p:txBody>
      </p:sp>
      <p:sp>
        <p:nvSpPr>
          <p:cNvPr id="3" name="Text 1"/>
          <p:cNvSpPr txBox="1"/>
          <p:nvPr/>
        </p:nvSpPr>
        <p:spPr>
          <a:xfrm>
            <a:off x="457200" y="566928"/>
            <a:ext cx="10972800" cy="566928"/>
          </a:xfrm>
          <a:prstGeom prst="rect">
            <a:avLst/>
          </a:prstGeom>
          <a:noFill/>
          <a:ln/>
        </p:spPr>
        <p:txBody>
          <a:bodyPr wrap="square" lIns="0" tIns="0" rIns="0" bIns="0" rtlCol="0" anchor="ctr"/>
          <a:lstStyle/>
          <a:p>
            <a:pPr indent="0" marL="0">
              <a:buNone/>
            </a:pPr>
            <a:r>
              <a:rPr lang="en-US" sz="2600" b="1" dirty="0">
                <a:solidFill>
                  <a:srgbClr val="0F2922"/>
                </a:solidFill>
                <a:latin typeface="Plus Jakarta Sans" pitchFamily="34" charset="0"/>
                <a:ea typeface="Plus Jakarta Sans" pitchFamily="34" charset="-122"/>
                <a:cs typeface="Plus Jakarta Sans" pitchFamily="34" charset="-120"/>
              </a:rPr>
              <a:t>Problem Findings &amp; Audit Results</a:t>
            </a:r>
            <a:endParaRPr lang="en-US" sz="2600" dirty="0"/>
          </a:p>
        </p:txBody>
      </p:sp>
      <p:sp>
        <p:nvSpPr>
          <p:cNvPr id="4" name="Shape 2"/>
          <p:cNvSpPr/>
          <p:nvPr/>
        </p:nvSpPr>
        <p:spPr>
          <a:xfrm>
            <a:off x="457200" y="1207008"/>
            <a:ext cx="11277295" cy="18288"/>
          </a:xfrm>
          <a:prstGeom prst="rect">
            <a:avLst/>
          </a:prstGeom>
          <a:solidFill>
            <a:srgbClr val="E2E8F0"/>
          </a:solidFill>
          <a:ln/>
        </p:spPr>
      </p:sp>
      <p:sp>
        <p:nvSpPr>
          <p:cNvPr id="5" name="Shape 3"/>
          <p:cNvSpPr/>
          <p:nvPr/>
        </p:nvSpPr>
        <p:spPr>
          <a:xfrm>
            <a:off x="457200" y="1645920"/>
            <a:ext cx="2613584" cy="3291840"/>
          </a:xfrm>
          <a:prstGeom prst="roundRect">
            <a:avLst>
              <a:gd name="adj" fmla="val 2799"/>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6" name="Shape 4"/>
          <p:cNvSpPr/>
          <p:nvPr/>
        </p:nvSpPr>
        <p:spPr>
          <a:xfrm>
            <a:off x="685800" y="1920240"/>
            <a:ext cx="457200" cy="457200"/>
          </a:xfrm>
          <a:prstGeom prst="ellipse">
            <a:avLst/>
          </a:prstGeom>
          <a:solidFill>
            <a:srgbClr val="0D9488"/>
          </a:solidFill>
          <a:ln/>
        </p:spPr>
      </p:sp>
      <p:sp>
        <p:nvSpPr>
          <p:cNvPr id="7" name="Text 5"/>
          <p:cNvSpPr txBox="1"/>
          <p:nvPr/>
        </p:nvSpPr>
        <p:spPr>
          <a:xfrm>
            <a:off x="685800" y="1920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lus Jakarta Sans" pitchFamily="34" charset="0"/>
                <a:ea typeface="Plus Jakarta Sans" pitchFamily="34" charset="-122"/>
                <a:cs typeface="Plus Jakarta Sans" pitchFamily="34" charset="-120"/>
              </a:rPr>
              <a:t>1</a:t>
            </a:r>
            <a:endParaRPr lang="en-US" sz="1600" dirty="0"/>
          </a:p>
        </p:txBody>
      </p:sp>
      <p:sp>
        <p:nvSpPr>
          <p:cNvPr id="8" name="Text 6"/>
          <p:cNvSpPr txBox="1"/>
          <p:nvPr/>
        </p:nvSpPr>
        <p:spPr>
          <a:xfrm>
            <a:off x="685800" y="2331720"/>
            <a:ext cx="2156384" cy="548640"/>
          </a:xfrm>
          <a:prstGeom prst="rect">
            <a:avLst/>
          </a:prstGeom>
          <a:noFill/>
          <a:ln/>
        </p:spPr>
        <p:txBody>
          <a:bodyPr wrap="square" lIns="0" tIns="0" rIns="0" bIns="0" rtlCol="0" anchor="ctr"/>
          <a:lstStyle/>
          <a:p>
            <a:pPr indent="0" marL="0">
              <a:buNone/>
            </a:pPr>
            <a:r>
              <a:rPr lang="en-US" sz="1400" b="1" dirty="0">
                <a:solidFill>
                  <a:srgbClr val="0F2922"/>
                </a:solidFill>
                <a:latin typeface="Plus Jakarta Sans" pitchFamily="34" charset="0"/>
                <a:ea typeface="Plus Jakarta Sans" pitchFamily="34" charset="-122"/>
                <a:cs typeface="Plus Jakarta Sans" pitchFamily="34" charset="-120"/>
              </a:rPr>
              <a:t>Manual Friction</a:t>
            </a:r>
            <a:endParaRPr lang="en-US" sz="1400" dirty="0"/>
          </a:p>
        </p:txBody>
      </p:sp>
      <p:sp>
        <p:nvSpPr>
          <p:cNvPr id="9" name="Text 7"/>
          <p:cNvSpPr txBox="1"/>
          <p:nvPr/>
        </p:nvSpPr>
        <p:spPr>
          <a:xfrm>
            <a:off x="685800" y="2880360"/>
            <a:ext cx="2156384" cy="1828800"/>
          </a:xfrm>
          <a:prstGeom prst="rect">
            <a:avLst/>
          </a:prstGeom>
          <a:noFill/>
          <a:ln/>
        </p:spPr>
        <p:txBody>
          <a:bodyPr wrap="square" lIns="0" tIns="0" rIns="0" bIns="0" rtlCol="0" anchor="ctr"/>
          <a:lstStyle/>
          <a:p>
            <a:pPr indent="0" marL="0">
              <a:lnSpc>
                <a:spcPct val="130000"/>
              </a:lnSpc>
              <a:buNone/>
            </a:pPr>
            <a:r>
              <a:rPr lang="en-US" sz="1100" dirty="0">
                <a:solidFill>
                  <a:srgbClr val="475569"/>
                </a:solidFill>
                <a:latin typeface="Inter" pitchFamily="34" charset="0"/>
                <a:ea typeface="Inter" pitchFamily="34" charset="-122"/>
                <a:cs typeface="Inter" pitchFamily="34" charset="-120"/>
              </a:rPr>
              <a:t>Excessive manual effort required for sorting and initial categorization.</a:t>
            </a:r>
            <a:endParaRPr lang="en-US" sz="1100" dirty="0"/>
          </a:p>
        </p:txBody>
      </p:sp>
      <p:sp>
        <p:nvSpPr>
          <p:cNvPr id="10" name="Shape 8"/>
          <p:cNvSpPr/>
          <p:nvPr/>
        </p:nvSpPr>
        <p:spPr>
          <a:xfrm>
            <a:off x="3345104" y="1645920"/>
            <a:ext cx="2613584" cy="3291840"/>
          </a:xfrm>
          <a:prstGeom prst="roundRect">
            <a:avLst>
              <a:gd name="adj" fmla="val 2799"/>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11" name="Shape 9"/>
          <p:cNvSpPr/>
          <p:nvPr/>
        </p:nvSpPr>
        <p:spPr>
          <a:xfrm>
            <a:off x="3573704" y="1920240"/>
            <a:ext cx="457200" cy="457200"/>
          </a:xfrm>
          <a:prstGeom prst="ellipse">
            <a:avLst/>
          </a:prstGeom>
          <a:solidFill>
            <a:srgbClr val="0D9488"/>
          </a:solidFill>
          <a:ln/>
        </p:spPr>
      </p:sp>
      <p:sp>
        <p:nvSpPr>
          <p:cNvPr id="12" name="Text 10"/>
          <p:cNvSpPr txBox="1"/>
          <p:nvPr/>
        </p:nvSpPr>
        <p:spPr>
          <a:xfrm>
            <a:off x="3573704" y="1920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lus Jakarta Sans" pitchFamily="34" charset="0"/>
                <a:ea typeface="Plus Jakarta Sans" pitchFamily="34" charset="-122"/>
                <a:cs typeface="Plus Jakarta Sans" pitchFamily="34" charset="-120"/>
              </a:rPr>
              <a:t>2</a:t>
            </a:r>
            <a:endParaRPr lang="en-US" sz="1600" dirty="0"/>
          </a:p>
        </p:txBody>
      </p:sp>
      <p:sp>
        <p:nvSpPr>
          <p:cNvPr id="13" name="Text 11"/>
          <p:cNvSpPr txBox="1"/>
          <p:nvPr/>
        </p:nvSpPr>
        <p:spPr>
          <a:xfrm>
            <a:off x="3573704" y="2331720"/>
            <a:ext cx="2156384" cy="548640"/>
          </a:xfrm>
          <a:prstGeom prst="rect">
            <a:avLst/>
          </a:prstGeom>
          <a:noFill/>
          <a:ln/>
        </p:spPr>
        <p:txBody>
          <a:bodyPr wrap="square" lIns="0" tIns="0" rIns="0" bIns="0" rtlCol="0" anchor="ctr"/>
          <a:lstStyle/>
          <a:p>
            <a:pPr indent="0" marL="0">
              <a:buNone/>
            </a:pPr>
            <a:r>
              <a:rPr lang="en-US" sz="1400" b="1" dirty="0">
                <a:solidFill>
                  <a:srgbClr val="0F2922"/>
                </a:solidFill>
                <a:latin typeface="Plus Jakarta Sans" pitchFamily="34" charset="0"/>
                <a:ea typeface="Plus Jakarta Sans" pitchFamily="34" charset="-122"/>
                <a:cs typeface="Plus Jakarta Sans" pitchFamily="34" charset="-120"/>
              </a:rPr>
              <a:t>Context Lag</a:t>
            </a:r>
            <a:endParaRPr lang="en-US" sz="1400" dirty="0"/>
          </a:p>
        </p:txBody>
      </p:sp>
      <p:sp>
        <p:nvSpPr>
          <p:cNvPr id="14" name="Text 12"/>
          <p:cNvSpPr txBox="1"/>
          <p:nvPr/>
        </p:nvSpPr>
        <p:spPr>
          <a:xfrm>
            <a:off x="3573704" y="2880360"/>
            <a:ext cx="2156384" cy="1828800"/>
          </a:xfrm>
          <a:prstGeom prst="rect">
            <a:avLst/>
          </a:prstGeom>
          <a:noFill/>
          <a:ln/>
        </p:spPr>
        <p:txBody>
          <a:bodyPr wrap="square" lIns="0" tIns="0" rIns="0" bIns="0" rtlCol="0" anchor="ctr"/>
          <a:lstStyle/>
          <a:p>
            <a:pPr indent="0" marL="0">
              <a:lnSpc>
                <a:spcPct val="130000"/>
              </a:lnSpc>
              <a:buNone/>
            </a:pPr>
            <a:r>
              <a:rPr lang="en-US" sz="1100" dirty="0">
                <a:solidFill>
                  <a:srgbClr val="475569"/>
                </a:solidFill>
                <a:latin typeface="Inter" pitchFamily="34" charset="0"/>
                <a:ea typeface="Inter" pitchFamily="34" charset="-122"/>
                <a:cs typeface="Inter" pitchFamily="34" charset="-120"/>
              </a:rPr>
              <a:t>Delayed understanding of ticket urgency and underlying customer intent.</a:t>
            </a:r>
            <a:endParaRPr lang="en-US" sz="1100" dirty="0"/>
          </a:p>
        </p:txBody>
      </p:sp>
      <p:sp>
        <p:nvSpPr>
          <p:cNvPr id="15" name="Shape 13"/>
          <p:cNvSpPr/>
          <p:nvPr/>
        </p:nvSpPr>
        <p:spPr>
          <a:xfrm>
            <a:off x="6233008" y="1645920"/>
            <a:ext cx="2613584" cy="3291840"/>
          </a:xfrm>
          <a:prstGeom prst="roundRect">
            <a:avLst>
              <a:gd name="adj" fmla="val 2799"/>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16" name="Shape 14"/>
          <p:cNvSpPr/>
          <p:nvPr/>
        </p:nvSpPr>
        <p:spPr>
          <a:xfrm>
            <a:off x="6461608" y="1920240"/>
            <a:ext cx="457200" cy="457200"/>
          </a:xfrm>
          <a:prstGeom prst="ellipse">
            <a:avLst/>
          </a:prstGeom>
          <a:solidFill>
            <a:srgbClr val="0D9488"/>
          </a:solidFill>
          <a:ln/>
        </p:spPr>
      </p:sp>
      <p:sp>
        <p:nvSpPr>
          <p:cNvPr id="17" name="Text 15"/>
          <p:cNvSpPr txBox="1"/>
          <p:nvPr/>
        </p:nvSpPr>
        <p:spPr>
          <a:xfrm>
            <a:off x="6461608" y="1920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lus Jakarta Sans" pitchFamily="34" charset="0"/>
                <a:ea typeface="Plus Jakarta Sans" pitchFamily="34" charset="-122"/>
                <a:cs typeface="Plus Jakarta Sans" pitchFamily="34" charset="-120"/>
              </a:rPr>
              <a:t>3</a:t>
            </a:r>
            <a:endParaRPr lang="en-US" sz="1600" dirty="0"/>
          </a:p>
        </p:txBody>
      </p:sp>
      <p:sp>
        <p:nvSpPr>
          <p:cNvPr id="18" name="Text 16"/>
          <p:cNvSpPr txBox="1"/>
          <p:nvPr/>
        </p:nvSpPr>
        <p:spPr>
          <a:xfrm>
            <a:off x="6461608" y="2331720"/>
            <a:ext cx="2156384" cy="548640"/>
          </a:xfrm>
          <a:prstGeom prst="rect">
            <a:avLst/>
          </a:prstGeom>
          <a:noFill/>
          <a:ln/>
        </p:spPr>
        <p:txBody>
          <a:bodyPr wrap="square" lIns="0" tIns="0" rIns="0" bIns="0" rtlCol="0" anchor="ctr"/>
          <a:lstStyle/>
          <a:p>
            <a:pPr indent="0" marL="0">
              <a:buNone/>
            </a:pPr>
            <a:r>
              <a:rPr lang="en-US" sz="1400" b="1" dirty="0">
                <a:solidFill>
                  <a:srgbClr val="0F2922"/>
                </a:solidFill>
                <a:latin typeface="Plus Jakarta Sans" pitchFamily="34" charset="0"/>
                <a:ea typeface="Plus Jakarta Sans" pitchFamily="34" charset="-122"/>
                <a:cs typeface="Plus Jakarta Sans" pitchFamily="34" charset="-120"/>
              </a:rPr>
              <a:t>Knowledge Silos</a:t>
            </a:r>
            <a:endParaRPr lang="en-US" sz="1400" dirty="0"/>
          </a:p>
        </p:txBody>
      </p:sp>
      <p:sp>
        <p:nvSpPr>
          <p:cNvPr id="19" name="Text 17"/>
          <p:cNvSpPr txBox="1"/>
          <p:nvPr/>
        </p:nvSpPr>
        <p:spPr>
          <a:xfrm>
            <a:off x="6461608" y="2880360"/>
            <a:ext cx="2156384" cy="1828800"/>
          </a:xfrm>
          <a:prstGeom prst="rect">
            <a:avLst/>
          </a:prstGeom>
          <a:noFill/>
          <a:ln/>
        </p:spPr>
        <p:txBody>
          <a:bodyPr wrap="square" lIns="0" tIns="0" rIns="0" bIns="0" rtlCol="0" anchor="ctr"/>
          <a:lstStyle/>
          <a:p>
            <a:pPr indent="0" marL="0">
              <a:lnSpc>
                <a:spcPct val="130000"/>
              </a:lnSpc>
              <a:buNone/>
            </a:pPr>
            <a:r>
              <a:rPr lang="en-US" sz="1100" dirty="0">
                <a:solidFill>
                  <a:srgbClr val="475569"/>
                </a:solidFill>
                <a:latin typeface="Inter" pitchFamily="34" charset="0"/>
                <a:ea typeface="Inter" pitchFamily="34" charset="-122"/>
                <a:cs typeface="Inter" pitchFamily="34" charset="-120"/>
              </a:rPr>
              <a:t>Difficulty retrieving relevant past solutions and documentation.</a:t>
            </a:r>
            <a:endParaRPr lang="en-US" sz="1100" dirty="0"/>
          </a:p>
        </p:txBody>
      </p:sp>
      <p:sp>
        <p:nvSpPr>
          <p:cNvPr id="20" name="Shape 18"/>
          <p:cNvSpPr/>
          <p:nvPr/>
        </p:nvSpPr>
        <p:spPr>
          <a:xfrm>
            <a:off x="9120911" y="1645920"/>
            <a:ext cx="2613584" cy="3291840"/>
          </a:xfrm>
          <a:prstGeom prst="roundRect">
            <a:avLst>
              <a:gd name="adj" fmla="val 2799"/>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21" name="Shape 19"/>
          <p:cNvSpPr/>
          <p:nvPr/>
        </p:nvSpPr>
        <p:spPr>
          <a:xfrm>
            <a:off x="9349511" y="1920240"/>
            <a:ext cx="457200" cy="457200"/>
          </a:xfrm>
          <a:prstGeom prst="ellipse">
            <a:avLst/>
          </a:prstGeom>
          <a:solidFill>
            <a:srgbClr val="0D9488"/>
          </a:solidFill>
          <a:ln/>
        </p:spPr>
      </p:sp>
      <p:sp>
        <p:nvSpPr>
          <p:cNvPr id="22" name="Text 20"/>
          <p:cNvSpPr txBox="1"/>
          <p:nvPr/>
        </p:nvSpPr>
        <p:spPr>
          <a:xfrm>
            <a:off x="9349511" y="1920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lus Jakarta Sans" pitchFamily="34" charset="0"/>
                <a:ea typeface="Plus Jakarta Sans" pitchFamily="34" charset="-122"/>
                <a:cs typeface="Plus Jakarta Sans" pitchFamily="34" charset="-120"/>
              </a:rPr>
              <a:t>4</a:t>
            </a:r>
            <a:endParaRPr lang="en-US" sz="1600" dirty="0"/>
          </a:p>
        </p:txBody>
      </p:sp>
      <p:sp>
        <p:nvSpPr>
          <p:cNvPr id="23" name="Text 21"/>
          <p:cNvSpPr txBox="1"/>
          <p:nvPr/>
        </p:nvSpPr>
        <p:spPr>
          <a:xfrm>
            <a:off x="9349511" y="2331720"/>
            <a:ext cx="2156384" cy="548640"/>
          </a:xfrm>
          <a:prstGeom prst="rect">
            <a:avLst/>
          </a:prstGeom>
          <a:noFill/>
          <a:ln/>
        </p:spPr>
        <p:txBody>
          <a:bodyPr wrap="square" lIns="0" tIns="0" rIns="0" bIns="0" rtlCol="0" anchor="ctr"/>
          <a:lstStyle/>
          <a:p>
            <a:pPr indent="0" marL="0">
              <a:buNone/>
            </a:pPr>
            <a:r>
              <a:rPr lang="en-US" sz="1400" b="1" dirty="0">
                <a:solidFill>
                  <a:srgbClr val="0F2922"/>
                </a:solidFill>
                <a:latin typeface="Plus Jakarta Sans" pitchFamily="34" charset="0"/>
                <a:ea typeface="Plus Jakarta Sans" pitchFamily="34" charset="-122"/>
                <a:cs typeface="Plus Jakarta Sans" pitchFamily="34" charset="-120"/>
              </a:rPr>
              <a:t>Limited Visibility</a:t>
            </a:r>
            <a:endParaRPr lang="en-US" sz="1400" dirty="0"/>
          </a:p>
        </p:txBody>
      </p:sp>
      <p:sp>
        <p:nvSpPr>
          <p:cNvPr id="24" name="Text 22"/>
          <p:cNvSpPr txBox="1"/>
          <p:nvPr/>
        </p:nvSpPr>
        <p:spPr>
          <a:xfrm>
            <a:off x="9349511" y="2880360"/>
            <a:ext cx="2156384" cy="1828800"/>
          </a:xfrm>
          <a:prstGeom prst="rect">
            <a:avLst/>
          </a:prstGeom>
          <a:noFill/>
          <a:ln/>
        </p:spPr>
        <p:txBody>
          <a:bodyPr wrap="square" lIns="0" tIns="0" rIns="0" bIns="0" rtlCol="0" anchor="ctr"/>
          <a:lstStyle/>
          <a:p>
            <a:pPr indent="0" marL="0">
              <a:lnSpc>
                <a:spcPct val="130000"/>
              </a:lnSpc>
              <a:buNone/>
            </a:pPr>
            <a:r>
              <a:rPr lang="en-US" sz="1100" dirty="0">
                <a:solidFill>
                  <a:srgbClr val="475569"/>
                </a:solidFill>
                <a:latin typeface="Inter" pitchFamily="34" charset="0"/>
                <a:ea typeface="Inter" pitchFamily="34" charset="-122"/>
                <a:cs typeface="Inter" pitchFamily="34" charset="-120"/>
              </a:rPr>
              <a:t>Poor tracking of ticket progress, SLA breaches, and agent performance.</a:t>
            </a:r>
            <a:endParaRPr lang="en-US" sz="1100" dirty="0"/>
          </a:p>
        </p:txBody>
      </p:sp>
      <p:sp>
        <p:nvSpPr>
          <p:cNvPr id="25" name="Text 23"/>
          <p:cNvSpPr txBox="1"/>
          <p:nvPr/>
        </p:nvSpPr>
        <p:spPr>
          <a:xfrm>
            <a:off x="11475720" y="6510528"/>
            <a:ext cx="365760" cy="256032"/>
          </a:xfrm>
          <a:prstGeom prst="rect">
            <a:avLst/>
          </a:prstGeom>
          <a:noFill/>
          <a:ln/>
        </p:spPr>
        <p:txBody>
          <a:bodyPr wrap="square" lIns="0" tIns="0" rIns="0" bIns="0" rtlCol="0" anchor="ctr"/>
          <a:lstStyle/>
          <a:p>
            <a:pPr algn="r" indent="0" marL="0">
              <a:buNone/>
            </a:pPr>
            <a:r>
              <a:rPr lang="en-US" sz="900" b="1" dirty="0">
                <a:solidFill>
                  <a:srgbClr val="CBD5E1"/>
                </a:solidFill>
                <a:latin typeface="Inter" pitchFamily="34" charset="0"/>
                <a:ea typeface="Inter" pitchFamily="34" charset="-122"/>
                <a:cs typeface="Inter"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9"/>
        </a:solidFill>
      </p:bgPr>
    </p:bg>
    <p:spTree>
      <p:nvGrpSpPr>
        <p:cNvPr id="1" name=""/>
        <p:cNvGrpSpPr/>
        <p:nvPr/>
      </p:nvGrpSpPr>
      <p:grpSpPr>
        <a:xfrm>
          <a:off x="0" y="0"/>
          <a:ext cx="0" cy="0"/>
          <a:chOff x="0" y="0"/>
          <a:chExt cx="0" cy="0"/>
        </a:xfrm>
      </p:grpSpPr>
      <p:sp>
        <p:nvSpPr>
          <p:cNvPr id="2" name="Text 0"/>
          <p:cNvSpPr txBox="1"/>
          <p:nvPr/>
        </p:nvSpPr>
        <p:spPr>
          <a:xfrm>
            <a:off x="457200" y="320040"/>
            <a:ext cx="10607040" cy="274320"/>
          </a:xfrm>
          <a:prstGeom prst="rect">
            <a:avLst/>
          </a:prstGeom>
          <a:noFill/>
          <a:ln/>
        </p:spPr>
        <p:txBody>
          <a:bodyPr wrap="square" lIns="0" tIns="0" rIns="0" bIns="0" rtlCol="0" anchor="ctr"/>
          <a:lstStyle/>
          <a:p>
            <a:pPr indent="0" marL="0">
              <a:buNone/>
            </a:pPr>
            <a:r>
              <a:rPr lang="en-US" sz="1100" b="1" spc="100" kern="0" dirty="0">
                <a:solidFill>
                  <a:srgbClr val="0D9488"/>
                </a:solidFill>
                <a:latin typeface="Inter" pitchFamily="34" charset="0"/>
                <a:ea typeface="Inter" pitchFamily="34" charset="-122"/>
                <a:cs typeface="Inter" pitchFamily="34" charset="-120"/>
              </a:rPr>
              <a:t>TECHNICAL BLUEPRINT</a:t>
            </a:r>
            <a:endParaRPr lang="en-US" sz="1100" dirty="0"/>
          </a:p>
        </p:txBody>
      </p:sp>
      <p:sp>
        <p:nvSpPr>
          <p:cNvPr id="3" name="Text 1"/>
          <p:cNvSpPr txBox="1"/>
          <p:nvPr/>
        </p:nvSpPr>
        <p:spPr>
          <a:xfrm>
            <a:off x="457200" y="566928"/>
            <a:ext cx="10972800" cy="566928"/>
          </a:xfrm>
          <a:prstGeom prst="rect">
            <a:avLst/>
          </a:prstGeom>
          <a:noFill/>
          <a:ln/>
        </p:spPr>
        <p:txBody>
          <a:bodyPr wrap="square" lIns="0" tIns="0" rIns="0" bIns="0" rtlCol="0" anchor="ctr"/>
          <a:lstStyle/>
          <a:p>
            <a:pPr indent="0" marL="0">
              <a:buNone/>
            </a:pPr>
            <a:r>
              <a:rPr lang="en-US" sz="2600" b="1" dirty="0">
                <a:solidFill>
                  <a:srgbClr val="0F2922"/>
                </a:solidFill>
                <a:latin typeface="Plus Jakarta Sans" pitchFamily="34" charset="0"/>
                <a:ea typeface="Plus Jakarta Sans" pitchFamily="34" charset="-122"/>
                <a:cs typeface="Plus Jakarta Sans" pitchFamily="34" charset="-120"/>
              </a:rPr>
              <a:t>Solution Architecture</a:t>
            </a:r>
            <a:endParaRPr lang="en-US" sz="2600" dirty="0"/>
          </a:p>
        </p:txBody>
      </p:sp>
      <p:sp>
        <p:nvSpPr>
          <p:cNvPr id="4" name="Shape 2"/>
          <p:cNvSpPr/>
          <p:nvPr/>
        </p:nvSpPr>
        <p:spPr>
          <a:xfrm>
            <a:off x="457200" y="1207008"/>
            <a:ext cx="11277295" cy="18288"/>
          </a:xfrm>
          <a:prstGeom prst="rect">
            <a:avLst/>
          </a:prstGeom>
          <a:solidFill>
            <a:srgbClr val="E2E8F0"/>
          </a:solidFill>
          <a:ln/>
        </p:spPr>
      </p:sp>
      <p:sp>
        <p:nvSpPr>
          <p:cNvPr id="5" name="Text 3"/>
          <p:cNvSpPr txBox="1"/>
          <p:nvPr/>
        </p:nvSpPr>
        <p:spPr>
          <a:xfrm>
            <a:off x="457200" y="1371600"/>
            <a:ext cx="11277295" cy="320040"/>
          </a:xfrm>
          <a:prstGeom prst="rect">
            <a:avLst/>
          </a:prstGeom>
          <a:noFill/>
          <a:ln/>
        </p:spPr>
        <p:txBody>
          <a:bodyPr wrap="square" lIns="0" tIns="0" rIns="0" bIns="0" rtlCol="0" anchor="ctr"/>
          <a:lstStyle/>
          <a:p>
            <a:pPr algn="ctr" indent="0" marL="0">
              <a:buNone/>
            </a:pPr>
            <a:r>
              <a:rPr lang="en-US" sz="1200" b="1" dirty="0">
                <a:solidFill>
                  <a:srgbClr val="475569"/>
                </a:solidFill>
                <a:latin typeface="Inter" pitchFamily="34" charset="0"/>
                <a:ea typeface="Inter" pitchFamily="34" charset="-122"/>
                <a:cs typeface="Inter" pitchFamily="34" charset="-120"/>
              </a:rPr>
              <a:t>Users:  Customer  •  Support Agent  •  Manager  •  Administrator</a:t>
            </a:r>
            <a:endParaRPr lang="en-US" sz="1200" dirty="0"/>
          </a:p>
        </p:txBody>
      </p:sp>
      <p:sp>
        <p:nvSpPr>
          <p:cNvPr id="6" name="Shape 4"/>
          <p:cNvSpPr/>
          <p:nvPr/>
        </p:nvSpPr>
        <p:spPr>
          <a:xfrm>
            <a:off x="457200" y="1828800"/>
            <a:ext cx="11277295" cy="548640"/>
          </a:xfrm>
          <a:prstGeom prst="roundRect">
            <a:avLst>
              <a:gd name="adj" fmla="val 13333"/>
            </a:avLst>
          </a:prstGeom>
          <a:solidFill>
            <a:srgbClr val="E6F4F1"/>
          </a:solidFill>
          <a:ln w="12700">
            <a:solidFill>
              <a:srgbClr val="0D9488"/>
            </a:solidFill>
            <a:prstDash val="solid"/>
          </a:ln>
          <a:effectLst>
            <a:outerShdw sx="100000" sy="100000" kx="0" ky="0" algn="bl" rotWithShape="0" blurRad="101600" dist="25400" dir="5400000">
              <a:srgbClr val="0F2922">
                <a:alpha val="8000"/>
              </a:srgbClr>
            </a:outerShdw>
          </a:effectLst>
        </p:spPr>
      </p:sp>
      <p:sp>
        <p:nvSpPr>
          <p:cNvPr id="7" name="Text 5"/>
          <p:cNvSpPr txBox="1"/>
          <p:nvPr/>
        </p:nvSpPr>
        <p:spPr>
          <a:xfrm>
            <a:off x="457200" y="1828800"/>
            <a:ext cx="11277295" cy="548640"/>
          </a:xfrm>
          <a:prstGeom prst="rect">
            <a:avLst/>
          </a:prstGeom>
          <a:noFill/>
          <a:ln/>
        </p:spPr>
        <p:txBody>
          <a:bodyPr wrap="square" lIns="0" tIns="0" rIns="0" bIns="0" rtlCol="0" anchor="ctr"/>
          <a:lstStyle/>
          <a:p>
            <a:pPr algn="ctr" indent="0" marL="0">
              <a:buNone/>
            </a:pPr>
            <a:r>
              <a:rPr lang="en-US" sz="1200" b="1" dirty="0">
                <a:solidFill>
                  <a:srgbClr val="0F2922"/>
                </a:solidFill>
                <a:latin typeface="Inter" pitchFamily="34" charset="0"/>
                <a:ea typeface="Inter" pitchFamily="34" charset="-122"/>
                <a:cs typeface="Inter" pitchFamily="34" charset="-120"/>
              </a:rPr>
              <a:t>React Frontend (Tailwind CSS, Recharts)      |      Django REST Framework API (JWT Auth)</a:t>
            </a:r>
            <a:endParaRPr lang="en-US" sz="1200" dirty="0"/>
          </a:p>
        </p:txBody>
      </p:sp>
      <p:sp>
        <p:nvSpPr>
          <p:cNvPr id="8" name="Shape 6"/>
          <p:cNvSpPr/>
          <p:nvPr/>
        </p:nvSpPr>
        <p:spPr>
          <a:xfrm>
            <a:off x="457200" y="2560320"/>
            <a:ext cx="11277295" cy="1417320"/>
          </a:xfrm>
          <a:prstGeom prst="roundRect">
            <a:avLst>
              <a:gd name="adj" fmla="val 5161"/>
            </a:avLst>
          </a:prstGeom>
          <a:solidFill>
            <a:srgbClr val="0F2922"/>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9" name="Text 7"/>
          <p:cNvSpPr txBox="1"/>
          <p:nvPr/>
        </p:nvSpPr>
        <p:spPr>
          <a:xfrm>
            <a:off x="731520" y="2670048"/>
            <a:ext cx="5486400" cy="274320"/>
          </a:xfrm>
          <a:prstGeom prst="rect">
            <a:avLst/>
          </a:prstGeom>
          <a:noFill/>
          <a:ln/>
        </p:spPr>
        <p:txBody>
          <a:bodyPr wrap="square" lIns="0" tIns="0" rIns="0" bIns="0" rtlCol="0" anchor="ctr"/>
          <a:lstStyle/>
          <a:p>
            <a:pPr indent="0" marL="0">
              <a:buNone/>
            </a:pPr>
            <a:r>
              <a:rPr lang="en-US" sz="1100" b="1" spc="100" kern="0" dirty="0">
                <a:solidFill>
                  <a:srgbClr val="2DD4BF"/>
                </a:solidFill>
                <a:latin typeface="Inter" pitchFamily="34" charset="0"/>
                <a:ea typeface="Inter" pitchFamily="34" charset="-122"/>
                <a:cs typeface="Inter" pitchFamily="34" charset="-120"/>
              </a:rPr>
              <a:t>AI ORCHESTRATOR ENGINE</a:t>
            </a:r>
            <a:endParaRPr lang="en-US" sz="1100" dirty="0"/>
          </a:p>
        </p:txBody>
      </p:sp>
      <p:sp>
        <p:nvSpPr>
          <p:cNvPr id="10" name="Shape 8"/>
          <p:cNvSpPr/>
          <p:nvPr/>
        </p:nvSpPr>
        <p:spPr>
          <a:xfrm>
            <a:off x="731520" y="3017520"/>
            <a:ext cx="2510714" cy="822960"/>
          </a:xfrm>
          <a:prstGeom prst="roundRect">
            <a:avLst>
              <a:gd name="adj" fmla="val 8889"/>
            </a:avLst>
          </a:prstGeom>
          <a:solidFill>
            <a:srgbClr val="15554B"/>
          </a:solidFill>
          <a:ln w="12700">
            <a:solidFill>
              <a:srgbClr val="1E6B5C"/>
            </a:solidFill>
            <a:prstDash val="solid"/>
          </a:ln>
        </p:spPr>
      </p:sp>
      <p:sp>
        <p:nvSpPr>
          <p:cNvPr id="11" name="Text 9"/>
          <p:cNvSpPr txBox="1"/>
          <p:nvPr/>
        </p:nvSpPr>
        <p:spPr>
          <a:xfrm>
            <a:off x="731520" y="3017520"/>
            <a:ext cx="2510714" cy="822960"/>
          </a:xfrm>
          <a:prstGeom prst="rect">
            <a:avLst/>
          </a:prstGeom>
          <a:noFill/>
          <a:ln/>
        </p:spPr>
        <p:txBody>
          <a:bodyPr wrap="square" lIns="0" tIns="0" rIns="0" bIns="0" rtlCol="0" anchor="ctr"/>
          <a:lstStyle/>
          <a:p>
            <a:pPr algn="ctr" indent="0" marL="0">
              <a:lnSpc>
                <a:spcPct val="110000"/>
              </a:lnSpc>
              <a:buNone/>
            </a:pPr>
            <a:r>
              <a:rPr lang="en-US" sz="1050" b="1" dirty="0">
                <a:solidFill>
                  <a:srgbClr val="FFFFFF"/>
                </a:solidFill>
                <a:latin typeface="Inter" pitchFamily="34" charset="0"/>
                <a:ea typeface="Inter" pitchFamily="34" charset="-122"/>
                <a:cs typeface="Inter" pitchFamily="34" charset="-120"/>
              </a:rPr>
              <a:t>Classification</a:t>
            </a:r>
            <a:endParaRPr lang="en-US" sz="1050" dirty="0"/>
          </a:p>
          <a:p>
            <a:pPr algn="ctr" indent="0" marL="0">
              <a:lnSpc>
                <a:spcPct val="110000"/>
              </a:lnSpc>
              <a:buNone/>
            </a:pPr>
            <a:r>
              <a:rPr lang="en-US" sz="1050" b="1" dirty="0">
                <a:solidFill>
                  <a:srgbClr val="FFFFFF"/>
                </a:solidFill>
                <a:latin typeface="Inter" pitchFamily="34" charset="0"/>
                <a:ea typeface="Inter" pitchFamily="34" charset="-122"/>
                <a:cs typeface="Inter" pitchFamily="34" charset="-120"/>
              </a:rPr>
              <a:t>&amp; Priority</a:t>
            </a:r>
            <a:endParaRPr lang="en-US" sz="1050" dirty="0"/>
          </a:p>
        </p:txBody>
      </p:sp>
      <p:sp>
        <p:nvSpPr>
          <p:cNvPr id="12" name="Shape 10"/>
          <p:cNvSpPr/>
          <p:nvPr/>
        </p:nvSpPr>
        <p:spPr>
          <a:xfrm>
            <a:off x="3470834" y="3017520"/>
            <a:ext cx="2510714" cy="822960"/>
          </a:xfrm>
          <a:prstGeom prst="roundRect">
            <a:avLst>
              <a:gd name="adj" fmla="val 8889"/>
            </a:avLst>
          </a:prstGeom>
          <a:solidFill>
            <a:srgbClr val="15554B"/>
          </a:solidFill>
          <a:ln w="12700">
            <a:solidFill>
              <a:srgbClr val="1E6B5C"/>
            </a:solidFill>
            <a:prstDash val="solid"/>
          </a:ln>
        </p:spPr>
      </p:sp>
      <p:sp>
        <p:nvSpPr>
          <p:cNvPr id="13" name="Text 11"/>
          <p:cNvSpPr txBox="1"/>
          <p:nvPr/>
        </p:nvSpPr>
        <p:spPr>
          <a:xfrm>
            <a:off x="3470834" y="3017520"/>
            <a:ext cx="2510714" cy="822960"/>
          </a:xfrm>
          <a:prstGeom prst="rect">
            <a:avLst/>
          </a:prstGeom>
          <a:noFill/>
          <a:ln/>
        </p:spPr>
        <p:txBody>
          <a:bodyPr wrap="square" lIns="0" tIns="0" rIns="0" bIns="0" rtlCol="0" anchor="ctr"/>
          <a:lstStyle/>
          <a:p>
            <a:pPr algn="ctr" indent="0" marL="0">
              <a:lnSpc>
                <a:spcPct val="110000"/>
              </a:lnSpc>
              <a:buNone/>
            </a:pPr>
            <a:r>
              <a:rPr lang="en-US" sz="1050" b="1" dirty="0">
                <a:solidFill>
                  <a:srgbClr val="FFFFFF"/>
                </a:solidFill>
                <a:latin typeface="Inter" pitchFamily="34" charset="0"/>
                <a:ea typeface="Inter" pitchFamily="34" charset="-122"/>
                <a:cs typeface="Inter" pitchFamily="34" charset="-120"/>
              </a:rPr>
              <a:t>Sentiment</a:t>
            </a:r>
            <a:endParaRPr lang="en-US" sz="1050" dirty="0"/>
          </a:p>
          <a:p>
            <a:pPr algn="ctr" indent="0" marL="0">
              <a:lnSpc>
                <a:spcPct val="110000"/>
              </a:lnSpc>
              <a:buNone/>
            </a:pPr>
            <a:r>
              <a:rPr lang="en-US" sz="1050" b="1" dirty="0">
                <a:solidFill>
                  <a:srgbClr val="FFFFFF"/>
                </a:solidFill>
                <a:latin typeface="Inter" pitchFamily="34" charset="0"/>
                <a:ea typeface="Inter" pitchFamily="34" charset="-122"/>
                <a:cs typeface="Inter" pitchFamily="34" charset="-120"/>
              </a:rPr>
              <a:t>Analysis</a:t>
            </a:r>
            <a:endParaRPr lang="en-US" sz="1050" dirty="0"/>
          </a:p>
        </p:txBody>
      </p:sp>
      <p:sp>
        <p:nvSpPr>
          <p:cNvPr id="14" name="Shape 12"/>
          <p:cNvSpPr/>
          <p:nvPr/>
        </p:nvSpPr>
        <p:spPr>
          <a:xfrm>
            <a:off x="6210148" y="3017520"/>
            <a:ext cx="2510714" cy="822960"/>
          </a:xfrm>
          <a:prstGeom prst="roundRect">
            <a:avLst>
              <a:gd name="adj" fmla="val 8889"/>
            </a:avLst>
          </a:prstGeom>
          <a:solidFill>
            <a:srgbClr val="15554B"/>
          </a:solidFill>
          <a:ln w="12700">
            <a:solidFill>
              <a:srgbClr val="1E6B5C"/>
            </a:solidFill>
            <a:prstDash val="solid"/>
          </a:ln>
        </p:spPr>
      </p:sp>
      <p:sp>
        <p:nvSpPr>
          <p:cNvPr id="15" name="Text 13"/>
          <p:cNvSpPr txBox="1"/>
          <p:nvPr/>
        </p:nvSpPr>
        <p:spPr>
          <a:xfrm>
            <a:off x="6210148" y="3017520"/>
            <a:ext cx="2510714" cy="822960"/>
          </a:xfrm>
          <a:prstGeom prst="rect">
            <a:avLst/>
          </a:prstGeom>
          <a:noFill/>
          <a:ln/>
        </p:spPr>
        <p:txBody>
          <a:bodyPr wrap="square" lIns="0" tIns="0" rIns="0" bIns="0" rtlCol="0" anchor="ctr"/>
          <a:lstStyle/>
          <a:p>
            <a:pPr algn="ctr" indent="0" marL="0">
              <a:lnSpc>
                <a:spcPct val="110000"/>
              </a:lnSpc>
              <a:buNone/>
            </a:pPr>
            <a:r>
              <a:rPr lang="en-US" sz="1050" b="1" dirty="0">
                <a:solidFill>
                  <a:srgbClr val="FFFFFF"/>
                </a:solidFill>
                <a:latin typeface="Inter" pitchFamily="34" charset="0"/>
                <a:ea typeface="Inter" pitchFamily="34" charset="-122"/>
                <a:cs typeface="Inter" pitchFamily="34" charset="-120"/>
              </a:rPr>
              <a:t>RAG Retrieval</a:t>
            </a:r>
            <a:endParaRPr lang="en-US" sz="1050" dirty="0"/>
          </a:p>
          <a:p>
            <a:pPr algn="ctr" indent="0" marL="0">
              <a:lnSpc>
                <a:spcPct val="110000"/>
              </a:lnSpc>
              <a:buNone/>
            </a:pPr>
            <a:r>
              <a:rPr lang="en-US" sz="1050" b="1" dirty="0">
                <a:solidFill>
                  <a:srgbClr val="FFFFFF"/>
                </a:solidFill>
                <a:latin typeface="Inter" pitchFamily="34" charset="0"/>
                <a:ea typeface="Inter" pitchFamily="34" charset="-122"/>
                <a:cs typeface="Inter" pitchFamily="34" charset="-120"/>
              </a:rPr>
              <a:t>Engine</a:t>
            </a:r>
            <a:endParaRPr lang="en-US" sz="1050" dirty="0"/>
          </a:p>
        </p:txBody>
      </p:sp>
      <p:sp>
        <p:nvSpPr>
          <p:cNvPr id="16" name="Shape 14"/>
          <p:cNvSpPr/>
          <p:nvPr/>
        </p:nvSpPr>
        <p:spPr>
          <a:xfrm>
            <a:off x="8949461" y="3017520"/>
            <a:ext cx="2510714" cy="822960"/>
          </a:xfrm>
          <a:prstGeom prst="roundRect">
            <a:avLst>
              <a:gd name="adj" fmla="val 8889"/>
            </a:avLst>
          </a:prstGeom>
          <a:solidFill>
            <a:srgbClr val="15554B"/>
          </a:solidFill>
          <a:ln w="12700">
            <a:solidFill>
              <a:srgbClr val="1E6B5C"/>
            </a:solidFill>
            <a:prstDash val="solid"/>
          </a:ln>
        </p:spPr>
      </p:sp>
      <p:sp>
        <p:nvSpPr>
          <p:cNvPr id="17" name="Text 15"/>
          <p:cNvSpPr txBox="1"/>
          <p:nvPr/>
        </p:nvSpPr>
        <p:spPr>
          <a:xfrm>
            <a:off x="8949461" y="3017520"/>
            <a:ext cx="2510714" cy="822960"/>
          </a:xfrm>
          <a:prstGeom prst="rect">
            <a:avLst/>
          </a:prstGeom>
          <a:noFill/>
          <a:ln/>
        </p:spPr>
        <p:txBody>
          <a:bodyPr wrap="square" lIns="0" tIns="0" rIns="0" bIns="0" rtlCol="0" anchor="ctr"/>
          <a:lstStyle/>
          <a:p>
            <a:pPr algn="ctr" indent="0" marL="0">
              <a:lnSpc>
                <a:spcPct val="110000"/>
              </a:lnSpc>
              <a:buNone/>
            </a:pPr>
            <a:r>
              <a:rPr lang="en-US" sz="1050" b="1" dirty="0">
                <a:solidFill>
                  <a:srgbClr val="FFFFFF"/>
                </a:solidFill>
                <a:latin typeface="Inter" pitchFamily="34" charset="0"/>
                <a:ea typeface="Inter" pitchFamily="34" charset="-122"/>
                <a:cs typeface="Inter" pitchFamily="34" charset="-120"/>
              </a:rPr>
              <a:t>Confidence</a:t>
            </a:r>
            <a:endParaRPr lang="en-US" sz="1050" dirty="0"/>
          </a:p>
          <a:p>
            <a:pPr algn="ctr" indent="0" marL="0">
              <a:lnSpc>
                <a:spcPct val="110000"/>
              </a:lnSpc>
              <a:buNone/>
            </a:pPr>
            <a:r>
              <a:rPr lang="en-US" sz="1050" b="1" dirty="0">
                <a:solidFill>
                  <a:srgbClr val="FFFFFF"/>
                </a:solidFill>
                <a:latin typeface="Inter" pitchFamily="34" charset="0"/>
                <a:ea typeface="Inter" pitchFamily="34" charset="-122"/>
                <a:cs typeface="Inter" pitchFamily="34" charset="-120"/>
              </a:rPr>
              <a:t>Validator</a:t>
            </a:r>
            <a:endParaRPr lang="en-US" sz="1050" dirty="0"/>
          </a:p>
        </p:txBody>
      </p:sp>
      <p:sp>
        <p:nvSpPr>
          <p:cNvPr id="18" name="Shape 16"/>
          <p:cNvSpPr/>
          <p:nvPr/>
        </p:nvSpPr>
        <p:spPr>
          <a:xfrm>
            <a:off x="457200" y="4160520"/>
            <a:ext cx="5486400" cy="502920"/>
          </a:xfrm>
          <a:prstGeom prst="roundRect">
            <a:avLst>
              <a:gd name="adj" fmla="val 14545"/>
            </a:avLst>
          </a:prstGeom>
          <a:solidFill>
            <a:srgbClr val="DCFCE7"/>
          </a:solidFill>
          <a:ln w="12700">
            <a:solidFill>
              <a:srgbClr val="86EFAC"/>
            </a:solidFill>
            <a:prstDash val="solid"/>
          </a:ln>
          <a:effectLst>
            <a:outerShdw sx="100000" sy="100000" kx="0" ky="0" algn="bl" rotWithShape="0" blurRad="101600" dist="25400" dir="5400000">
              <a:srgbClr val="0F2922">
                <a:alpha val="8000"/>
              </a:srgbClr>
            </a:outerShdw>
          </a:effectLst>
        </p:spPr>
      </p:sp>
      <p:sp>
        <p:nvSpPr>
          <p:cNvPr id="19" name="Text 17"/>
          <p:cNvSpPr txBox="1"/>
          <p:nvPr/>
        </p:nvSpPr>
        <p:spPr>
          <a:xfrm>
            <a:off x="457200" y="4160520"/>
            <a:ext cx="5486400" cy="502920"/>
          </a:xfrm>
          <a:prstGeom prst="rect">
            <a:avLst/>
          </a:prstGeom>
          <a:noFill/>
          <a:ln/>
        </p:spPr>
        <p:txBody>
          <a:bodyPr wrap="square" lIns="0" tIns="0" rIns="0" bIns="0" rtlCol="0" anchor="ctr"/>
          <a:lstStyle/>
          <a:p>
            <a:pPr algn="ctr" indent="0" marL="0">
              <a:buNone/>
            </a:pPr>
            <a:r>
              <a:rPr lang="en-US" sz="1150" b="1" dirty="0">
                <a:solidFill>
                  <a:srgbClr val="166534"/>
                </a:solidFill>
                <a:latin typeface="Inter" pitchFamily="34" charset="0"/>
                <a:ea typeface="Inter" pitchFamily="34" charset="-122"/>
                <a:cs typeface="Inter" pitchFamily="34" charset="-120"/>
              </a:rPr>
              <a:t>Auto Resolution Pathway  (High Confidence)</a:t>
            </a:r>
            <a:endParaRPr lang="en-US" sz="1150" dirty="0"/>
          </a:p>
        </p:txBody>
      </p:sp>
      <p:sp>
        <p:nvSpPr>
          <p:cNvPr id="20" name="Shape 18"/>
          <p:cNvSpPr/>
          <p:nvPr/>
        </p:nvSpPr>
        <p:spPr>
          <a:xfrm>
            <a:off x="6245352" y="4160520"/>
            <a:ext cx="5486400" cy="502920"/>
          </a:xfrm>
          <a:prstGeom prst="roundRect">
            <a:avLst>
              <a:gd name="adj" fmla="val 14545"/>
            </a:avLst>
          </a:prstGeom>
          <a:solidFill>
            <a:srgbClr val="FEF3C7"/>
          </a:solidFill>
          <a:ln w="12700">
            <a:solidFill>
              <a:srgbClr val="FCD34D"/>
            </a:solidFill>
            <a:prstDash val="solid"/>
          </a:ln>
          <a:effectLst>
            <a:outerShdw sx="100000" sy="100000" kx="0" ky="0" algn="bl" rotWithShape="0" blurRad="101600" dist="25400" dir="5400000">
              <a:srgbClr val="0F2922">
                <a:alpha val="8000"/>
              </a:srgbClr>
            </a:outerShdw>
          </a:effectLst>
        </p:spPr>
      </p:sp>
      <p:sp>
        <p:nvSpPr>
          <p:cNvPr id="21" name="Text 19"/>
          <p:cNvSpPr txBox="1"/>
          <p:nvPr/>
        </p:nvSpPr>
        <p:spPr>
          <a:xfrm>
            <a:off x="6245352" y="4160520"/>
            <a:ext cx="5486400" cy="502920"/>
          </a:xfrm>
          <a:prstGeom prst="rect">
            <a:avLst/>
          </a:prstGeom>
          <a:noFill/>
          <a:ln/>
        </p:spPr>
        <p:txBody>
          <a:bodyPr wrap="square" lIns="0" tIns="0" rIns="0" bIns="0" rtlCol="0" anchor="ctr"/>
          <a:lstStyle/>
          <a:p>
            <a:pPr algn="ctr" indent="0" marL="0">
              <a:buNone/>
            </a:pPr>
            <a:r>
              <a:rPr lang="en-US" sz="1150" b="1" dirty="0">
                <a:solidFill>
                  <a:srgbClr val="92400E"/>
                </a:solidFill>
                <a:latin typeface="Inter" pitchFamily="34" charset="0"/>
                <a:ea typeface="Inter" pitchFamily="34" charset="-122"/>
                <a:cs typeface="Inter" pitchFamily="34" charset="-120"/>
              </a:rPr>
              <a:t>Human Escalation Pathway  (Low Confidence)</a:t>
            </a:r>
            <a:endParaRPr lang="en-US" sz="1150" dirty="0"/>
          </a:p>
        </p:txBody>
      </p:sp>
      <p:sp>
        <p:nvSpPr>
          <p:cNvPr id="22" name="Shape 20"/>
          <p:cNvSpPr/>
          <p:nvPr/>
        </p:nvSpPr>
        <p:spPr>
          <a:xfrm>
            <a:off x="457200" y="4937760"/>
            <a:ext cx="2613584" cy="1051560"/>
          </a:xfrm>
          <a:prstGeom prst="roundRect">
            <a:avLst>
              <a:gd name="adj" fmla="val 6957"/>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23" name="Text 21"/>
          <p:cNvSpPr txBox="1"/>
          <p:nvPr/>
        </p:nvSpPr>
        <p:spPr>
          <a:xfrm>
            <a:off x="457200" y="4937760"/>
            <a:ext cx="2613584" cy="1051560"/>
          </a:xfrm>
          <a:prstGeom prst="rect">
            <a:avLst/>
          </a:prstGeom>
          <a:noFill/>
          <a:ln/>
        </p:spPr>
        <p:txBody>
          <a:bodyPr wrap="square" lIns="0" tIns="0" rIns="0" bIns="0" rtlCol="0" anchor="ctr"/>
          <a:lstStyle/>
          <a:p>
            <a:pPr algn="ctr" indent="0" marL="0">
              <a:buNone/>
            </a:pPr>
            <a:r>
              <a:rPr lang="en-US" sz="1150" b="1" dirty="0">
                <a:solidFill>
                  <a:srgbClr val="0F2922"/>
                </a:solidFill>
                <a:latin typeface="Plus Jakarta Sans" pitchFamily="34" charset="0"/>
                <a:ea typeface="Plus Jakarta Sans" pitchFamily="34" charset="-122"/>
                <a:cs typeface="Plus Jakarta Sans" pitchFamily="34" charset="-120"/>
              </a:rPr>
              <a:t>MongoDB Atlas</a:t>
            </a:r>
            <a:endParaRPr lang="en-US" sz="1150" dirty="0"/>
          </a:p>
        </p:txBody>
      </p:sp>
      <p:sp>
        <p:nvSpPr>
          <p:cNvPr id="24" name="Shape 22"/>
          <p:cNvSpPr/>
          <p:nvPr/>
        </p:nvSpPr>
        <p:spPr>
          <a:xfrm>
            <a:off x="3345104" y="4937760"/>
            <a:ext cx="2613584" cy="1051560"/>
          </a:xfrm>
          <a:prstGeom prst="roundRect">
            <a:avLst>
              <a:gd name="adj" fmla="val 6957"/>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25" name="Text 23"/>
          <p:cNvSpPr txBox="1"/>
          <p:nvPr/>
        </p:nvSpPr>
        <p:spPr>
          <a:xfrm>
            <a:off x="3345104" y="4937760"/>
            <a:ext cx="2613584" cy="1051560"/>
          </a:xfrm>
          <a:prstGeom prst="rect">
            <a:avLst/>
          </a:prstGeom>
          <a:noFill/>
          <a:ln/>
        </p:spPr>
        <p:txBody>
          <a:bodyPr wrap="square" lIns="0" tIns="0" rIns="0" bIns="0" rtlCol="0" anchor="ctr"/>
          <a:lstStyle/>
          <a:p>
            <a:pPr algn="ctr" indent="0" marL="0">
              <a:buNone/>
            </a:pPr>
            <a:r>
              <a:rPr lang="en-US" sz="1150" b="1" dirty="0">
                <a:solidFill>
                  <a:srgbClr val="0F2922"/>
                </a:solidFill>
                <a:latin typeface="Plus Jakarta Sans" pitchFamily="34" charset="0"/>
                <a:ea typeface="Plus Jakarta Sans" pitchFamily="34" charset="-122"/>
                <a:cs typeface="Plus Jakarta Sans" pitchFamily="34" charset="-120"/>
              </a:rPr>
              <a:t>Jira Integration</a:t>
            </a:r>
            <a:endParaRPr lang="en-US" sz="1150" dirty="0"/>
          </a:p>
        </p:txBody>
      </p:sp>
      <p:sp>
        <p:nvSpPr>
          <p:cNvPr id="26" name="Shape 24"/>
          <p:cNvSpPr/>
          <p:nvPr/>
        </p:nvSpPr>
        <p:spPr>
          <a:xfrm>
            <a:off x="6233008" y="4937760"/>
            <a:ext cx="2613584" cy="1051560"/>
          </a:xfrm>
          <a:prstGeom prst="roundRect">
            <a:avLst>
              <a:gd name="adj" fmla="val 6957"/>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27" name="Text 25"/>
          <p:cNvSpPr txBox="1"/>
          <p:nvPr/>
        </p:nvSpPr>
        <p:spPr>
          <a:xfrm>
            <a:off x="6233008" y="4937760"/>
            <a:ext cx="2613584" cy="1051560"/>
          </a:xfrm>
          <a:prstGeom prst="rect">
            <a:avLst/>
          </a:prstGeom>
          <a:noFill/>
          <a:ln/>
        </p:spPr>
        <p:txBody>
          <a:bodyPr wrap="square" lIns="0" tIns="0" rIns="0" bIns="0" rtlCol="0" anchor="ctr"/>
          <a:lstStyle/>
          <a:p>
            <a:pPr algn="ctr" indent="0" marL="0">
              <a:buNone/>
            </a:pPr>
            <a:r>
              <a:rPr lang="en-US" sz="1150" b="1" dirty="0">
                <a:solidFill>
                  <a:srgbClr val="0F2922"/>
                </a:solidFill>
                <a:latin typeface="Plus Jakarta Sans" pitchFamily="34" charset="0"/>
                <a:ea typeface="Plus Jakarta Sans" pitchFamily="34" charset="-122"/>
                <a:cs typeface="Plus Jakarta Sans" pitchFamily="34" charset="-120"/>
              </a:rPr>
              <a:t>Email Automation</a:t>
            </a:r>
            <a:endParaRPr lang="en-US" sz="1150" dirty="0"/>
          </a:p>
        </p:txBody>
      </p:sp>
      <p:sp>
        <p:nvSpPr>
          <p:cNvPr id="28" name="Shape 26"/>
          <p:cNvSpPr/>
          <p:nvPr/>
        </p:nvSpPr>
        <p:spPr>
          <a:xfrm>
            <a:off x="9120911" y="4937760"/>
            <a:ext cx="2613584" cy="1051560"/>
          </a:xfrm>
          <a:prstGeom prst="roundRect">
            <a:avLst>
              <a:gd name="adj" fmla="val 6957"/>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29" name="Text 27"/>
          <p:cNvSpPr txBox="1"/>
          <p:nvPr/>
        </p:nvSpPr>
        <p:spPr>
          <a:xfrm>
            <a:off x="9120911" y="4937760"/>
            <a:ext cx="2613584" cy="1051560"/>
          </a:xfrm>
          <a:prstGeom prst="rect">
            <a:avLst/>
          </a:prstGeom>
          <a:noFill/>
          <a:ln/>
        </p:spPr>
        <p:txBody>
          <a:bodyPr wrap="square" lIns="0" tIns="0" rIns="0" bIns="0" rtlCol="0" anchor="ctr"/>
          <a:lstStyle/>
          <a:p>
            <a:pPr algn="ctr" indent="0" marL="0">
              <a:buNone/>
            </a:pPr>
            <a:r>
              <a:rPr lang="en-US" sz="1150" b="1" dirty="0">
                <a:solidFill>
                  <a:srgbClr val="0F2922"/>
                </a:solidFill>
                <a:latin typeface="Plus Jakarta Sans" pitchFamily="34" charset="0"/>
                <a:ea typeface="Plus Jakarta Sans" pitchFamily="34" charset="-122"/>
                <a:cs typeface="Plus Jakarta Sans" pitchFamily="34" charset="-120"/>
              </a:rPr>
              <a:t>Analytics Engine</a:t>
            </a:r>
            <a:endParaRPr lang="en-US" sz="1150" dirty="0"/>
          </a:p>
        </p:txBody>
      </p:sp>
      <p:sp>
        <p:nvSpPr>
          <p:cNvPr id="30" name="Text 28"/>
          <p:cNvSpPr txBox="1"/>
          <p:nvPr/>
        </p:nvSpPr>
        <p:spPr>
          <a:xfrm>
            <a:off x="11475720" y="6510528"/>
            <a:ext cx="365760" cy="256032"/>
          </a:xfrm>
          <a:prstGeom prst="rect">
            <a:avLst/>
          </a:prstGeom>
          <a:noFill/>
          <a:ln/>
        </p:spPr>
        <p:txBody>
          <a:bodyPr wrap="square" lIns="0" tIns="0" rIns="0" bIns="0" rtlCol="0" anchor="ctr"/>
          <a:lstStyle/>
          <a:p>
            <a:pPr algn="r" indent="0" marL="0">
              <a:buNone/>
            </a:pPr>
            <a:r>
              <a:rPr lang="en-US" sz="900" b="1" dirty="0">
                <a:solidFill>
                  <a:srgbClr val="CBD5E1"/>
                </a:solidFill>
                <a:latin typeface="Inter" pitchFamily="34" charset="0"/>
                <a:ea typeface="Inter" pitchFamily="34" charset="-122"/>
                <a:cs typeface="Inter"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9"/>
        </a:solidFill>
      </p:bgPr>
    </p:bg>
    <p:spTree>
      <p:nvGrpSpPr>
        <p:cNvPr id="1" name=""/>
        <p:cNvGrpSpPr/>
        <p:nvPr/>
      </p:nvGrpSpPr>
      <p:grpSpPr>
        <a:xfrm>
          <a:off x="0" y="0"/>
          <a:ext cx="0" cy="0"/>
          <a:chOff x="0" y="0"/>
          <a:chExt cx="0" cy="0"/>
        </a:xfrm>
      </p:grpSpPr>
      <p:sp>
        <p:nvSpPr>
          <p:cNvPr id="2" name="Text 0"/>
          <p:cNvSpPr txBox="1"/>
          <p:nvPr/>
        </p:nvSpPr>
        <p:spPr>
          <a:xfrm>
            <a:off x="457200" y="320040"/>
            <a:ext cx="10607040" cy="274320"/>
          </a:xfrm>
          <a:prstGeom prst="rect">
            <a:avLst/>
          </a:prstGeom>
          <a:noFill/>
          <a:ln/>
        </p:spPr>
        <p:txBody>
          <a:bodyPr wrap="square" lIns="0" tIns="0" rIns="0" bIns="0" rtlCol="0" anchor="ctr"/>
          <a:lstStyle/>
          <a:p>
            <a:pPr indent="0" marL="0">
              <a:buNone/>
            </a:pPr>
            <a:r>
              <a:rPr lang="en-US" sz="1100" b="1" spc="100" kern="0" dirty="0">
                <a:solidFill>
                  <a:srgbClr val="0D9488"/>
                </a:solidFill>
                <a:latin typeface="Inter" pitchFamily="34" charset="0"/>
                <a:ea typeface="Inter" pitchFamily="34" charset="-122"/>
                <a:cs typeface="Inter" pitchFamily="34" charset="-120"/>
              </a:rPr>
              <a:t>PARADIGM SHIFT</a:t>
            </a:r>
            <a:endParaRPr lang="en-US" sz="1100" dirty="0"/>
          </a:p>
        </p:txBody>
      </p:sp>
      <p:sp>
        <p:nvSpPr>
          <p:cNvPr id="3" name="Text 1"/>
          <p:cNvSpPr txBox="1"/>
          <p:nvPr/>
        </p:nvSpPr>
        <p:spPr>
          <a:xfrm>
            <a:off x="457200" y="566928"/>
            <a:ext cx="10972800" cy="566928"/>
          </a:xfrm>
          <a:prstGeom prst="rect">
            <a:avLst/>
          </a:prstGeom>
          <a:noFill/>
          <a:ln/>
        </p:spPr>
        <p:txBody>
          <a:bodyPr wrap="square" lIns="0" tIns="0" rIns="0" bIns="0" rtlCol="0" anchor="ctr"/>
          <a:lstStyle/>
          <a:p>
            <a:pPr indent="0" marL="0">
              <a:buNone/>
            </a:pPr>
            <a:r>
              <a:rPr lang="en-US" sz="2600" b="1" dirty="0">
                <a:solidFill>
                  <a:srgbClr val="0F2922"/>
                </a:solidFill>
                <a:latin typeface="Plus Jakarta Sans" pitchFamily="34" charset="0"/>
                <a:ea typeface="Plus Jakarta Sans" pitchFamily="34" charset="-122"/>
                <a:cs typeface="Plus Jakarta Sans" pitchFamily="34" charset="-120"/>
              </a:rPr>
              <a:t>Proposed Solution &amp; Transformation</a:t>
            </a:r>
            <a:endParaRPr lang="en-US" sz="2600" dirty="0"/>
          </a:p>
        </p:txBody>
      </p:sp>
      <p:sp>
        <p:nvSpPr>
          <p:cNvPr id="4" name="Shape 2"/>
          <p:cNvSpPr/>
          <p:nvPr/>
        </p:nvSpPr>
        <p:spPr>
          <a:xfrm>
            <a:off x="457200" y="1207008"/>
            <a:ext cx="11277295" cy="18288"/>
          </a:xfrm>
          <a:prstGeom prst="rect">
            <a:avLst/>
          </a:prstGeom>
          <a:solidFill>
            <a:srgbClr val="E2E8F0"/>
          </a:solidFill>
          <a:ln/>
        </p:spPr>
      </p:sp>
      <p:sp>
        <p:nvSpPr>
          <p:cNvPr id="5" name="Shape 3"/>
          <p:cNvSpPr/>
          <p:nvPr/>
        </p:nvSpPr>
        <p:spPr>
          <a:xfrm>
            <a:off x="457200" y="1417320"/>
            <a:ext cx="5349240" cy="502920"/>
          </a:xfrm>
          <a:prstGeom prst="roundRect">
            <a:avLst>
              <a:gd name="adj" fmla="val 14545"/>
            </a:avLst>
          </a:prstGeom>
          <a:solidFill>
            <a:srgbClr val="FEE2E2"/>
          </a:solidFill>
          <a:ln w="12700">
            <a:solidFill>
              <a:srgbClr val="FCA5A5"/>
            </a:solidFill>
            <a:prstDash val="solid"/>
          </a:ln>
          <a:effectLst>
            <a:outerShdw sx="100000" sy="100000" kx="0" ky="0" algn="bl" rotWithShape="0" blurRad="101600" dist="25400" dir="5400000">
              <a:srgbClr val="0F2922">
                <a:alpha val="8000"/>
              </a:srgbClr>
            </a:outerShdw>
          </a:effectLst>
        </p:spPr>
      </p:sp>
      <p:sp>
        <p:nvSpPr>
          <p:cNvPr id="6" name="Text 4"/>
          <p:cNvSpPr txBox="1"/>
          <p:nvPr/>
        </p:nvSpPr>
        <p:spPr>
          <a:xfrm>
            <a:off x="457200" y="1417320"/>
            <a:ext cx="5349240" cy="502920"/>
          </a:xfrm>
          <a:prstGeom prst="rect">
            <a:avLst/>
          </a:prstGeom>
          <a:noFill/>
          <a:ln/>
        </p:spPr>
        <p:txBody>
          <a:bodyPr wrap="square" lIns="0" tIns="0" rIns="0" bIns="0" rtlCol="0" anchor="ctr"/>
          <a:lstStyle/>
          <a:p>
            <a:pPr algn="ctr" indent="0" marL="0">
              <a:buNone/>
            </a:pPr>
            <a:r>
              <a:rPr lang="en-US" sz="1400" b="1" dirty="0">
                <a:solidFill>
                  <a:srgbClr val="991B1B"/>
                </a:solidFill>
                <a:latin typeface="Plus Jakarta Sans" pitchFamily="34" charset="0"/>
                <a:ea typeface="Plus Jakarta Sans" pitchFamily="34" charset="-122"/>
                <a:cs typeface="Plus Jakarta Sans" pitchFamily="34" charset="-120"/>
              </a:rPr>
              <a:t>Traditional Process</a:t>
            </a:r>
            <a:endParaRPr lang="en-US" sz="1400" dirty="0"/>
          </a:p>
        </p:txBody>
      </p:sp>
      <p:sp>
        <p:nvSpPr>
          <p:cNvPr id="7" name="Shape 5"/>
          <p:cNvSpPr/>
          <p:nvPr/>
        </p:nvSpPr>
        <p:spPr>
          <a:xfrm>
            <a:off x="6382512" y="1417320"/>
            <a:ext cx="5349240" cy="502920"/>
          </a:xfrm>
          <a:prstGeom prst="roundRect">
            <a:avLst>
              <a:gd name="adj" fmla="val 14545"/>
            </a:avLst>
          </a:prstGeom>
          <a:solidFill>
            <a:srgbClr val="DCFCE7"/>
          </a:solidFill>
          <a:ln w="12700">
            <a:solidFill>
              <a:srgbClr val="86EFAC"/>
            </a:solidFill>
            <a:prstDash val="solid"/>
          </a:ln>
          <a:effectLst>
            <a:outerShdw sx="100000" sy="100000" kx="0" ky="0" algn="bl" rotWithShape="0" blurRad="101600" dist="25400" dir="5400000">
              <a:srgbClr val="0F2922">
                <a:alpha val="8000"/>
              </a:srgbClr>
            </a:outerShdw>
          </a:effectLst>
        </p:spPr>
      </p:sp>
      <p:sp>
        <p:nvSpPr>
          <p:cNvPr id="8" name="Text 6"/>
          <p:cNvSpPr txBox="1"/>
          <p:nvPr/>
        </p:nvSpPr>
        <p:spPr>
          <a:xfrm>
            <a:off x="6382512" y="1417320"/>
            <a:ext cx="5349240" cy="502920"/>
          </a:xfrm>
          <a:prstGeom prst="rect">
            <a:avLst/>
          </a:prstGeom>
          <a:noFill/>
          <a:ln/>
        </p:spPr>
        <p:txBody>
          <a:bodyPr wrap="square" lIns="0" tIns="0" rIns="0" bIns="0" rtlCol="0" anchor="ctr"/>
          <a:lstStyle/>
          <a:p>
            <a:pPr algn="ctr" indent="0" marL="0">
              <a:buNone/>
            </a:pPr>
            <a:r>
              <a:rPr lang="en-US" sz="1400" b="1" dirty="0">
                <a:solidFill>
                  <a:srgbClr val="166534"/>
                </a:solidFill>
                <a:latin typeface="Plus Jakarta Sans" pitchFamily="34" charset="0"/>
                <a:ea typeface="Plus Jakarta Sans" pitchFamily="34" charset="-122"/>
                <a:cs typeface="Plus Jakarta Sans" pitchFamily="34" charset="-120"/>
              </a:rPr>
              <a:t>SupportPilot Paradigm</a:t>
            </a:r>
            <a:endParaRPr lang="en-US" sz="1400" dirty="0"/>
          </a:p>
        </p:txBody>
      </p:sp>
      <p:sp>
        <p:nvSpPr>
          <p:cNvPr id="9" name="Shape 7"/>
          <p:cNvSpPr/>
          <p:nvPr/>
        </p:nvSpPr>
        <p:spPr>
          <a:xfrm>
            <a:off x="457200" y="2148840"/>
            <a:ext cx="5349240" cy="822960"/>
          </a:xfrm>
          <a:prstGeom prst="roundRect">
            <a:avLst>
              <a:gd name="adj" fmla="val 8889"/>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10" name="Text 8"/>
          <p:cNvSpPr txBox="1"/>
          <p:nvPr/>
        </p:nvSpPr>
        <p:spPr>
          <a:xfrm>
            <a:off x="685800" y="2148840"/>
            <a:ext cx="4892040" cy="822960"/>
          </a:xfrm>
          <a:prstGeom prst="rect">
            <a:avLst/>
          </a:prstGeom>
          <a:noFill/>
          <a:ln/>
        </p:spPr>
        <p:txBody>
          <a:bodyPr wrap="square" lIns="0" tIns="0" rIns="0" bIns="0" rtlCol="0" anchor="ctr"/>
          <a:lstStyle/>
          <a:p>
            <a:pPr indent="0" marL="0">
              <a:lnSpc>
                <a:spcPct val="120000"/>
              </a:lnSpc>
              <a:buNone/>
            </a:pPr>
            <a:r>
              <a:rPr lang="en-US" sz="1150" dirty="0">
                <a:solidFill>
                  <a:srgbClr val="475569"/>
                </a:solidFill>
                <a:latin typeface="Inter" pitchFamily="34" charset="0"/>
                <a:ea typeface="Inter" pitchFamily="34" charset="-122"/>
                <a:cs typeface="Inter" pitchFamily="34" charset="-120"/>
              </a:rPr>
              <a:t>Manual Triage: Slow manual ticket tagging</a:t>
            </a:r>
            <a:endParaRPr lang="en-US" sz="1150" dirty="0"/>
          </a:p>
        </p:txBody>
      </p:sp>
      <p:sp>
        <p:nvSpPr>
          <p:cNvPr id="11" name="Shape 9"/>
          <p:cNvSpPr/>
          <p:nvPr/>
        </p:nvSpPr>
        <p:spPr>
          <a:xfrm>
            <a:off x="6382512" y="2148840"/>
            <a:ext cx="5349240" cy="822960"/>
          </a:xfrm>
          <a:prstGeom prst="roundRect">
            <a:avLst>
              <a:gd name="adj" fmla="val 8889"/>
            </a:avLst>
          </a:prstGeom>
          <a:solidFill>
            <a:srgbClr val="F0FDF9"/>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12" name="Text 10"/>
          <p:cNvSpPr txBox="1"/>
          <p:nvPr/>
        </p:nvSpPr>
        <p:spPr>
          <a:xfrm>
            <a:off x="6611112" y="2148840"/>
            <a:ext cx="4892040" cy="822960"/>
          </a:xfrm>
          <a:prstGeom prst="rect">
            <a:avLst/>
          </a:prstGeom>
          <a:noFill/>
          <a:ln/>
        </p:spPr>
        <p:txBody>
          <a:bodyPr wrap="square" lIns="0" tIns="0" rIns="0" bIns="0" rtlCol="0" anchor="ctr"/>
          <a:lstStyle/>
          <a:p>
            <a:pPr indent="0" marL="0">
              <a:lnSpc>
                <a:spcPct val="120000"/>
              </a:lnSpc>
              <a:buNone/>
            </a:pPr>
            <a:r>
              <a:rPr lang="en-US" sz="1150" b="1" dirty="0">
                <a:solidFill>
                  <a:srgbClr val="0F2922"/>
                </a:solidFill>
                <a:latin typeface="Inter" pitchFamily="34" charset="0"/>
                <a:ea typeface="Inter" pitchFamily="34" charset="-122"/>
                <a:cs typeface="Inter" pitchFamily="34" charset="-120"/>
              </a:rPr>
              <a:t>AI Classification: Instant priority &amp; sentiment</a:t>
            </a:r>
            <a:endParaRPr lang="en-US" sz="1150" dirty="0"/>
          </a:p>
        </p:txBody>
      </p:sp>
      <p:sp>
        <p:nvSpPr>
          <p:cNvPr id="13" name="Shape 11"/>
          <p:cNvSpPr/>
          <p:nvPr/>
        </p:nvSpPr>
        <p:spPr>
          <a:xfrm>
            <a:off x="457200" y="3108960"/>
            <a:ext cx="5349240" cy="822960"/>
          </a:xfrm>
          <a:prstGeom prst="roundRect">
            <a:avLst>
              <a:gd name="adj" fmla="val 8889"/>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14" name="Text 12"/>
          <p:cNvSpPr txBox="1"/>
          <p:nvPr/>
        </p:nvSpPr>
        <p:spPr>
          <a:xfrm>
            <a:off x="685800" y="3108960"/>
            <a:ext cx="4892040" cy="822960"/>
          </a:xfrm>
          <a:prstGeom prst="rect">
            <a:avLst/>
          </a:prstGeom>
          <a:noFill/>
          <a:ln/>
        </p:spPr>
        <p:txBody>
          <a:bodyPr wrap="square" lIns="0" tIns="0" rIns="0" bIns="0" rtlCol="0" anchor="ctr"/>
          <a:lstStyle/>
          <a:p>
            <a:pPr indent="0" marL="0">
              <a:lnSpc>
                <a:spcPct val="120000"/>
              </a:lnSpc>
              <a:buNone/>
            </a:pPr>
            <a:r>
              <a:rPr lang="en-US" sz="1150" dirty="0">
                <a:solidFill>
                  <a:srgbClr val="475569"/>
                </a:solidFill>
                <a:latin typeface="Inter" pitchFamily="34" charset="0"/>
                <a:ea typeface="Inter" pitchFamily="34" charset="-122"/>
                <a:cs typeface="Inter" pitchFamily="34" charset="-120"/>
              </a:rPr>
              <a:t>Search Friction: Agents hunt across docs</a:t>
            </a:r>
            <a:endParaRPr lang="en-US" sz="1150" dirty="0"/>
          </a:p>
        </p:txBody>
      </p:sp>
      <p:sp>
        <p:nvSpPr>
          <p:cNvPr id="15" name="Shape 13"/>
          <p:cNvSpPr/>
          <p:nvPr/>
        </p:nvSpPr>
        <p:spPr>
          <a:xfrm>
            <a:off x="6382512" y="3108960"/>
            <a:ext cx="5349240" cy="822960"/>
          </a:xfrm>
          <a:prstGeom prst="roundRect">
            <a:avLst>
              <a:gd name="adj" fmla="val 8889"/>
            </a:avLst>
          </a:prstGeom>
          <a:solidFill>
            <a:srgbClr val="F0FDF9"/>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16" name="Text 14"/>
          <p:cNvSpPr txBox="1"/>
          <p:nvPr/>
        </p:nvSpPr>
        <p:spPr>
          <a:xfrm>
            <a:off x="6611112" y="3108960"/>
            <a:ext cx="4892040" cy="822960"/>
          </a:xfrm>
          <a:prstGeom prst="rect">
            <a:avLst/>
          </a:prstGeom>
          <a:noFill/>
          <a:ln/>
        </p:spPr>
        <p:txBody>
          <a:bodyPr wrap="square" lIns="0" tIns="0" rIns="0" bIns="0" rtlCol="0" anchor="ctr"/>
          <a:lstStyle/>
          <a:p>
            <a:pPr indent="0" marL="0">
              <a:lnSpc>
                <a:spcPct val="120000"/>
              </a:lnSpc>
              <a:buNone/>
            </a:pPr>
            <a:r>
              <a:rPr lang="en-US" sz="1150" b="1" dirty="0">
                <a:solidFill>
                  <a:srgbClr val="0F2922"/>
                </a:solidFill>
                <a:latin typeface="Inter" pitchFamily="34" charset="0"/>
                <a:ea typeface="Inter" pitchFamily="34" charset="-122"/>
                <a:cs typeface="Inter" pitchFamily="34" charset="-120"/>
              </a:rPr>
              <a:t>RAG Retrieval: Sub-second knowledge match</a:t>
            </a:r>
            <a:endParaRPr lang="en-US" sz="1150" dirty="0"/>
          </a:p>
        </p:txBody>
      </p:sp>
      <p:sp>
        <p:nvSpPr>
          <p:cNvPr id="17" name="Shape 15"/>
          <p:cNvSpPr/>
          <p:nvPr/>
        </p:nvSpPr>
        <p:spPr>
          <a:xfrm>
            <a:off x="457200" y="4069080"/>
            <a:ext cx="5349240" cy="822960"/>
          </a:xfrm>
          <a:prstGeom prst="roundRect">
            <a:avLst>
              <a:gd name="adj" fmla="val 8889"/>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18" name="Text 16"/>
          <p:cNvSpPr txBox="1"/>
          <p:nvPr/>
        </p:nvSpPr>
        <p:spPr>
          <a:xfrm>
            <a:off x="685800" y="4069080"/>
            <a:ext cx="4892040" cy="822960"/>
          </a:xfrm>
          <a:prstGeom prst="rect">
            <a:avLst/>
          </a:prstGeom>
          <a:noFill/>
          <a:ln/>
        </p:spPr>
        <p:txBody>
          <a:bodyPr wrap="square" lIns="0" tIns="0" rIns="0" bIns="0" rtlCol="0" anchor="ctr"/>
          <a:lstStyle/>
          <a:p>
            <a:pPr indent="0" marL="0">
              <a:lnSpc>
                <a:spcPct val="120000"/>
              </a:lnSpc>
              <a:buNone/>
            </a:pPr>
            <a:r>
              <a:rPr lang="en-US" sz="1150" dirty="0">
                <a:solidFill>
                  <a:srgbClr val="475569"/>
                </a:solidFill>
                <a:latin typeface="Inter" pitchFamily="34" charset="0"/>
                <a:ea typeface="Inter" pitchFamily="34" charset="-122"/>
                <a:cs typeface="Inter" pitchFamily="34" charset="-120"/>
              </a:rPr>
              <a:t>Static SLA: Unmonitored breach risks</a:t>
            </a:r>
            <a:endParaRPr lang="en-US" sz="1150" dirty="0"/>
          </a:p>
        </p:txBody>
      </p:sp>
      <p:sp>
        <p:nvSpPr>
          <p:cNvPr id="19" name="Shape 17"/>
          <p:cNvSpPr/>
          <p:nvPr/>
        </p:nvSpPr>
        <p:spPr>
          <a:xfrm>
            <a:off x="6382512" y="4069080"/>
            <a:ext cx="5349240" cy="822960"/>
          </a:xfrm>
          <a:prstGeom prst="roundRect">
            <a:avLst>
              <a:gd name="adj" fmla="val 8889"/>
            </a:avLst>
          </a:prstGeom>
          <a:solidFill>
            <a:srgbClr val="F0FDF9"/>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20" name="Text 18"/>
          <p:cNvSpPr txBox="1"/>
          <p:nvPr/>
        </p:nvSpPr>
        <p:spPr>
          <a:xfrm>
            <a:off x="6611112" y="4069080"/>
            <a:ext cx="4892040" cy="822960"/>
          </a:xfrm>
          <a:prstGeom prst="rect">
            <a:avLst/>
          </a:prstGeom>
          <a:noFill/>
          <a:ln/>
        </p:spPr>
        <p:txBody>
          <a:bodyPr wrap="square" lIns="0" tIns="0" rIns="0" bIns="0" rtlCol="0" anchor="ctr"/>
          <a:lstStyle/>
          <a:p>
            <a:pPr indent="0" marL="0">
              <a:lnSpc>
                <a:spcPct val="120000"/>
              </a:lnSpc>
              <a:buNone/>
            </a:pPr>
            <a:r>
              <a:rPr lang="en-US" sz="1150" b="1" dirty="0">
                <a:solidFill>
                  <a:srgbClr val="0F2922"/>
                </a:solidFill>
                <a:latin typeface="Inter" pitchFamily="34" charset="0"/>
                <a:ea typeface="Inter" pitchFamily="34" charset="-122"/>
                <a:cs typeface="Inter" pitchFamily="34" charset="-120"/>
              </a:rPr>
              <a:t>Real-Time SLA: Automated escalation alerts</a:t>
            </a:r>
            <a:endParaRPr lang="en-US" sz="1150" dirty="0"/>
          </a:p>
        </p:txBody>
      </p:sp>
      <p:sp>
        <p:nvSpPr>
          <p:cNvPr id="21" name="Shape 19"/>
          <p:cNvSpPr/>
          <p:nvPr/>
        </p:nvSpPr>
        <p:spPr>
          <a:xfrm>
            <a:off x="457200" y="5029200"/>
            <a:ext cx="5349240" cy="822960"/>
          </a:xfrm>
          <a:prstGeom prst="roundRect">
            <a:avLst>
              <a:gd name="adj" fmla="val 8889"/>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22" name="Text 20"/>
          <p:cNvSpPr txBox="1"/>
          <p:nvPr/>
        </p:nvSpPr>
        <p:spPr>
          <a:xfrm>
            <a:off x="685800" y="5029200"/>
            <a:ext cx="4892040" cy="822960"/>
          </a:xfrm>
          <a:prstGeom prst="rect">
            <a:avLst/>
          </a:prstGeom>
          <a:noFill/>
          <a:ln/>
        </p:spPr>
        <p:txBody>
          <a:bodyPr wrap="square" lIns="0" tIns="0" rIns="0" bIns="0" rtlCol="0" anchor="ctr"/>
          <a:lstStyle/>
          <a:p>
            <a:pPr indent="0" marL="0">
              <a:lnSpc>
                <a:spcPct val="120000"/>
              </a:lnSpc>
              <a:buNone/>
            </a:pPr>
            <a:r>
              <a:rPr lang="en-US" sz="1150" dirty="0">
                <a:solidFill>
                  <a:srgbClr val="475569"/>
                </a:solidFill>
                <a:latin typeface="Inter" pitchFamily="34" charset="0"/>
                <a:ea typeface="Inter" pitchFamily="34" charset="-122"/>
                <a:cs typeface="Inter" pitchFamily="34" charset="-120"/>
              </a:rPr>
              <a:t>Repetitive Work: No automated resolutions</a:t>
            </a:r>
            <a:endParaRPr lang="en-US" sz="1150" dirty="0"/>
          </a:p>
        </p:txBody>
      </p:sp>
      <p:sp>
        <p:nvSpPr>
          <p:cNvPr id="23" name="Shape 21"/>
          <p:cNvSpPr/>
          <p:nvPr/>
        </p:nvSpPr>
        <p:spPr>
          <a:xfrm>
            <a:off x="6382512" y="5029200"/>
            <a:ext cx="5349240" cy="822960"/>
          </a:xfrm>
          <a:prstGeom prst="roundRect">
            <a:avLst>
              <a:gd name="adj" fmla="val 8889"/>
            </a:avLst>
          </a:prstGeom>
          <a:solidFill>
            <a:srgbClr val="F0FDF9"/>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24" name="Text 22"/>
          <p:cNvSpPr txBox="1"/>
          <p:nvPr/>
        </p:nvSpPr>
        <p:spPr>
          <a:xfrm>
            <a:off x="6611112" y="5029200"/>
            <a:ext cx="4892040" cy="822960"/>
          </a:xfrm>
          <a:prstGeom prst="rect">
            <a:avLst/>
          </a:prstGeom>
          <a:noFill/>
          <a:ln/>
        </p:spPr>
        <p:txBody>
          <a:bodyPr wrap="square" lIns="0" tIns="0" rIns="0" bIns="0" rtlCol="0" anchor="ctr"/>
          <a:lstStyle/>
          <a:p>
            <a:pPr indent="0" marL="0">
              <a:lnSpc>
                <a:spcPct val="120000"/>
              </a:lnSpc>
              <a:buNone/>
            </a:pPr>
            <a:r>
              <a:rPr lang="en-US" sz="1150" b="1" dirty="0">
                <a:solidFill>
                  <a:srgbClr val="0F2922"/>
                </a:solidFill>
                <a:latin typeface="Inter" pitchFamily="34" charset="0"/>
                <a:ea typeface="Inter" pitchFamily="34" charset="-122"/>
                <a:cs typeface="Inter" pitchFamily="34" charset="-120"/>
              </a:rPr>
              <a:t>Human-in-Loop: Smart confidence validation</a:t>
            </a:r>
            <a:endParaRPr lang="en-US" sz="1150" dirty="0"/>
          </a:p>
        </p:txBody>
      </p:sp>
      <p:sp>
        <p:nvSpPr>
          <p:cNvPr id="25" name="Text 23"/>
          <p:cNvSpPr txBox="1"/>
          <p:nvPr/>
        </p:nvSpPr>
        <p:spPr>
          <a:xfrm>
            <a:off x="11475720" y="6510528"/>
            <a:ext cx="365760" cy="256032"/>
          </a:xfrm>
          <a:prstGeom prst="rect">
            <a:avLst/>
          </a:prstGeom>
          <a:noFill/>
          <a:ln/>
        </p:spPr>
        <p:txBody>
          <a:bodyPr wrap="square" lIns="0" tIns="0" rIns="0" bIns="0" rtlCol="0" anchor="ctr"/>
          <a:lstStyle/>
          <a:p>
            <a:pPr algn="r" indent="0" marL="0">
              <a:buNone/>
            </a:pPr>
            <a:r>
              <a:rPr lang="en-US" sz="900" b="1" dirty="0">
                <a:solidFill>
                  <a:srgbClr val="CBD5E1"/>
                </a:solidFill>
                <a:latin typeface="Inter" pitchFamily="34" charset="0"/>
                <a:ea typeface="Inter" pitchFamily="34" charset="-122"/>
                <a:cs typeface="Inter"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9"/>
        </a:solidFill>
      </p:bgPr>
    </p:bg>
    <p:spTree>
      <p:nvGrpSpPr>
        <p:cNvPr id="1" name=""/>
        <p:cNvGrpSpPr/>
        <p:nvPr/>
      </p:nvGrpSpPr>
      <p:grpSpPr>
        <a:xfrm>
          <a:off x="0" y="0"/>
          <a:ext cx="0" cy="0"/>
          <a:chOff x="0" y="0"/>
          <a:chExt cx="0" cy="0"/>
        </a:xfrm>
      </p:grpSpPr>
      <p:sp>
        <p:nvSpPr>
          <p:cNvPr id="2" name="Text 0"/>
          <p:cNvSpPr txBox="1"/>
          <p:nvPr/>
        </p:nvSpPr>
        <p:spPr>
          <a:xfrm>
            <a:off x="457200" y="320040"/>
            <a:ext cx="10607040" cy="274320"/>
          </a:xfrm>
          <a:prstGeom prst="rect">
            <a:avLst/>
          </a:prstGeom>
          <a:noFill/>
          <a:ln/>
        </p:spPr>
        <p:txBody>
          <a:bodyPr wrap="square" lIns="0" tIns="0" rIns="0" bIns="0" rtlCol="0" anchor="ctr"/>
          <a:lstStyle/>
          <a:p>
            <a:pPr indent="0" marL="0">
              <a:buNone/>
            </a:pPr>
            <a:r>
              <a:rPr lang="en-US" sz="1100" b="1" spc="100" kern="0" dirty="0">
                <a:solidFill>
                  <a:srgbClr val="0D9488"/>
                </a:solidFill>
                <a:latin typeface="Inter" pitchFamily="34" charset="0"/>
                <a:ea typeface="Inter" pitchFamily="34" charset="-122"/>
                <a:cs typeface="Inter" pitchFamily="34" charset="-120"/>
              </a:rPr>
              <a:t>FEATURE OVERVIEW</a:t>
            </a:r>
            <a:endParaRPr lang="en-US" sz="1100" dirty="0"/>
          </a:p>
        </p:txBody>
      </p:sp>
      <p:sp>
        <p:nvSpPr>
          <p:cNvPr id="3" name="Text 1"/>
          <p:cNvSpPr txBox="1"/>
          <p:nvPr/>
        </p:nvSpPr>
        <p:spPr>
          <a:xfrm>
            <a:off x="457200" y="566928"/>
            <a:ext cx="10972800" cy="566928"/>
          </a:xfrm>
          <a:prstGeom prst="rect">
            <a:avLst/>
          </a:prstGeom>
          <a:noFill/>
          <a:ln/>
        </p:spPr>
        <p:txBody>
          <a:bodyPr wrap="square" lIns="0" tIns="0" rIns="0" bIns="0" rtlCol="0" anchor="ctr"/>
          <a:lstStyle/>
          <a:p>
            <a:pPr indent="0" marL="0">
              <a:buNone/>
            </a:pPr>
            <a:r>
              <a:rPr lang="en-US" sz="2600" b="1" dirty="0">
                <a:solidFill>
                  <a:srgbClr val="0F2922"/>
                </a:solidFill>
                <a:latin typeface="Plus Jakarta Sans" pitchFamily="34" charset="0"/>
                <a:ea typeface="Plus Jakarta Sans" pitchFamily="34" charset="-122"/>
                <a:cs typeface="Plus Jakarta Sans" pitchFamily="34" charset="-120"/>
              </a:rPr>
              <a:t>Core Platform Functions</a:t>
            </a:r>
            <a:endParaRPr lang="en-US" sz="2600" dirty="0"/>
          </a:p>
        </p:txBody>
      </p:sp>
      <p:sp>
        <p:nvSpPr>
          <p:cNvPr id="4" name="Shape 2"/>
          <p:cNvSpPr/>
          <p:nvPr/>
        </p:nvSpPr>
        <p:spPr>
          <a:xfrm>
            <a:off x="457200" y="1207008"/>
            <a:ext cx="11277295" cy="18288"/>
          </a:xfrm>
          <a:prstGeom prst="rect">
            <a:avLst/>
          </a:prstGeom>
          <a:solidFill>
            <a:srgbClr val="E2E8F0"/>
          </a:solidFill>
          <a:ln/>
        </p:spPr>
      </p:sp>
      <p:sp>
        <p:nvSpPr>
          <p:cNvPr id="5" name="Shape 3"/>
          <p:cNvSpPr/>
          <p:nvPr/>
        </p:nvSpPr>
        <p:spPr>
          <a:xfrm>
            <a:off x="457200" y="1463040"/>
            <a:ext cx="2647874" cy="2331720"/>
          </a:xfrm>
          <a:prstGeom prst="roundRect">
            <a:avLst>
              <a:gd name="adj" fmla="val 3137"/>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6" name="Shape 4"/>
          <p:cNvSpPr/>
          <p:nvPr/>
        </p:nvSpPr>
        <p:spPr>
          <a:xfrm>
            <a:off x="640080" y="1645920"/>
            <a:ext cx="411480" cy="411480"/>
          </a:xfrm>
          <a:prstGeom prst="ellipse">
            <a:avLst/>
          </a:prstGeom>
          <a:solidFill>
            <a:srgbClr val="0D9488"/>
          </a:solidFill>
          <a:ln/>
        </p:spPr>
      </p:sp>
      <p:sp>
        <p:nvSpPr>
          <p:cNvPr id="7" name="Text 5"/>
          <p:cNvSpPr txBox="1"/>
          <p:nvPr/>
        </p:nvSpPr>
        <p:spPr>
          <a:xfrm>
            <a:off x="640080" y="164592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1</a:t>
            </a:r>
            <a:endParaRPr lang="en-US" sz="1300" dirty="0"/>
          </a:p>
        </p:txBody>
      </p:sp>
      <p:sp>
        <p:nvSpPr>
          <p:cNvPr id="8" name="Text 6"/>
          <p:cNvSpPr txBox="1"/>
          <p:nvPr/>
        </p:nvSpPr>
        <p:spPr>
          <a:xfrm>
            <a:off x="640080" y="2240280"/>
            <a:ext cx="2282114" cy="502920"/>
          </a:xfrm>
          <a:prstGeom prst="rect">
            <a:avLst/>
          </a:prstGeom>
          <a:noFill/>
          <a:ln/>
        </p:spPr>
        <p:txBody>
          <a:bodyPr wrap="square" lIns="0" tIns="0" rIns="0" bIns="0" rtlCol="0" anchor="t"/>
          <a:lstStyle/>
          <a:p>
            <a:pPr indent="0" marL="0">
              <a:buNone/>
            </a:pPr>
            <a:r>
              <a:rPr lang="en-US" sz="1250" b="1" dirty="0">
                <a:solidFill>
                  <a:srgbClr val="0F2922"/>
                </a:solidFill>
                <a:latin typeface="Plus Jakarta Sans" pitchFamily="34" charset="0"/>
                <a:ea typeface="Plus Jakarta Sans" pitchFamily="34" charset="-122"/>
                <a:cs typeface="Plus Jakarta Sans" pitchFamily="34" charset="-120"/>
              </a:rPr>
              <a:t>Ticket Creation</a:t>
            </a:r>
            <a:endParaRPr lang="en-US" sz="1250" dirty="0"/>
          </a:p>
        </p:txBody>
      </p:sp>
      <p:sp>
        <p:nvSpPr>
          <p:cNvPr id="9" name="Text 7"/>
          <p:cNvSpPr txBox="1"/>
          <p:nvPr/>
        </p:nvSpPr>
        <p:spPr>
          <a:xfrm>
            <a:off x="640080" y="2743200"/>
            <a:ext cx="2282114" cy="914400"/>
          </a:xfrm>
          <a:prstGeom prst="rect">
            <a:avLst/>
          </a:prstGeom>
          <a:noFill/>
          <a:ln/>
        </p:spPr>
        <p:txBody>
          <a:bodyPr wrap="square" lIns="0" tIns="0" rIns="0" bIns="0" rtlCol="0" anchor="ctr"/>
          <a:lstStyle/>
          <a:p>
            <a:pPr indent="0" marL="0">
              <a:lnSpc>
                <a:spcPct val="120000"/>
              </a:lnSpc>
              <a:buNone/>
            </a:pPr>
            <a:r>
              <a:rPr lang="en-US" sz="1000" dirty="0">
                <a:solidFill>
                  <a:srgbClr val="475569"/>
                </a:solidFill>
                <a:latin typeface="Inter" pitchFamily="34" charset="0"/>
                <a:ea typeface="Inter" pitchFamily="34" charset="-122"/>
                <a:cs typeface="Inter" pitchFamily="34" charset="-120"/>
              </a:rPr>
              <a:t>Multi-channel customer portal intake.</a:t>
            </a:r>
            <a:endParaRPr lang="en-US" sz="1000" dirty="0"/>
          </a:p>
        </p:txBody>
      </p:sp>
      <p:sp>
        <p:nvSpPr>
          <p:cNvPr id="10" name="Shape 8"/>
          <p:cNvSpPr/>
          <p:nvPr/>
        </p:nvSpPr>
        <p:spPr>
          <a:xfrm>
            <a:off x="3333674" y="1463040"/>
            <a:ext cx="2647874" cy="2331720"/>
          </a:xfrm>
          <a:prstGeom prst="roundRect">
            <a:avLst>
              <a:gd name="adj" fmla="val 3137"/>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11" name="Shape 9"/>
          <p:cNvSpPr/>
          <p:nvPr/>
        </p:nvSpPr>
        <p:spPr>
          <a:xfrm>
            <a:off x="3516554" y="1645920"/>
            <a:ext cx="411480" cy="411480"/>
          </a:xfrm>
          <a:prstGeom prst="ellipse">
            <a:avLst/>
          </a:prstGeom>
          <a:solidFill>
            <a:srgbClr val="0D9488"/>
          </a:solidFill>
          <a:ln/>
        </p:spPr>
      </p:sp>
      <p:sp>
        <p:nvSpPr>
          <p:cNvPr id="12" name="Text 10"/>
          <p:cNvSpPr txBox="1"/>
          <p:nvPr/>
        </p:nvSpPr>
        <p:spPr>
          <a:xfrm>
            <a:off x="3516554" y="164592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2</a:t>
            </a:r>
            <a:endParaRPr lang="en-US" sz="1300" dirty="0"/>
          </a:p>
        </p:txBody>
      </p:sp>
      <p:sp>
        <p:nvSpPr>
          <p:cNvPr id="13" name="Text 11"/>
          <p:cNvSpPr txBox="1"/>
          <p:nvPr/>
        </p:nvSpPr>
        <p:spPr>
          <a:xfrm>
            <a:off x="3516554" y="2240280"/>
            <a:ext cx="2282114" cy="502920"/>
          </a:xfrm>
          <a:prstGeom prst="rect">
            <a:avLst/>
          </a:prstGeom>
          <a:noFill/>
          <a:ln/>
        </p:spPr>
        <p:txBody>
          <a:bodyPr wrap="square" lIns="0" tIns="0" rIns="0" bIns="0" rtlCol="0" anchor="t"/>
          <a:lstStyle/>
          <a:p>
            <a:pPr indent="0" marL="0">
              <a:buNone/>
            </a:pPr>
            <a:r>
              <a:rPr lang="en-US" sz="1250" b="1" dirty="0">
                <a:solidFill>
                  <a:srgbClr val="0F2922"/>
                </a:solidFill>
                <a:latin typeface="Plus Jakarta Sans" pitchFamily="34" charset="0"/>
                <a:ea typeface="Plus Jakarta Sans" pitchFamily="34" charset="-122"/>
                <a:cs typeface="Plus Jakarta Sans" pitchFamily="34" charset="-120"/>
              </a:rPr>
              <a:t>AI Classification</a:t>
            </a:r>
            <a:endParaRPr lang="en-US" sz="1250" dirty="0"/>
          </a:p>
        </p:txBody>
      </p:sp>
      <p:sp>
        <p:nvSpPr>
          <p:cNvPr id="14" name="Text 12"/>
          <p:cNvSpPr txBox="1"/>
          <p:nvPr/>
        </p:nvSpPr>
        <p:spPr>
          <a:xfrm>
            <a:off x="3516554" y="2743200"/>
            <a:ext cx="2282114" cy="914400"/>
          </a:xfrm>
          <a:prstGeom prst="rect">
            <a:avLst/>
          </a:prstGeom>
          <a:noFill/>
          <a:ln/>
        </p:spPr>
        <p:txBody>
          <a:bodyPr wrap="square" lIns="0" tIns="0" rIns="0" bIns="0" rtlCol="0" anchor="ctr"/>
          <a:lstStyle/>
          <a:p>
            <a:pPr indent="0" marL="0">
              <a:lnSpc>
                <a:spcPct val="120000"/>
              </a:lnSpc>
              <a:buNone/>
            </a:pPr>
            <a:r>
              <a:rPr lang="en-US" sz="1000" dirty="0">
                <a:solidFill>
                  <a:srgbClr val="475569"/>
                </a:solidFill>
                <a:latin typeface="Inter" pitchFamily="34" charset="0"/>
                <a:ea typeface="Inter" pitchFamily="34" charset="-122"/>
                <a:cs typeface="Inter" pitchFamily="34" charset="-120"/>
              </a:rPr>
              <a:t>Category &amp; intent tagging.</a:t>
            </a:r>
            <a:endParaRPr lang="en-US" sz="1000" dirty="0"/>
          </a:p>
        </p:txBody>
      </p:sp>
      <p:sp>
        <p:nvSpPr>
          <p:cNvPr id="15" name="Shape 13"/>
          <p:cNvSpPr/>
          <p:nvPr/>
        </p:nvSpPr>
        <p:spPr>
          <a:xfrm>
            <a:off x="6210148" y="1463040"/>
            <a:ext cx="2647874" cy="2331720"/>
          </a:xfrm>
          <a:prstGeom prst="roundRect">
            <a:avLst>
              <a:gd name="adj" fmla="val 3137"/>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16" name="Shape 14"/>
          <p:cNvSpPr/>
          <p:nvPr/>
        </p:nvSpPr>
        <p:spPr>
          <a:xfrm>
            <a:off x="6393028" y="1645920"/>
            <a:ext cx="411480" cy="411480"/>
          </a:xfrm>
          <a:prstGeom prst="ellipse">
            <a:avLst/>
          </a:prstGeom>
          <a:solidFill>
            <a:srgbClr val="0D9488"/>
          </a:solidFill>
          <a:ln/>
        </p:spPr>
      </p:sp>
      <p:sp>
        <p:nvSpPr>
          <p:cNvPr id="17" name="Text 15"/>
          <p:cNvSpPr txBox="1"/>
          <p:nvPr/>
        </p:nvSpPr>
        <p:spPr>
          <a:xfrm>
            <a:off x="6393028" y="164592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3</a:t>
            </a:r>
            <a:endParaRPr lang="en-US" sz="1300" dirty="0"/>
          </a:p>
        </p:txBody>
      </p:sp>
      <p:sp>
        <p:nvSpPr>
          <p:cNvPr id="18" name="Text 16"/>
          <p:cNvSpPr txBox="1"/>
          <p:nvPr/>
        </p:nvSpPr>
        <p:spPr>
          <a:xfrm>
            <a:off x="6393028" y="2240280"/>
            <a:ext cx="2282114" cy="502920"/>
          </a:xfrm>
          <a:prstGeom prst="rect">
            <a:avLst/>
          </a:prstGeom>
          <a:noFill/>
          <a:ln/>
        </p:spPr>
        <p:txBody>
          <a:bodyPr wrap="square" lIns="0" tIns="0" rIns="0" bIns="0" rtlCol="0" anchor="t"/>
          <a:lstStyle/>
          <a:p>
            <a:pPr indent="0" marL="0">
              <a:buNone/>
            </a:pPr>
            <a:r>
              <a:rPr lang="en-US" sz="1250" b="1" dirty="0">
                <a:solidFill>
                  <a:srgbClr val="0F2922"/>
                </a:solidFill>
                <a:latin typeface="Plus Jakarta Sans" pitchFamily="34" charset="0"/>
                <a:ea typeface="Plus Jakarta Sans" pitchFamily="34" charset="-122"/>
                <a:cs typeface="Plus Jakarta Sans" pitchFamily="34" charset="-120"/>
              </a:rPr>
              <a:t>Priority &amp; Severity</a:t>
            </a:r>
            <a:endParaRPr lang="en-US" sz="1250" dirty="0"/>
          </a:p>
        </p:txBody>
      </p:sp>
      <p:sp>
        <p:nvSpPr>
          <p:cNvPr id="19" name="Text 17"/>
          <p:cNvSpPr txBox="1"/>
          <p:nvPr/>
        </p:nvSpPr>
        <p:spPr>
          <a:xfrm>
            <a:off x="6393028" y="2743200"/>
            <a:ext cx="2282114" cy="914400"/>
          </a:xfrm>
          <a:prstGeom prst="rect">
            <a:avLst/>
          </a:prstGeom>
          <a:noFill/>
          <a:ln/>
        </p:spPr>
        <p:txBody>
          <a:bodyPr wrap="square" lIns="0" tIns="0" rIns="0" bIns="0" rtlCol="0" anchor="ctr"/>
          <a:lstStyle/>
          <a:p>
            <a:pPr indent="0" marL="0">
              <a:lnSpc>
                <a:spcPct val="120000"/>
              </a:lnSpc>
              <a:buNone/>
            </a:pPr>
            <a:r>
              <a:rPr lang="en-US" sz="1000" dirty="0">
                <a:solidFill>
                  <a:srgbClr val="475569"/>
                </a:solidFill>
                <a:latin typeface="Inter" pitchFamily="34" charset="0"/>
                <a:ea typeface="Inter" pitchFamily="34" charset="-122"/>
                <a:cs typeface="Inter" pitchFamily="34" charset="-120"/>
              </a:rPr>
              <a:t>Automated urgency rating.</a:t>
            </a:r>
            <a:endParaRPr lang="en-US" sz="1000" dirty="0"/>
          </a:p>
        </p:txBody>
      </p:sp>
      <p:sp>
        <p:nvSpPr>
          <p:cNvPr id="20" name="Shape 18"/>
          <p:cNvSpPr/>
          <p:nvPr/>
        </p:nvSpPr>
        <p:spPr>
          <a:xfrm>
            <a:off x="9086621" y="1463040"/>
            <a:ext cx="2647874" cy="2331720"/>
          </a:xfrm>
          <a:prstGeom prst="roundRect">
            <a:avLst>
              <a:gd name="adj" fmla="val 3137"/>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21" name="Shape 19"/>
          <p:cNvSpPr/>
          <p:nvPr/>
        </p:nvSpPr>
        <p:spPr>
          <a:xfrm>
            <a:off x="9269501" y="1645920"/>
            <a:ext cx="411480" cy="411480"/>
          </a:xfrm>
          <a:prstGeom prst="ellipse">
            <a:avLst/>
          </a:prstGeom>
          <a:solidFill>
            <a:srgbClr val="0D9488"/>
          </a:solidFill>
          <a:ln/>
        </p:spPr>
      </p:sp>
      <p:sp>
        <p:nvSpPr>
          <p:cNvPr id="22" name="Text 20"/>
          <p:cNvSpPr txBox="1"/>
          <p:nvPr/>
        </p:nvSpPr>
        <p:spPr>
          <a:xfrm>
            <a:off x="9269501" y="164592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4</a:t>
            </a:r>
            <a:endParaRPr lang="en-US" sz="1300" dirty="0"/>
          </a:p>
        </p:txBody>
      </p:sp>
      <p:sp>
        <p:nvSpPr>
          <p:cNvPr id="23" name="Text 21"/>
          <p:cNvSpPr txBox="1"/>
          <p:nvPr/>
        </p:nvSpPr>
        <p:spPr>
          <a:xfrm>
            <a:off x="9269501" y="2240280"/>
            <a:ext cx="2282114" cy="502920"/>
          </a:xfrm>
          <a:prstGeom prst="rect">
            <a:avLst/>
          </a:prstGeom>
          <a:noFill/>
          <a:ln/>
        </p:spPr>
        <p:txBody>
          <a:bodyPr wrap="square" lIns="0" tIns="0" rIns="0" bIns="0" rtlCol="0" anchor="t"/>
          <a:lstStyle/>
          <a:p>
            <a:pPr indent="0" marL="0">
              <a:buNone/>
            </a:pPr>
            <a:r>
              <a:rPr lang="en-US" sz="1250" b="1" dirty="0">
                <a:solidFill>
                  <a:srgbClr val="0F2922"/>
                </a:solidFill>
                <a:latin typeface="Plus Jakarta Sans" pitchFamily="34" charset="0"/>
                <a:ea typeface="Plus Jakarta Sans" pitchFamily="34" charset="-122"/>
                <a:cs typeface="Plus Jakarta Sans" pitchFamily="34" charset="-120"/>
              </a:rPr>
              <a:t>Sentiment Analysis</a:t>
            </a:r>
            <a:endParaRPr lang="en-US" sz="1250" dirty="0"/>
          </a:p>
        </p:txBody>
      </p:sp>
      <p:sp>
        <p:nvSpPr>
          <p:cNvPr id="24" name="Text 22"/>
          <p:cNvSpPr txBox="1"/>
          <p:nvPr/>
        </p:nvSpPr>
        <p:spPr>
          <a:xfrm>
            <a:off x="9269501" y="2743200"/>
            <a:ext cx="2282114" cy="914400"/>
          </a:xfrm>
          <a:prstGeom prst="rect">
            <a:avLst/>
          </a:prstGeom>
          <a:noFill/>
          <a:ln/>
        </p:spPr>
        <p:txBody>
          <a:bodyPr wrap="square" lIns="0" tIns="0" rIns="0" bIns="0" rtlCol="0" anchor="ctr"/>
          <a:lstStyle/>
          <a:p>
            <a:pPr indent="0" marL="0">
              <a:lnSpc>
                <a:spcPct val="120000"/>
              </a:lnSpc>
              <a:buNone/>
            </a:pPr>
            <a:r>
              <a:rPr lang="en-US" sz="1000" dirty="0">
                <a:solidFill>
                  <a:srgbClr val="475569"/>
                </a:solidFill>
                <a:latin typeface="Inter" pitchFamily="34" charset="0"/>
                <a:ea typeface="Inter" pitchFamily="34" charset="-122"/>
                <a:cs typeface="Inter" pitchFamily="34" charset="-120"/>
              </a:rPr>
              <a:t>Customer mood detection.</a:t>
            </a:r>
            <a:endParaRPr lang="en-US" sz="1000" dirty="0"/>
          </a:p>
        </p:txBody>
      </p:sp>
      <p:sp>
        <p:nvSpPr>
          <p:cNvPr id="25" name="Shape 23"/>
          <p:cNvSpPr/>
          <p:nvPr/>
        </p:nvSpPr>
        <p:spPr>
          <a:xfrm>
            <a:off x="457200" y="4023360"/>
            <a:ext cx="2647874" cy="2331720"/>
          </a:xfrm>
          <a:prstGeom prst="roundRect">
            <a:avLst>
              <a:gd name="adj" fmla="val 3137"/>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26" name="Shape 24"/>
          <p:cNvSpPr/>
          <p:nvPr/>
        </p:nvSpPr>
        <p:spPr>
          <a:xfrm>
            <a:off x="640080" y="4206240"/>
            <a:ext cx="411480" cy="411480"/>
          </a:xfrm>
          <a:prstGeom prst="ellipse">
            <a:avLst/>
          </a:prstGeom>
          <a:solidFill>
            <a:srgbClr val="0D9488"/>
          </a:solidFill>
          <a:ln/>
        </p:spPr>
      </p:sp>
      <p:sp>
        <p:nvSpPr>
          <p:cNvPr id="27" name="Text 25"/>
          <p:cNvSpPr txBox="1"/>
          <p:nvPr/>
        </p:nvSpPr>
        <p:spPr>
          <a:xfrm>
            <a:off x="640080" y="420624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5</a:t>
            </a:r>
            <a:endParaRPr lang="en-US" sz="1300" dirty="0"/>
          </a:p>
        </p:txBody>
      </p:sp>
      <p:sp>
        <p:nvSpPr>
          <p:cNvPr id="28" name="Text 26"/>
          <p:cNvSpPr txBox="1"/>
          <p:nvPr/>
        </p:nvSpPr>
        <p:spPr>
          <a:xfrm>
            <a:off x="640080" y="4800600"/>
            <a:ext cx="2282114" cy="502920"/>
          </a:xfrm>
          <a:prstGeom prst="rect">
            <a:avLst/>
          </a:prstGeom>
          <a:noFill/>
          <a:ln/>
        </p:spPr>
        <p:txBody>
          <a:bodyPr wrap="square" lIns="0" tIns="0" rIns="0" bIns="0" rtlCol="0" anchor="t"/>
          <a:lstStyle/>
          <a:p>
            <a:pPr indent="0" marL="0">
              <a:buNone/>
            </a:pPr>
            <a:r>
              <a:rPr lang="en-US" sz="1250" b="1" dirty="0">
                <a:solidFill>
                  <a:srgbClr val="0F2922"/>
                </a:solidFill>
                <a:latin typeface="Plus Jakarta Sans" pitchFamily="34" charset="0"/>
                <a:ea typeface="Plus Jakarta Sans" pitchFamily="34" charset="-122"/>
                <a:cs typeface="Plus Jakarta Sans" pitchFamily="34" charset="-120"/>
              </a:rPr>
              <a:t>RAG Knowledge</a:t>
            </a:r>
            <a:endParaRPr lang="en-US" sz="1250" dirty="0"/>
          </a:p>
        </p:txBody>
      </p:sp>
      <p:sp>
        <p:nvSpPr>
          <p:cNvPr id="29" name="Text 27"/>
          <p:cNvSpPr txBox="1"/>
          <p:nvPr/>
        </p:nvSpPr>
        <p:spPr>
          <a:xfrm>
            <a:off x="640080" y="5303520"/>
            <a:ext cx="2282114" cy="914400"/>
          </a:xfrm>
          <a:prstGeom prst="rect">
            <a:avLst/>
          </a:prstGeom>
          <a:noFill/>
          <a:ln/>
        </p:spPr>
        <p:txBody>
          <a:bodyPr wrap="square" lIns="0" tIns="0" rIns="0" bIns="0" rtlCol="0" anchor="ctr"/>
          <a:lstStyle/>
          <a:p>
            <a:pPr indent="0" marL="0">
              <a:lnSpc>
                <a:spcPct val="120000"/>
              </a:lnSpc>
              <a:buNone/>
            </a:pPr>
            <a:r>
              <a:rPr lang="en-US" sz="1000" dirty="0">
                <a:solidFill>
                  <a:srgbClr val="475569"/>
                </a:solidFill>
                <a:latin typeface="Inter" pitchFamily="34" charset="0"/>
                <a:ea typeface="Inter" pitchFamily="34" charset="-122"/>
                <a:cs typeface="Inter" pitchFamily="34" charset="-120"/>
              </a:rPr>
              <a:t>Contextual vector lookup.</a:t>
            </a:r>
            <a:endParaRPr lang="en-US" sz="1000" dirty="0"/>
          </a:p>
        </p:txBody>
      </p:sp>
      <p:sp>
        <p:nvSpPr>
          <p:cNvPr id="30" name="Shape 28"/>
          <p:cNvSpPr/>
          <p:nvPr/>
        </p:nvSpPr>
        <p:spPr>
          <a:xfrm>
            <a:off x="3333674" y="4023360"/>
            <a:ext cx="2647874" cy="2331720"/>
          </a:xfrm>
          <a:prstGeom prst="roundRect">
            <a:avLst>
              <a:gd name="adj" fmla="val 3137"/>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31" name="Shape 29"/>
          <p:cNvSpPr/>
          <p:nvPr/>
        </p:nvSpPr>
        <p:spPr>
          <a:xfrm>
            <a:off x="3516554" y="4206240"/>
            <a:ext cx="411480" cy="411480"/>
          </a:xfrm>
          <a:prstGeom prst="ellipse">
            <a:avLst/>
          </a:prstGeom>
          <a:solidFill>
            <a:srgbClr val="0D9488"/>
          </a:solidFill>
          <a:ln/>
        </p:spPr>
      </p:sp>
      <p:sp>
        <p:nvSpPr>
          <p:cNvPr id="32" name="Text 30"/>
          <p:cNvSpPr txBox="1"/>
          <p:nvPr/>
        </p:nvSpPr>
        <p:spPr>
          <a:xfrm>
            <a:off x="3516554" y="420624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6</a:t>
            </a:r>
            <a:endParaRPr lang="en-US" sz="1300" dirty="0"/>
          </a:p>
        </p:txBody>
      </p:sp>
      <p:sp>
        <p:nvSpPr>
          <p:cNvPr id="33" name="Text 31"/>
          <p:cNvSpPr txBox="1"/>
          <p:nvPr/>
        </p:nvSpPr>
        <p:spPr>
          <a:xfrm>
            <a:off x="3516554" y="4800600"/>
            <a:ext cx="2282114" cy="502920"/>
          </a:xfrm>
          <a:prstGeom prst="rect">
            <a:avLst/>
          </a:prstGeom>
          <a:noFill/>
          <a:ln/>
        </p:spPr>
        <p:txBody>
          <a:bodyPr wrap="square" lIns="0" tIns="0" rIns="0" bIns="0" rtlCol="0" anchor="t"/>
          <a:lstStyle/>
          <a:p>
            <a:pPr indent="0" marL="0">
              <a:buNone/>
            </a:pPr>
            <a:r>
              <a:rPr lang="en-US" sz="1250" b="1" dirty="0">
                <a:solidFill>
                  <a:srgbClr val="0F2922"/>
                </a:solidFill>
                <a:latin typeface="Plus Jakarta Sans" pitchFamily="34" charset="0"/>
                <a:ea typeface="Plus Jakarta Sans" pitchFamily="34" charset="-122"/>
                <a:cs typeface="Plus Jakarta Sans" pitchFamily="34" charset="-120"/>
              </a:rPr>
              <a:t>AI Resolution</a:t>
            </a:r>
            <a:endParaRPr lang="en-US" sz="1250" dirty="0"/>
          </a:p>
        </p:txBody>
      </p:sp>
      <p:sp>
        <p:nvSpPr>
          <p:cNvPr id="34" name="Text 32"/>
          <p:cNvSpPr txBox="1"/>
          <p:nvPr/>
        </p:nvSpPr>
        <p:spPr>
          <a:xfrm>
            <a:off x="3516554" y="5303520"/>
            <a:ext cx="2282114" cy="914400"/>
          </a:xfrm>
          <a:prstGeom prst="rect">
            <a:avLst/>
          </a:prstGeom>
          <a:noFill/>
          <a:ln/>
        </p:spPr>
        <p:txBody>
          <a:bodyPr wrap="square" lIns="0" tIns="0" rIns="0" bIns="0" rtlCol="0" anchor="ctr"/>
          <a:lstStyle/>
          <a:p>
            <a:pPr indent="0" marL="0">
              <a:lnSpc>
                <a:spcPct val="120000"/>
              </a:lnSpc>
              <a:buNone/>
            </a:pPr>
            <a:r>
              <a:rPr lang="en-US" sz="1000" dirty="0">
                <a:solidFill>
                  <a:srgbClr val="475569"/>
                </a:solidFill>
                <a:latin typeface="Inter" pitchFamily="34" charset="0"/>
                <a:ea typeface="Inter" pitchFamily="34" charset="-122"/>
                <a:cs typeface="Inter" pitchFamily="34" charset="-120"/>
              </a:rPr>
              <a:t>Auto response drafting.</a:t>
            </a:r>
            <a:endParaRPr lang="en-US" sz="1000" dirty="0"/>
          </a:p>
        </p:txBody>
      </p:sp>
      <p:sp>
        <p:nvSpPr>
          <p:cNvPr id="35" name="Shape 33"/>
          <p:cNvSpPr/>
          <p:nvPr/>
        </p:nvSpPr>
        <p:spPr>
          <a:xfrm>
            <a:off x="6210148" y="4023360"/>
            <a:ext cx="2647874" cy="2331720"/>
          </a:xfrm>
          <a:prstGeom prst="roundRect">
            <a:avLst>
              <a:gd name="adj" fmla="val 3137"/>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36" name="Shape 34"/>
          <p:cNvSpPr/>
          <p:nvPr/>
        </p:nvSpPr>
        <p:spPr>
          <a:xfrm>
            <a:off x="6393028" y="4206240"/>
            <a:ext cx="411480" cy="411480"/>
          </a:xfrm>
          <a:prstGeom prst="ellipse">
            <a:avLst/>
          </a:prstGeom>
          <a:solidFill>
            <a:srgbClr val="0D9488"/>
          </a:solidFill>
          <a:ln/>
        </p:spPr>
      </p:sp>
      <p:sp>
        <p:nvSpPr>
          <p:cNvPr id="37" name="Text 35"/>
          <p:cNvSpPr txBox="1"/>
          <p:nvPr/>
        </p:nvSpPr>
        <p:spPr>
          <a:xfrm>
            <a:off x="6393028" y="420624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7</a:t>
            </a:r>
            <a:endParaRPr lang="en-US" sz="1300" dirty="0"/>
          </a:p>
        </p:txBody>
      </p:sp>
      <p:sp>
        <p:nvSpPr>
          <p:cNvPr id="38" name="Text 36"/>
          <p:cNvSpPr txBox="1"/>
          <p:nvPr/>
        </p:nvSpPr>
        <p:spPr>
          <a:xfrm>
            <a:off x="6393028" y="4800600"/>
            <a:ext cx="2282114" cy="502920"/>
          </a:xfrm>
          <a:prstGeom prst="rect">
            <a:avLst/>
          </a:prstGeom>
          <a:noFill/>
          <a:ln/>
        </p:spPr>
        <p:txBody>
          <a:bodyPr wrap="square" lIns="0" tIns="0" rIns="0" bIns="0" rtlCol="0" anchor="t"/>
          <a:lstStyle/>
          <a:p>
            <a:pPr indent="0" marL="0">
              <a:buNone/>
            </a:pPr>
            <a:r>
              <a:rPr lang="en-US" sz="1250" b="1" dirty="0">
                <a:solidFill>
                  <a:srgbClr val="0F2922"/>
                </a:solidFill>
                <a:latin typeface="Plus Jakarta Sans" pitchFamily="34" charset="0"/>
                <a:ea typeface="Plus Jakarta Sans" pitchFamily="34" charset="-122"/>
                <a:cs typeface="Plus Jakarta Sans" pitchFamily="34" charset="-120"/>
              </a:rPr>
              <a:t>SLA Monitoring</a:t>
            </a:r>
            <a:endParaRPr lang="en-US" sz="1250" dirty="0"/>
          </a:p>
        </p:txBody>
      </p:sp>
      <p:sp>
        <p:nvSpPr>
          <p:cNvPr id="39" name="Text 37"/>
          <p:cNvSpPr txBox="1"/>
          <p:nvPr/>
        </p:nvSpPr>
        <p:spPr>
          <a:xfrm>
            <a:off x="6393028" y="5303520"/>
            <a:ext cx="2282114" cy="914400"/>
          </a:xfrm>
          <a:prstGeom prst="rect">
            <a:avLst/>
          </a:prstGeom>
          <a:noFill/>
          <a:ln/>
        </p:spPr>
        <p:txBody>
          <a:bodyPr wrap="square" lIns="0" tIns="0" rIns="0" bIns="0" rtlCol="0" anchor="ctr"/>
          <a:lstStyle/>
          <a:p>
            <a:pPr indent="0" marL="0">
              <a:lnSpc>
                <a:spcPct val="120000"/>
              </a:lnSpc>
              <a:buNone/>
            </a:pPr>
            <a:r>
              <a:rPr lang="en-US" sz="1000" dirty="0">
                <a:solidFill>
                  <a:srgbClr val="475569"/>
                </a:solidFill>
                <a:latin typeface="Inter" pitchFamily="34" charset="0"/>
                <a:ea typeface="Inter" pitchFamily="34" charset="-122"/>
                <a:cs typeface="Inter" pitchFamily="34" charset="-120"/>
              </a:rPr>
              <a:t>Real-time breach alerts.</a:t>
            </a:r>
            <a:endParaRPr lang="en-US" sz="1000" dirty="0"/>
          </a:p>
        </p:txBody>
      </p:sp>
      <p:sp>
        <p:nvSpPr>
          <p:cNvPr id="40" name="Shape 38"/>
          <p:cNvSpPr/>
          <p:nvPr/>
        </p:nvSpPr>
        <p:spPr>
          <a:xfrm>
            <a:off x="9086621" y="4023360"/>
            <a:ext cx="2647874" cy="2331720"/>
          </a:xfrm>
          <a:prstGeom prst="roundRect">
            <a:avLst>
              <a:gd name="adj" fmla="val 3137"/>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41" name="Shape 39"/>
          <p:cNvSpPr/>
          <p:nvPr/>
        </p:nvSpPr>
        <p:spPr>
          <a:xfrm>
            <a:off x="9269501" y="4206240"/>
            <a:ext cx="411480" cy="411480"/>
          </a:xfrm>
          <a:prstGeom prst="ellipse">
            <a:avLst/>
          </a:prstGeom>
          <a:solidFill>
            <a:srgbClr val="0D9488"/>
          </a:solidFill>
          <a:ln/>
        </p:spPr>
      </p:sp>
      <p:sp>
        <p:nvSpPr>
          <p:cNvPr id="42" name="Text 40"/>
          <p:cNvSpPr txBox="1"/>
          <p:nvPr/>
        </p:nvSpPr>
        <p:spPr>
          <a:xfrm>
            <a:off x="9269501" y="420624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8</a:t>
            </a:r>
            <a:endParaRPr lang="en-US" sz="1300" dirty="0"/>
          </a:p>
        </p:txBody>
      </p:sp>
      <p:sp>
        <p:nvSpPr>
          <p:cNvPr id="43" name="Text 41"/>
          <p:cNvSpPr txBox="1"/>
          <p:nvPr/>
        </p:nvSpPr>
        <p:spPr>
          <a:xfrm>
            <a:off x="9269501" y="4800600"/>
            <a:ext cx="2282114" cy="502920"/>
          </a:xfrm>
          <a:prstGeom prst="rect">
            <a:avLst/>
          </a:prstGeom>
          <a:noFill/>
          <a:ln/>
        </p:spPr>
        <p:txBody>
          <a:bodyPr wrap="square" lIns="0" tIns="0" rIns="0" bIns="0" rtlCol="0" anchor="t"/>
          <a:lstStyle/>
          <a:p>
            <a:pPr indent="0" marL="0">
              <a:buNone/>
            </a:pPr>
            <a:r>
              <a:rPr lang="en-US" sz="1250" b="1" dirty="0">
                <a:solidFill>
                  <a:srgbClr val="0F2922"/>
                </a:solidFill>
                <a:latin typeface="Plus Jakarta Sans" pitchFamily="34" charset="0"/>
                <a:ea typeface="Plus Jakarta Sans" pitchFamily="34" charset="-122"/>
                <a:cs typeface="Plus Jakarta Sans" pitchFamily="34" charset="-120"/>
              </a:rPr>
              <a:t>Analytics</a:t>
            </a:r>
            <a:endParaRPr lang="en-US" sz="1250" dirty="0"/>
          </a:p>
        </p:txBody>
      </p:sp>
      <p:sp>
        <p:nvSpPr>
          <p:cNvPr id="44" name="Text 42"/>
          <p:cNvSpPr txBox="1"/>
          <p:nvPr/>
        </p:nvSpPr>
        <p:spPr>
          <a:xfrm>
            <a:off x="9269501" y="5303520"/>
            <a:ext cx="2282114" cy="914400"/>
          </a:xfrm>
          <a:prstGeom prst="rect">
            <a:avLst/>
          </a:prstGeom>
          <a:noFill/>
          <a:ln/>
        </p:spPr>
        <p:txBody>
          <a:bodyPr wrap="square" lIns="0" tIns="0" rIns="0" bIns="0" rtlCol="0" anchor="ctr"/>
          <a:lstStyle/>
          <a:p>
            <a:pPr indent="0" marL="0">
              <a:lnSpc>
                <a:spcPct val="120000"/>
              </a:lnSpc>
              <a:buNone/>
            </a:pPr>
            <a:r>
              <a:rPr lang="en-US" sz="1000" dirty="0">
                <a:solidFill>
                  <a:srgbClr val="475569"/>
                </a:solidFill>
                <a:latin typeface="Inter" pitchFamily="34" charset="0"/>
                <a:ea typeface="Inter" pitchFamily="34" charset="-122"/>
                <a:cs typeface="Inter" pitchFamily="34" charset="-120"/>
              </a:rPr>
              <a:t>Performance dashboards.</a:t>
            </a:r>
            <a:endParaRPr lang="en-US" sz="1000" dirty="0"/>
          </a:p>
        </p:txBody>
      </p:sp>
      <p:sp>
        <p:nvSpPr>
          <p:cNvPr id="45" name="Text 43"/>
          <p:cNvSpPr txBox="1"/>
          <p:nvPr/>
        </p:nvSpPr>
        <p:spPr>
          <a:xfrm>
            <a:off x="11475720" y="6510528"/>
            <a:ext cx="365760" cy="256032"/>
          </a:xfrm>
          <a:prstGeom prst="rect">
            <a:avLst/>
          </a:prstGeom>
          <a:noFill/>
          <a:ln/>
        </p:spPr>
        <p:txBody>
          <a:bodyPr wrap="square" lIns="0" tIns="0" rIns="0" bIns="0" rtlCol="0" anchor="ctr"/>
          <a:lstStyle/>
          <a:p>
            <a:pPr algn="r" indent="0" marL="0">
              <a:buNone/>
            </a:pPr>
            <a:r>
              <a:rPr lang="en-US" sz="900" b="1" dirty="0">
                <a:solidFill>
                  <a:srgbClr val="CBD5E1"/>
                </a:solidFill>
                <a:latin typeface="Inter" pitchFamily="34" charset="0"/>
                <a:ea typeface="Inter" pitchFamily="34" charset="-122"/>
                <a:cs typeface="Inter"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9"/>
        </a:solidFill>
      </p:bgPr>
    </p:bg>
    <p:spTree>
      <p:nvGrpSpPr>
        <p:cNvPr id="1" name=""/>
        <p:cNvGrpSpPr/>
        <p:nvPr/>
      </p:nvGrpSpPr>
      <p:grpSpPr>
        <a:xfrm>
          <a:off x="0" y="0"/>
          <a:ext cx="0" cy="0"/>
          <a:chOff x="0" y="0"/>
          <a:chExt cx="0" cy="0"/>
        </a:xfrm>
      </p:grpSpPr>
      <p:sp>
        <p:nvSpPr>
          <p:cNvPr id="2" name="Text 0"/>
          <p:cNvSpPr txBox="1"/>
          <p:nvPr/>
        </p:nvSpPr>
        <p:spPr>
          <a:xfrm>
            <a:off x="457200" y="320040"/>
            <a:ext cx="10607040" cy="274320"/>
          </a:xfrm>
          <a:prstGeom prst="rect">
            <a:avLst/>
          </a:prstGeom>
          <a:noFill/>
          <a:ln/>
        </p:spPr>
        <p:txBody>
          <a:bodyPr wrap="square" lIns="0" tIns="0" rIns="0" bIns="0" rtlCol="0" anchor="ctr"/>
          <a:lstStyle/>
          <a:p>
            <a:pPr indent="0" marL="0">
              <a:buNone/>
            </a:pPr>
            <a:r>
              <a:rPr lang="en-US" sz="1100" b="1" spc="100" kern="0" dirty="0">
                <a:solidFill>
                  <a:srgbClr val="0D9488"/>
                </a:solidFill>
                <a:latin typeface="Inter" pitchFamily="34" charset="0"/>
                <a:ea typeface="Inter" pitchFamily="34" charset="-122"/>
                <a:cs typeface="Inter" pitchFamily="34" charset="-120"/>
              </a:rPr>
              <a:t>END-TO-END PIPELINE</a:t>
            </a:r>
            <a:endParaRPr lang="en-US" sz="1100" dirty="0"/>
          </a:p>
        </p:txBody>
      </p:sp>
      <p:sp>
        <p:nvSpPr>
          <p:cNvPr id="3" name="Text 1"/>
          <p:cNvSpPr txBox="1"/>
          <p:nvPr/>
        </p:nvSpPr>
        <p:spPr>
          <a:xfrm>
            <a:off x="457200" y="566928"/>
            <a:ext cx="10972800" cy="566928"/>
          </a:xfrm>
          <a:prstGeom prst="rect">
            <a:avLst/>
          </a:prstGeom>
          <a:noFill/>
          <a:ln/>
        </p:spPr>
        <p:txBody>
          <a:bodyPr wrap="square" lIns="0" tIns="0" rIns="0" bIns="0" rtlCol="0" anchor="ctr"/>
          <a:lstStyle/>
          <a:p>
            <a:pPr indent="0" marL="0">
              <a:buNone/>
            </a:pPr>
            <a:r>
              <a:rPr lang="en-US" sz="2600" b="1" dirty="0">
                <a:solidFill>
                  <a:srgbClr val="0F2922"/>
                </a:solidFill>
                <a:latin typeface="Plus Jakarta Sans" pitchFamily="34" charset="0"/>
                <a:ea typeface="Plus Jakarta Sans" pitchFamily="34" charset="-122"/>
                <a:cs typeface="Plus Jakarta Sans" pitchFamily="34" charset="-120"/>
              </a:rPr>
              <a:t>System Workflow</a:t>
            </a:r>
            <a:endParaRPr lang="en-US" sz="2600" dirty="0"/>
          </a:p>
        </p:txBody>
      </p:sp>
      <p:sp>
        <p:nvSpPr>
          <p:cNvPr id="4" name="Shape 2"/>
          <p:cNvSpPr/>
          <p:nvPr/>
        </p:nvSpPr>
        <p:spPr>
          <a:xfrm>
            <a:off x="457200" y="1207008"/>
            <a:ext cx="11277295" cy="18288"/>
          </a:xfrm>
          <a:prstGeom prst="rect">
            <a:avLst/>
          </a:prstGeom>
          <a:solidFill>
            <a:srgbClr val="E2E8F0"/>
          </a:solidFill>
          <a:ln/>
        </p:spPr>
      </p:sp>
      <p:sp>
        <p:nvSpPr>
          <p:cNvPr id="5" name="Shape 3"/>
          <p:cNvSpPr/>
          <p:nvPr/>
        </p:nvSpPr>
        <p:spPr>
          <a:xfrm>
            <a:off x="457200" y="1554480"/>
            <a:ext cx="2050633" cy="1188720"/>
          </a:xfrm>
          <a:prstGeom prst="roundRect">
            <a:avLst>
              <a:gd name="adj" fmla="val 6154"/>
            </a:avLst>
          </a:prstGeom>
          <a:solidFill>
            <a:srgbClr val="0F2922"/>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6" name="Shape 4"/>
          <p:cNvSpPr/>
          <p:nvPr/>
        </p:nvSpPr>
        <p:spPr>
          <a:xfrm>
            <a:off x="1299637" y="1691640"/>
            <a:ext cx="365760" cy="365760"/>
          </a:xfrm>
          <a:prstGeom prst="ellipse">
            <a:avLst/>
          </a:prstGeom>
          <a:solidFill>
            <a:srgbClr val="0D9488"/>
          </a:solidFill>
          <a:ln/>
        </p:spPr>
      </p:sp>
      <p:sp>
        <p:nvSpPr>
          <p:cNvPr id="7" name="Text 5"/>
          <p:cNvSpPr txBox="1"/>
          <p:nvPr/>
        </p:nvSpPr>
        <p:spPr>
          <a:xfrm>
            <a:off x="1299637" y="16916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1</a:t>
            </a:r>
            <a:endParaRPr lang="en-US" sz="1300" dirty="0"/>
          </a:p>
        </p:txBody>
      </p:sp>
      <p:sp>
        <p:nvSpPr>
          <p:cNvPr id="8" name="Text 6"/>
          <p:cNvSpPr txBox="1"/>
          <p:nvPr/>
        </p:nvSpPr>
        <p:spPr>
          <a:xfrm>
            <a:off x="457200" y="2148840"/>
            <a:ext cx="2050633" cy="502920"/>
          </a:xfrm>
          <a:prstGeom prst="rect">
            <a:avLst/>
          </a:prstGeom>
          <a:noFill/>
          <a:ln/>
        </p:spPr>
        <p:txBody>
          <a:bodyPr wrap="square" lIns="0" tIns="0" rIns="0" bIns="0" rtlCol="0" anchor="ctr"/>
          <a:lstStyle/>
          <a:p>
            <a:pPr algn="ctr" indent="0" marL="0">
              <a:lnSpc>
                <a:spcPct val="110000"/>
              </a:lnSpc>
              <a:buNone/>
            </a:pPr>
            <a:r>
              <a:rPr lang="en-US" sz="1050" b="1" dirty="0">
                <a:solidFill>
                  <a:srgbClr val="FFFFFF"/>
                </a:solidFill>
                <a:latin typeface="Inter" pitchFamily="34" charset="0"/>
                <a:ea typeface="Inter" pitchFamily="34" charset="-122"/>
                <a:cs typeface="Inter" pitchFamily="34" charset="-120"/>
              </a:rPr>
              <a:t>Login &amp;</a:t>
            </a:r>
            <a:endParaRPr lang="en-US" sz="1050" dirty="0"/>
          </a:p>
          <a:p>
            <a:pPr algn="ctr" indent="0" marL="0">
              <a:lnSpc>
                <a:spcPct val="110000"/>
              </a:lnSpc>
              <a:buNone/>
            </a:pPr>
            <a:r>
              <a:rPr lang="en-US" sz="1050" b="1" dirty="0">
                <a:solidFill>
                  <a:srgbClr val="FFFFFF"/>
                </a:solidFill>
                <a:latin typeface="Inter" pitchFamily="34" charset="0"/>
                <a:ea typeface="Inter" pitchFamily="34" charset="-122"/>
                <a:cs typeface="Inter" pitchFamily="34" charset="-120"/>
              </a:rPr>
              <a:t>Intake</a:t>
            </a:r>
            <a:endParaRPr lang="en-US" sz="1050" dirty="0"/>
          </a:p>
        </p:txBody>
      </p:sp>
      <p:sp>
        <p:nvSpPr>
          <p:cNvPr id="9" name="Text 7"/>
          <p:cNvSpPr txBox="1"/>
          <p:nvPr/>
        </p:nvSpPr>
        <p:spPr>
          <a:xfrm>
            <a:off x="2507833" y="1554480"/>
            <a:ext cx="256032" cy="1188720"/>
          </a:xfrm>
          <a:prstGeom prst="rect">
            <a:avLst/>
          </a:prstGeom>
          <a:noFill/>
          <a:ln/>
        </p:spPr>
        <p:txBody>
          <a:bodyPr wrap="square" lIns="0" tIns="0" rIns="0" bIns="0" rtlCol="0" anchor="ctr"/>
          <a:lstStyle/>
          <a:p>
            <a:pPr algn="ctr" indent="0" marL="0">
              <a:buNone/>
            </a:pPr>
            <a:r>
              <a:rPr lang="en-US" sz="1600" b="1" dirty="0">
                <a:solidFill>
                  <a:srgbClr val="0D9488"/>
                </a:solidFill>
                <a:latin typeface="Inter" pitchFamily="34" charset="0"/>
                <a:ea typeface="Inter" pitchFamily="34" charset="-122"/>
                <a:cs typeface="Inter" pitchFamily="34" charset="-120"/>
              </a:rPr>
              <a:t>→</a:t>
            </a:r>
            <a:endParaRPr lang="en-US" sz="1600" dirty="0"/>
          </a:p>
        </p:txBody>
      </p:sp>
      <p:sp>
        <p:nvSpPr>
          <p:cNvPr id="10" name="Shape 8"/>
          <p:cNvSpPr/>
          <p:nvPr/>
        </p:nvSpPr>
        <p:spPr>
          <a:xfrm>
            <a:off x="2763865" y="1554480"/>
            <a:ext cx="2050633" cy="1188720"/>
          </a:xfrm>
          <a:prstGeom prst="roundRect">
            <a:avLst>
              <a:gd name="adj" fmla="val 6154"/>
            </a:avLst>
          </a:prstGeom>
          <a:solidFill>
            <a:srgbClr val="0F2922"/>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11" name="Shape 9"/>
          <p:cNvSpPr/>
          <p:nvPr/>
        </p:nvSpPr>
        <p:spPr>
          <a:xfrm>
            <a:off x="3606302" y="1691640"/>
            <a:ext cx="365760" cy="365760"/>
          </a:xfrm>
          <a:prstGeom prst="ellipse">
            <a:avLst/>
          </a:prstGeom>
          <a:solidFill>
            <a:srgbClr val="0D9488"/>
          </a:solidFill>
          <a:ln/>
        </p:spPr>
      </p:sp>
      <p:sp>
        <p:nvSpPr>
          <p:cNvPr id="12" name="Text 10"/>
          <p:cNvSpPr txBox="1"/>
          <p:nvPr/>
        </p:nvSpPr>
        <p:spPr>
          <a:xfrm>
            <a:off x="3606302" y="16916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2</a:t>
            </a:r>
            <a:endParaRPr lang="en-US" sz="1300" dirty="0"/>
          </a:p>
        </p:txBody>
      </p:sp>
      <p:sp>
        <p:nvSpPr>
          <p:cNvPr id="13" name="Text 11"/>
          <p:cNvSpPr txBox="1"/>
          <p:nvPr/>
        </p:nvSpPr>
        <p:spPr>
          <a:xfrm>
            <a:off x="2763865" y="2148840"/>
            <a:ext cx="2050633" cy="502920"/>
          </a:xfrm>
          <a:prstGeom prst="rect">
            <a:avLst/>
          </a:prstGeom>
          <a:noFill/>
          <a:ln/>
        </p:spPr>
        <p:txBody>
          <a:bodyPr wrap="square" lIns="0" tIns="0" rIns="0" bIns="0" rtlCol="0" anchor="ctr"/>
          <a:lstStyle/>
          <a:p>
            <a:pPr algn="ctr" indent="0" marL="0">
              <a:lnSpc>
                <a:spcPct val="110000"/>
              </a:lnSpc>
              <a:buNone/>
            </a:pPr>
            <a:r>
              <a:rPr lang="en-US" sz="1050" b="1" dirty="0">
                <a:solidFill>
                  <a:srgbClr val="FFFFFF"/>
                </a:solidFill>
                <a:latin typeface="Inter" pitchFamily="34" charset="0"/>
                <a:ea typeface="Inter" pitchFamily="34" charset="-122"/>
                <a:cs typeface="Inter" pitchFamily="34" charset="-120"/>
              </a:rPr>
              <a:t>AI</a:t>
            </a:r>
            <a:endParaRPr lang="en-US" sz="1050" dirty="0"/>
          </a:p>
          <a:p>
            <a:pPr algn="ctr" indent="0" marL="0">
              <a:lnSpc>
                <a:spcPct val="110000"/>
              </a:lnSpc>
              <a:buNone/>
            </a:pPr>
            <a:r>
              <a:rPr lang="en-US" sz="1050" b="1" dirty="0">
                <a:solidFill>
                  <a:srgbClr val="FFFFFF"/>
                </a:solidFill>
                <a:latin typeface="Inter" pitchFamily="34" charset="0"/>
                <a:ea typeface="Inter" pitchFamily="34" charset="-122"/>
                <a:cs typeface="Inter" pitchFamily="34" charset="-120"/>
              </a:rPr>
              <a:t>Classification</a:t>
            </a:r>
            <a:endParaRPr lang="en-US" sz="1050" dirty="0"/>
          </a:p>
        </p:txBody>
      </p:sp>
      <p:sp>
        <p:nvSpPr>
          <p:cNvPr id="14" name="Text 12"/>
          <p:cNvSpPr txBox="1"/>
          <p:nvPr/>
        </p:nvSpPr>
        <p:spPr>
          <a:xfrm>
            <a:off x="4814499" y="1554480"/>
            <a:ext cx="256032" cy="1188720"/>
          </a:xfrm>
          <a:prstGeom prst="rect">
            <a:avLst/>
          </a:prstGeom>
          <a:noFill/>
          <a:ln/>
        </p:spPr>
        <p:txBody>
          <a:bodyPr wrap="square" lIns="0" tIns="0" rIns="0" bIns="0" rtlCol="0" anchor="ctr"/>
          <a:lstStyle/>
          <a:p>
            <a:pPr algn="ctr" indent="0" marL="0">
              <a:buNone/>
            </a:pPr>
            <a:r>
              <a:rPr lang="en-US" sz="1600" b="1" dirty="0">
                <a:solidFill>
                  <a:srgbClr val="0D9488"/>
                </a:solidFill>
                <a:latin typeface="Inter" pitchFamily="34" charset="0"/>
                <a:ea typeface="Inter" pitchFamily="34" charset="-122"/>
                <a:cs typeface="Inter" pitchFamily="34" charset="-120"/>
              </a:rPr>
              <a:t>→</a:t>
            </a:r>
            <a:endParaRPr lang="en-US" sz="1600" dirty="0"/>
          </a:p>
        </p:txBody>
      </p:sp>
      <p:sp>
        <p:nvSpPr>
          <p:cNvPr id="15" name="Shape 13"/>
          <p:cNvSpPr/>
          <p:nvPr/>
        </p:nvSpPr>
        <p:spPr>
          <a:xfrm>
            <a:off x="5070531" y="1554480"/>
            <a:ext cx="2050633" cy="1188720"/>
          </a:xfrm>
          <a:prstGeom prst="roundRect">
            <a:avLst>
              <a:gd name="adj" fmla="val 6154"/>
            </a:avLst>
          </a:prstGeom>
          <a:solidFill>
            <a:srgbClr val="0F2922"/>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16" name="Shape 14"/>
          <p:cNvSpPr/>
          <p:nvPr/>
        </p:nvSpPr>
        <p:spPr>
          <a:xfrm>
            <a:off x="5912968" y="1691640"/>
            <a:ext cx="365760" cy="365760"/>
          </a:xfrm>
          <a:prstGeom prst="ellipse">
            <a:avLst/>
          </a:prstGeom>
          <a:solidFill>
            <a:srgbClr val="0D9488"/>
          </a:solidFill>
          <a:ln/>
        </p:spPr>
      </p:sp>
      <p:sp>
        <p:nvSpPr>
          <p:cNvPr id="17" name="Text 15"/>
          <p:cNvSpPr txBox="1"/>
          <p:nvPr/>
        </p:nvSpPr>
        <p:spPr>
          <a:xfrm>
            <a:off x="5912968" y="16916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3</a:t>
            </a:r>
            <a:endParaRPr lang="en-US" sz="1300" dirty="0"/>
          </a:p>
        </p:txBody>
      </p:sp>
      <p:sp>
        <p:nvSpPr>
          <p:cNvPr id="18" name="Text 16"/>
          <p:cNvSpPr txBox="1"/>
          <p:nvPr/>
        </p:nvSpPr>
        <p:spPr>
          <a:xfrm>
            <a:off x="5070531" y="2148840"/>
            <a:ext cx="2050633" cy="502920"/>
          </a:xfrm>
          <a:prstGeom prst="rect">
            <a:avLst/>
          </a:prstGeom>
          <a:noFill/>
          <a:ln/>
        </p:spPr>
        <p:txBody>
          <a:bodyPr wrap="square" lIns="0" tIns="0" rIns="0" bIns="0" rtlCol="0" anchor="ctr"/>
          <a:lstStyle/>
          <a:p>
            <a:pPr algn="ctr" indent="0" marL="0">
              <a:lnSpc>
                <a:spcPct val="110000"/>
              </a:lnSpc>
              <a:buNone/>
            </a:pPr>
            <a:r>
              <a:rPr lang="en-US" sz="1050" b="1" dirty="0">
                <a:solidFill>
                  <a:srgbClr val="FFFFFF"/>
                </a:solidFill>
                <a:latin typeface="Inter" pitchFamily="34" charset="0"/>
                <a:ea typeface="Inter" pitchFamily="34" charset="-122"/>
                <a:cs typeface="Inter" pitchFamily="34" charset="-120"/>
              </a:rPr>
              <a:t>RAG</a:t>
            </a:r>
            <a:endParaRPr lang="en-US" sz="1050" dirty="0"/>
          </a:p>
          <a:p>
            <a:pPr algn="ctr" indent="0" marL="0">
              <a:lnSpc>
                <a:spcPct val="110000"/>
              </a:lnSpc>
              <a:buNone/>
            </a:pPr>
            <a:r>
              <a:rPr lang="en-US" sz="1050" b="1" dirty="0">
                <a:solidFill>
                  <a:srgbClr val="FFFFFF"/>
                </a:solidFill>
                <a:latin typeface="Inter" pitchFamily="34" charset="0"/>
                <a:ea typeface="Inter" pitchFamily="34" charset="-122"/>
                <a:cs typeface="Inter" pitchFamily="34" charset="-120"/>
              </a:rPr>
              <a:t>Search</a:t>
            </a:r>
            <a:endParaRPr lang="en-US" sz="1050" dirty="0"/>
          </a:p>
        </p:txBody>
      </p:sp>
      <p:sp>
        <p:nvSpPr>
          <p:cNvPr id="19" name="Text 17"/>
          <p:cNvSpPr txBox="1"/>
          <p:nvPr/>
        </p:nvSpPr>
        <p:spPr>
          <a:xfrm>
            <a:off x="7121164" y="1554480"/>
            <a:ext cx="256032" cy="1188720"/>
          </a:xfrm>
          <a:prstGeom prst="rect">
            <a:avLst/>
          </a:prstGeom>
          <a:noFill/>
          <a:ln/>
        </p:spPr>
        <p:txBody>
          <a:bodyPr wrap="square" lIns="0" tIns="0" rIns="0" bIns="0" rtlCol="0" anchor="ctr"/>
          <a:lstStyle/>
          <a:p>
            <a:pPr algn="ctr" indent="0" marL="0">
              <a:buNone/>
            </a:pPr>
            <a:r>
              <a:rPr lang="en-US" sz="1600" b="1" dirty="0">
                <a:solidFill>
                  <a:srgbClr val="0D9488"/>
                </a:solidFill>
                <a:latin typeface="Inter" pitchFamily="34" charset="0"/>
                <a:ea typeface="Inter" pitchFamily="34" charset="-122"/>
                <a:cs typeface="Inter" pitchFamily="34" charset="-120"/>
              </a:rPr>
              <a:t>→</a:t>
            </a:r>
            <a:endParaRPr lang="en-US" sz="1600" dirty="0"/>
          </a:p>
        </p:txBody>
      </p:sp>
      <p:sp>
        <p:nvSpPr>
          <p:cNvPr id="20" name="Shape 18"/>
          <p:cNvSpPr/>
          <p:nvPr/>
        </p:nvSpPr>
        <p:spPr>
          <a:xfrm>
            <a:off x="7377196" y="1554480"/>
            <a:ext cx="2050633" cy="1188720"/>
          </a:xfrm>
          <a:prstGeom prst="roundRect">
            <a:avLst>
              <a:gd name="adj" fmla="val 6154"/>
            </a:avLst>
          </a:prstGeom>
          <a:solidFill>
            <a:srgbClr val="0F2922"/>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21" name="Shape 19"/>
          <p:cNvSpPr/>
          <p:nvPr/>
        </p:nvSpPr>
        <p:spPr>
          <a:xfrm>
            <a:off x="8219633" y="1691640"/>
            <a:ext cx="365760" cy="365760"/>
          </a:xfrm>
          <a:prstGeom prst="ellipse">
            <a:avLst/>
          </a:prstGeom>
          <a:solidFill>
            <a:srgbClr val="0D9488"/>
          </a:solidFill>
          <a:ln/>
        </p:spPr>
      </p:sp>
      <p:sp>
        <p:nvSpPr>
          <p:cNvPr id="22" name="Text 20"/>
          <p:cNvSpPr txBox="1"/>
          <p:nvPr/>
        </p:nvSpPr>
        <p:spPr>
          <a:xfrm>
            <a:off x="8219633" y="16916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4</a:t>
            </a:r>
            <a:endParaRPr lang="en-US" sz="1300" dirty="0"/>
          </a:p>
        </p:txBody>
      </p:sp>
      <p:sp>
        <p:nvSpPr>
          <p:cNvPr id="23" name="Text 21"/>
          <p:cNvSpPr txBox="1"/>
          <p:nvPr/>
        </p:nvSpPr>
        <p:spPr>
          <a:xfrm>
            <a:off x="7377196" y="2148840"/>
            <a:ext cx="2050633" cy="502920"/>
          </a:xfrm>
          <a:prstGeom prst="rect">
            <a:avLst/>
          </a:prstGeom>
          <a:noFill/>
          <a:ln/>
        </p:spPr>
        <p:txBody>
          <a:bodyPr wrap="square" lIns="0" tIns="0" rIns="0" bIns="0" rtlCol="0" anchor="ctr"/>
          <a:lstStyle/>
          <a:p>
            <a:pPr algn="ctr" indent="0" marL="0">
              <a:lnSpc>
                <a:spcPct val="110000"/>
              </a:lnSpc>
              <a:buNone/>
            </a:pPr>
            <a:r>
              <a:rPr lang="en-US" sz="1050" b="1" dirty="0">
                <a:solidFill>
                  <a:srgbClr val="FFFFFF"/>
                </a:solidFill>
                <a:latin typeface="Inter" pitchFamily="34" charset="0"/>
                <a:ea typeface="Inter" pitchFamily="34" charset="-122"/>
                <a:cs typeface="Inter" pitchFamily="34" charset="-120"/>
              </a:rPr>
              <a:t>AI</a:t>
            </a:r>
            <a:endParaRPr lang="en-US" sz="1050" dirty="0"/>
          </a:p>
          <a:p>
            <a:pPr algn="ctr" indent="0" marL="0">
              <a:lnSpc>
                <a:spcPct val="110000"/>
              </a:lnSpc>
              <a:buNone/>
            </a:pPr>
            <a:r>
              <a:rPr lang="en-US" sz="1050" b="1" dirty="0">
                <a:solidFill>
                  <a:srgbClr val="FFFFFF"/>
                </a:solidFill>
                <a:latin typeface="Inter" pitchFamily="34" charset="0"/>
                <a:ea typeface="Inter" pitchFamily="34" charset="-122"/>
                <a:cs typeface="Inter" pitchFamily="34" charset="-120"/>
              </a:rPr>
              <a:t>Resolution</a:t>
            </a:r>
            <a:endParaRPr lang="en-US" sz="1050" dirty="0"/>
          </a:p>
        </p:txBody>
      </p:sp>
      <p:sp>
        <p:nvSpPr>
          <p:cNvPr id="24" name="Text 22"/>
          <p:cNvSpPr txBox="1"/>
          <p:nvPr/>
        </p:nvSpPr>
        <p:spPr>
          <a:xfrm>
            <a:off x="9427830" y="1554480"/>
            <a:ext cx="256032" cy="1188720"/>
          </a:xfrm>
          <a:prstGeom prst="rect">
            <a:avLst/>
          </a:prstGeom>
          <a:noFill/>
          <a:ln/>
        </p:spPr>
        <p:txBody>
          <a:bodyPr wrap="square" lIns="0" tIns="0" rIns="0" bIns="0" rtlCol="0" anchor="ctr"/>
          <a:lstStyle/>
          <a:p>
            <a:pPr algn="ctr" indent="0" marL="0">
              <a:buNone/>
            </a:pPr>
            <a:r>
              <a:rPr lang="en-US" sz="1600" b="1" dirty="0">
                <a:solidFill>
                  <a:srgbClr val="0D9488"/>
                </a:solidFill>
                <a:latin typeface="Inter" pitchFamily="34" charset="0"/>
                <a:ea typeface="Inter" pitchFamily="34" charset="-122"/>
                <a:cs typeface="Inter" pitchFamily="34" charset="-120"/>
              </a:rPr>
              <a:t>→</a:t>
            </a:r>
            <a:endParaRPr lang="en-US" sz="1600" dirty="0"/>
          </a:p>
        </p:txBody>
      </p:sp>
      <p:sp>
        <p:nvSpPr>
          <p:cNvPr id="25" name="Shape 23"/>
          <p:cNvSpPr/>
          <p:nvPr/>
        </p:nvSpPr>
        <p:spPr>
          <a:xfrm>
            <a:off x="9683862" y="1554480"/>
            <a:ext cx="2050633" cy="1188720"/>
          </a:xfrm>
          <a:prstGeom prst="roundRect">
            <a:avLst>
              <a:gd name="adj" fmla="val 6154"/>
            </a:avLst>
          </a:prstGeom>
          <a:solidFill>
            <a:srgbClr val="0F2922"/>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26" name="Shape 24"/>
          <p:cNvSpPr/>
          <p:nvPr/>
        </p:nvSpPr>
        <p:spPr>
          <a:xfrm>
            <a:off x="10526298" y="1691640"/>
            <a:ext cx="365760" cy="365760"/>
          </a:xfrm>
          <a:prstGeom prst="ellipse">
            <a:avLst/>
          </a:prstGeom>
          <a:solidFill>
            <a:srgbClr val="0D9488"/>
          </a:solidFill>
          <a:ln/>
        </p:spPr>
      </p:sp>
      <p:sp>
        <p:nvSpPr>
          <p:cNvPr id="27" name="Text 25"/>
          <p:cNvSpPr txBox="1"/>
          <p:nvPr/>
        </p:nvSpPr>
        <p:spPr>
          <a:xfrm>
            <a:off x="10526298" y="16916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5</a:t>
            </a:r>
            <a:endParaRPr lang="en-US" sz="1300" dirty="0"/>
          </a:p>
        </p:txBody>
      </p:sp>
      <p:sp>
        <p:nvSpPr>
          <p:cNvPr id="28" name="Text 26"/>
          <p:cNvSpPr txBox="1"/>
          <p:nvPr/>
        </p:nvSpPr>
        <p:spPr>
          <a:xfrm>
            <a:off x="9683862" y="2148840"/>
            <a:ext cx="2050633" cy="502920"/>
          </a:xfrm>
          <a:prstGeom prst="rect">
            <a:avLst/>
          </a:prstGeom>
          <a:noFill/>
          <a:ln/>
        </p:spPr>
        <p:txBody>
          <a:bodyPr wrap="square" lIns="0" tIns="0" rIns="0" bIns="0" rtlCol="0" anchor="ctr"/>
          <a:lstStyle/>
          <a:p>
            <a:pPr algn="ctr" indent="0" marL="0">
              <a:lnSpc>
                <a:spcPct val="110000"/>
              </a:lnSpc>
              <a:buNone/>
            </a:pPr>
            <a:r>
              <a:rPr lang="en-US" sz="1050" b="1" dirty="0">
                <a:solidFill>
                  <a:srgbClr val="FFFFFF"/>
                </a:solidFill>
                <a:latin typeface="Inter" pitchFamily="34" charset="0"/>
                <a:ea typeface="Inter" pitchFamily="34" charset="-122"/>
                <a:cs typeface="Inter" pitchFamily="34" charset="-120"/>
              </a:rPr>
              <a:t>Confidence</a:t>
            </a:r>
            <a:endParaRPr lang="en-US" sz="1050" dirty="0"/>
          </a:p>
          <a:p>
            <a:pPr algn="ctr" indent="0" marL="0">
              <a:lnSpc>
                <a:spcPct val="110000"/>
              </a:lnSpc>
              <a:buNone/>
            </a:pPr>
            <a:r>
              <a:rPr lang="en-US" sz="1050" b="1" dirty="0">
                <a:solidFill>
                  <a:srgbClr val="FFFFFF"/>
                </a:solidFill>
                <a:latin typeface="Inter" pitchFamily="34" charset="0"/>
                <a:ea typeface="Inter" pitchFamily="34" charset="-122"/>
                <a:cs typeface="Inter" pitchFamily="34" charset="-120"/>
              </a:rPr>
              <a:t>Gate</a:t>
            </a:r>
            <a:endParaRPr lang="en-US" sz="1050" dirty="0"/>
          </a:p>
        </p:txBody>
      </p:sp>
      <p:sp>
        <p:nvSpPr>
          <p:cNvPr id="29" name="Shape 27"/>
          <p:cNvSpPr/>
          <p:nvPr/>
        </p:nvSpPr>
        <p:spPr>
          <a:xfrm>
            <a:off x="457200" y="3063240"/>
            <a:ext cx="5349240" cy="1417320"/>
          </a:xfrm>
          <a:prstGeom prst="roundRect">
            <a:avLst>
              <a:gd name="adj" fmla="val 5161"/>
            </a:avLst>
          </a:prstGeom>
          <a:solidFill>
            <a:srgbClr val="DCFCE7"/>
          </a:solidFill>
          <a:ln w="12700">
            <a:solidFill>
              <a:srgbClr val="86EFAC"/>
            </a:solidFill>
            <a:prstDash val="solid"/>
          </a:ln>
          <a:effectLst>
            <a:outerShdw sx="100000" sy="100000" kx="0" ky="0" algn="bl" rotWithShape="0" blurRad="101600" dist="25400" dir="5400000">
              <a:srgbClr val="0F2922">
                <a:alpha val="8000"/>
              </a:srgbClr>
            </a:outerShdw>
          </a:effectLst>
        </p:spPr>
      </p:sp>
      <p:sp>
        <p:nvSpPr>
          <p:cNvPr id="30" name="Text 28"/>
          <p:cNvSpPr txBox="1"/>
          <p:nvPr/>
        </p:nvSpPr>
        <p:spPr>
          <a:xfrm>
            <a:off x="685800" y="3200400"/>
            <a:ext cx="4892040" cy="320040"/>
          </a:xfrm>
          <a:prstGeom prst="rect">
            <a:avLst/>
          </a:prstGeom>
          <a:noFill/>
          <a:ln/>
        </p:spPr>
        <p:txBody>
          <a:bodyPr wrap="square" lIns="0" tIns="0" rIns="0" bIns="0" rtlCol="0" anchor="ctr"/>
          <a:lstStyle/>
          <a:p>
            <a:pPr indent="0" marL="0">
              <a:buNone/>
            </a:pPr>
            <a:r>
              <a:rPr lang="en-US" sz="1250" b="1" dirty="0">
                <a:solidFill>
                  <a:srgbClr val="166534"/>
                </a:solidFill>
                <a:latin typeface="Plus Jakarta Sans" pitchFamily="34" charset="0"/>
                <a:ea typeface="Plus Jakarta Sans" pitchFamily="34" charset="-122"/>
                <a:cs typeface="Plus Jakarta Sans" pitchFamily="34" charset="-120"/>
              </a:rPr>
              <a:t>PATH A:  High Confidence (&gt;85%)</a:t>
            </a:r>
            <a:endParaRPr lang="en-US" sz="1250" dirty="0"/>
          </a:p>
        </p:txBody>
      </p:sp>
      <p:sp>
        <p:nvSpPr>
          <p:cNvPr id="31" name="Text 29"/>
          <p:cNvSpPr txBox="1"/>
          <p:nvPr/>
        </p:nvSpPr>
        <p:spPr>
          <a:xfrm>
            <a:off x="685800" y="3611880"/>
            <a:ext cx="4892040" cy="731520"/>
          </a:xfrm>
          <a:prstGeom prst="rect">
            <a:avLst/>
          </a:prstGeom>
          <a:noFill/>
          <a:ln/>
        </p:spPr>
        <p:txBody>
          <a:bodyPr wrap="square" lIns="0" tIns="0" rIns="0" bIns="0" rtlCol="0" anchor="ctr"/>
          <a:lstStyle/>
          <a:p>
            <a:pPr indent="0" marL="0">
              <a:lnSpc>
                <a:spcPct val="125000"/>
              </a:lnSpc>
              <a:buNone/>
            </a:pPr>
            <a:r>
              <a:rPr lang="en-US" sz="1100" dirty="0">
                <a:solidFill>
                  <a:srgbClr val="166534"/>
                </a:solidFill>
                <a:latin typeface="Inter" pitchFamily="34" charset="0"/>
                <a:ea typeface="Inter" pitchFamily="34" charset="-122"/>
                <a:cs typeface="Inter" pitchFamily="34" charset="-120"/>
              </a:rPr>
              <a:t>Auto-sent to customer → Customer Confirmation → Closed</a:t>
            </a:r>
            <a:endParaRPr lang="en-US" sz="1100" dirty="0"/>
          </a:p>
        </p:txBody>
      </p:sp>
      <p:sp>
        <p:nvSpPr>
          <p:cNvPr id="32" name="Shape 30"/>
          <p:cNvSpPr/>
          <p:nvPr/>
        </p:nvSpPr>
        <p:spPr>
          <a:xfrm>
            <a:off x="6382512" y="3063240"/>
            <a:ext cx="5349240" cy="1417320"/>
          </a:xfrm>
          <a:prstGeom prst="roundRect">
            <a:avLst>
              <a:gd name="adj" fmla="val 5161"/>
            </a:avLst>
          </a:prstGeom>
          <a:solidFill>
            <a:srgbClr val="FEF3C7"/>
          </a:solidFill>
          <a:ln w="12700">
            <a:solidFill>
              <a:srgbClr val="FCD34D"/>
            </a:solidFill>
            <a:prstDash val="solid"/>
          </a:ln>
          <a:effectLst>
            <a:outerShdw sx="100000" sy="100000" kx="0" ky="0" algn="bl" rotWithShape="0" blurRad="101600" dist="25400" dir="5400000">
              <a:srgbClr val="0F2922">
                <a:alpha val="8000"/>
              </a:srgbClr>
            </a:outerShdw>
          </a:effectLst>
        </p:spPr>
      </p:sp>
      <p:sp>
        <p:nvSpPr>
          <p:cNvPr id="33" name="Text 31"/>
          <p:cNvSpPr txBox="1"/>
          <p:nvPr/>
        </p:nvSpPr>
        <p:spPr>
          <a:xfrm>
            <a:off x="6611112" y="3200400"/>
            <a:ext cx="4892040" cy="320040"/>
          </a:xfrm>
          <a:prstGeom prst="rect">
            <a:avLst/>
          </a:prstGeom>
          <a:noFill/>
          <a:ln/>
        </p:spPr>
        <p:txBody>
          <a:bodyPr wrap="square" lIns="0" tIns="0" rIns="0" bIns="0" rtlCol="0" anchor="ctr"/>
          <a:lstStyle/>
          <a:p>
            <a:pPr indent="0" marL="0">
              <a:buNone/>
            </a:pPr>
            <a:r>
              <a:rPr lang="en-US" sz="1250" b="1" dirty="0">
                <a:solidFill>
                  <a:srgbClr val="92400E"/>
                </a:solidFill>
                <a:latin typeface="Plus Jakarta Sans" pitchFamily="34" charset="0"/>
                <a:ea typeface="Plus Jakarta Sans" pitchFamily="34" charset="-122"/>
                <a:cs typeface="Plus Jakarta Sans" pitchFamily="34" charset="-120"/>
              </a:rPr>
              <a:t>PATH B:  Low Confidence (&lt;85%)</a:t>
            </a:r>
            <a:endParaRPr lang="en-US" sz="1250" dirty="0"/>
          </a:p>
        </p:txBody>
      </p:sp>
      <p:sp>
        <p:nvSpPr>
          <p:cNvPr id="34" name="Text 32"/>
          <p:cNvSpPr txBox="1"/>
          <p:nvPr/>
        </p:nvSpPr>
        <p:spPr>
          <a:xfrm>
            <a:off x="6611112" y="3611880"/>
            <a:ext cx="4892040" cy="731520"/>
          </a:xfrm>
          <a:prstGeom prst="rect">
            <a:avLst/>
          </a:prstGeom>
          <a:noFill/>
          <a:ln/>
        </p:spPr>
        <p:txBody>
          <a:bodyPr wrap="square" lIns="0" tIns="0" rIns="0" bIns="0" rtlCol="0" anchor="ctr"/>
          <a:lstStyle/>
          <a:p>
            <a:pPr indent="0" marL="0">
              <a:lnSpc>
                <a:spcPct val="125000"/>
              </a:lnSpc>
              <a:buNone/>
            </a:pPr>
            <a:r>
              <a:rPr lang="en-US" sz="1100" dirty="0">
                <a:solidFill>
                  <a:srgbClr val="92400E"/>
                </a:solidFill>
                <a:latin typeface="Inter" pitchFamily="34" charset="0"/>
                <a:ea typeface="Inter" pitchFamily="34" charset="-122"/>
                <a:cs typeface="Inter" pitchFamily="34" charset="-120"/>
              </a:rPr>
              <a:t>Escalated to Support Agent → Review &amp; Send → Closed</a:t>
            </a:r>
            <a:endParaRPr lang="en-US" sz="1100" dirty="0"/>
          </a:p>
        </p:txBody>
      </p:sp>
      <p:sp>
        <p:nvSpPr>
          <p:cNvPr id="35" name="Shape 33"/>
          <p:cNvSpPr/>
          <p:nvPr/>
        </p:nvSpPr>
        <p:spPr>
          <a:xfrm>
            <a:off x="457200" y="4709160"/>
            <a:ext cx="11277295" cy="777240"/>
          </a:xfrm>
          <a:prstGeom prst="roundRect">
            <a:avLst>
              <a:gd name="adj" fmla="val 9412"/>
            </a:avLst>
          </a:prstGeom>
          <a:solidFill>
            <a:srgbClr val="0F2922"/>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36" name="Text 34"/>
          <p:cNvSpPr txBox="1"/>
          <p:nvPr/>
        </p:nvSpPr>
        <p:spPr>
          <a:xfrm>
            <a:off x="457200" y="4709160"/>
            <a:ext cx="11277295" cy="777240"/>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Lifecycle Reopen State:   Resolved → Reopened by Customer → In Progress → Final Resolution</a:t>
            </a:r>
            <a:endParaRPr lang="en-US" sz="1200" dirty="0"/>
          </a:p>
        </p:txBody>
      </p:sp>
      <p:sp>
        <p:nvSpPr>
          <p:cNvPr id="37" name="Text 35"/>
          <p:cNvSpPr txBox="1"/>
          <p:nvPr/>
        </p:nvSpPr>
        <p:spPr>
          <a:xfrm>
            <a:off x="11475720" y="6510528"/>
            <a:ext cx="365760" cy="256032"/>
          </a:xfrm>
          <a:prstGeom prst="rect">
            <a:avLst/>
          </a:prstGeom>
          <a:noFill/>
          <a:ln/>
        </p:spPr>
        <p:txBody>
          <a:bodyPr wrap="square" lIns="0" tIns="0" rIns="0" bIns="0" rtlCol="0" anchor="ctr"/>
          <a:lstStyle/>
          <a:p>
            <a:pPr algn="r" indent="0" marL="0">
              <a:buNone/>
            </a:pPr>
            <a:r>
              <a:rPr lang="en-US" sz="900" b="1" dirty="0">
                <a:solidFill>
                  <a:srgbClr val="CBD5E1"/>
                </a:solidFill>
                <a:latin typeface="Inter" pitchFamily="34" charset="0"/>
                <a:ea typeface="Inter" pitchFamily="34" charset="-122"/>
                <a:cs typeface="Inter"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9"/>
        </a:solidFill>
      </p:bgPr>
    </p:bg>
    <p:spTree>
      <p:nvGrpSpPr>
        <p:cNvPr id="1" name=""/>
        <p:cNvGrpSpPr/>
        <p:nvPr/>
      </p:nvGrpSpPr>
      <p:grpSpPr>
        <a:xfrm>
          <a:off x="0" y="0"/>
          <a:ext cx="0" cy="0"/>
          <a:chOff x="0" y="0"/>
          <a:chExt cx="0" cy="0"/>
        </a:xfrm>
      </p:grpSpPr>
      <p:sp>
        <p:nvSpPr>
          <p:cNvPr id="2" name="Text 0"/>
          <p:cNvSpPr txBox="1"/>
          <p:nvPr/>
        </p:nvSpPr>
        <p:spPr>
          <a:xfrm>
            <a:off x="457200" y="320040"/>
            <a:ext cx="10607040" cy="274320"/>
          </a:xfrm>
          <a:prstGeom prst="rect">
            <a:avLst/>
          </a:prstGeom>
          <a:noFill/>
          <a:ln/>
        </p:spPr>
        <p:txBody>
          <a:bodyPr wrap="square" lIns="0" tIns="0" rIns="0" bIns="0" rtlCol="0" anchor="ctr"/>
          <a:lstStyle/>
          <a:p>
            <a:pPr indent="0" marL="0">
              <a:buNone/>
            </a:pPr>
            <a:r>
              <a:rPr lang="en-US" sz="1100" b="1" spc="100" kern="0" dirty="0">
                <a:solidFill>
                  <a:srgbClr val="0D9488"/>
                </a:solidFill>
                <a:latin typeface="Inter" pitchFamily="34" charset="0"/>
                <a:ea typeface="Inter" pitchFamily="34" charset="-122"/>
                <a:cs typeface="Inter" pitchFamily="34" charset="-120"/>
              </a:rPr>
              <a:t>PRODUCT WALKTHROUGH</a:t>
            </a:r>
            <a:endParaRPr lang="en-US" sz="1100" dirty="0"/>
          </a:p>
        </p:txBody>
      </p:sp>
      <p:sp>
        <p:nvSpPr>
          <p:cNvPr id="3" name="Text 1"/>
          <p:cNvSpPr txBox="1"/>
          <p:nvPr/>
        </p:nvSpPr>
        <p:spPr>
          <a:xfrm>
            <a:off x="457200" y="566928"/>
            <a:ext cx="10972800" cy="566928"/>
          </a:xfrm>
          <a:prstGeom prst="rect">
            <a:avLst/>
          </a:prstGeom>
          <a:noFill/>
          <a:ln/>
        </p:spPr>
        <p:txBody>
          <a:bodyPr wrap="square" lIns="0" tIns="0" rIns="0" bIns="0" rtlCol="0" anchor="ctr"/>
          <a:lstStyle/>
          <a:p>
            <a:pPr indent="0" marL="0">
              <a:buNone/>
            </a:pPr>
            <a:r>
              <a:rPr lang="en-US" sz="2600" b="1" dirty="0">
                <a:solidFill>
                  <a:srgbClr val="0F2922"/>
                </a:solidFill>
                <a:latin typeface="Plus Jakarta Sans" pitchFamily="34" charset="0"/>
                <a:ea typeface="Plus Jakarta Sans" pitchFamily="34" charset="-122"/>
                <a:cs typeface="Plus Jakarta Sans" pitchFamily="34" charset="-120"/>
              </a:rPr>
              <a:t>Customer Portal — Raise &amp; Track Tickets</a:t>
            </a:r>
            <a:endParaRPr lang="en-US" sz="2600" dirty="0"/>
          </a:p>
        </p:txBody>
      </p:sp>
      <p:sp>
        <p:nvSpPr>
          <p:cNvPr id="4" name="Shape 2"/>
          <p:cNvSpPr/>
          <p:nvPr/>
        </p:nvSpPr>
        <p:spPr>
          <a:xfrm>
            <a:off x="457200" y="1207008"/>
            <a:ext cx="11277295" cy="18288"/>
          </a:xfrm>
          <a:prstGeom prst="rect">
            <a:avLst/>
          </a:prstGeom>
          <a:solidFill>
            <a:srgbClr val="E2E8F0"/>
          </a:solidFill>
          <a:ln/>
        </p:spPr>
      </p:sp>
      <p:sp>
        <p:nvSpPr>
          <p:cNvPr id="5" name="Shape 3"/>
          <p:cNvSpPr/>
          <p:nvPr/>
        </p:nvSpPr>
        <p:spPr>
          <a:xfrm>
            <a:off x="402336" y="1362456"/>
            <a:ext cx="5588356" cy="2937992"/>
          </a:xfrm>
          <a:prstGeom prst="roundRect">
            <a:avLst>
              <a:gd name="adj" fmla="val 2490"/>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pic>
        <p:nvPicPr>
          <p:cNvPr id="6" name="Image 0" descr="/home/claude/images/img2_create_ticket.png">    </p:cNvPr>
          <p:cNvPicPr>
            <a:picLocks noChangeAspect="1"/>
          </p:cNvPicPr>
          <p:nvPr/>
        </p:nvPicPr>
        <p:blipFill>
          <a:blip r:embed="rId1"/>
          <a:stretch>
            <a:fillRect/>
          </a:stretch>
        </p:blipFill>
        <p:spPr>
          <a:xfrm>
            <a:off x="457200" y="1417320"/>
            <a:ext cx="5478628" cy="2828264"/>
          </a:xfrm>
          <a:prstGeom prst="rect">
            <a:avLst/>
          </a:prstGeom>
        </p:spPr>
      </p:pic>
      <p:sp>
        <p:nvSpPr>
          <p:cNvPr id="7" name="Shape 4"/>
          <p:cNvSpPr/>
          <p:nvPr/>
        </p:nvSpPr>
        <p:spPr>
          <a:xfrm>
            <a:off x="6201004" y="1362456"/>
            <a:ext cx="5588356" cy="2937992"/>
          </a:xfrm>
          <a:prstGeom prst="roundRect">
            <a:avLst>
              <a:gd name="adj" fmla="val 2490"/>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pic>
        <p:nvPicPr>
          <p:cNvPr id="8" name="Image 1" descr="/home/claude/images/img1_my_tickets.png">    </p:cNvPr>
          <p:cNvPicPr>
            <a:picLocks noChangeAspect="1"/>
          </p:cNvPicPr>
          <p:nvPr/>
        </p:nvPicPr>
        <p:blipFill>
          <a:blip r:embed="rId2"/>
          <a:stretch>
            <a:fillRect/>
          </a:stretch>
        </p:blipFill>
        <p:spPr>
          <a:xfrm>
            <a:off x="6255868" y="1417320"/>
            <a:ext cx="5478628" cy="2828264"/>
          </a:xfrm>
          <a:prstGeom prst="rect">
            <a:avLst/>
          </a:prstGeom>
        </p:spPr>
      </p:pic>
      <p:sp>
        <p:nvSpPr>
          <p:cNvPr id="9" name="Text 5"/>
          <p:cNvSpPr txBox="1"/>
          <p:nvPr/>
        </p:nvSpPr>
        <p:spPr>
          <a:xfrm>
            <a:off x="457200" y="4355312"/>
            <a:ext cx="5478628" cy="274320"/>
          </a:xfrm>
          <a:prstGeom prst="rect">
            <a:avLst/>
          </a:prstGeom>
          <a:noFill/>
          <a:ln/>
        </p:spPr>
        <p:txBody>
          <a:bodyPr wrap="square" lIns="0" tIns="0" rIns="0" bIns="0" rtlCol="0" anchor="ctr"/>
          <a:lstStyle/>
          <a:p>
            <a:pPr algn="ctr" indent="0" marL="0">
              <a:buNone/>
            </a:pPr>
            <a:r>
              <a:rPr lang="en-US" sz="1100" b="1" dirty="0">
                <a:solidFill>
                  <a:srgbClr val="0F2922"/>
                </a:solidFill>
                <a:latin typeface="Inter" pitchFamily="34" charset="0"/>
                <a:ea typeface="Inter" pitchFamily="34" charset="-122"/>
                <a:cs typeface="Inter" pitchFamily="34" charset="-120"/>
              </a:rPr>
              <a:t>Create New Ticket — AI-Guided Intake Form</a:t>
            </a:r>
            <a:endParaRPr lang="en-US" sz="1100" dirty="0"/>
          </a:p>
        </p:txBody>
      </p:sp>
      <p:sp>
        <p:nvSpPr>
          <p:cNvPr id="10" name="Text 6"/>
          <p:cNvSpPr txBox="1"/>
          <p:nvPr/>
        </p:nvSpPr>
        <p:spPr>
          <a:xfrm>
            <a:off x="6255868" y="4355312"/>
            <a:ext cx="5478628" cy="274320"/>
          </a:xfrm>
          <a:prstGeom prst="rect">
            <a:avLst/>
          </a:prstGeom>
          <a:noFill/>
          <a:ln/>
        </p:spPr>
        <p:txBody>
          <a:bodyPr wrap="square" lIns="0" tIns="0" rIns="0" bIns="0" rtlCol="0" anchor="ctr"/>
          <a:lstStyle/>
          <a:p>
            <a:pPr algn="ctr" indent="0" marL="0">
              <a:buNone/>
            </a:pPr>
            <a:r>
              <a:rPr lang="en-US" sz="1100" b="1" dirty="0">
                <a:solidFill>
                  <a:srgbClr val="0F2922"/>
                </a:solidFill>
                <a:latin typeface="Inter" pitchFamily="34" charset="0"/>
                <a:ea typeface="Inter" pitchFamily="34" charset="-122"/>
                <a:cs typeface="Inter" pitchFamily="34" charset="-120"/>
              </a:rPr>
              <a:t>My Tickets — Status, AI Confidence &amp; Actions</a:t>
            </a:r>
            <a:endParaRPr lang="en-US" sz="1100" dirty="0"/>
          </a:p>
        </p:txBody>
      </p:sp>
      <p:sp>
        <p:nvSpPr>
          <p:cNvPr id="11" name="Shape 7"/>
          <p:cNvSpPr/>
          <p:nvPr/>
        </p:nvSpPr>
        <p:spPr>
          <a:xfrm>
            <a:off x="457200" y="4812512"/>
            <a:ext cx="3576218" cy="1588288"/>
          </a:xfrm>
          <a:prstGeom prst="roundRect">
            <a:avLst>
              <a:gd name="adj" fmla="val 4606"/>
            </a:avLst>
          </a:prstGeom>
          <a:solidFill>
            <a:srgbClr val="FFFFFF"/>
          </a:solidFill>
          <a:ln w="12700">
            <a:solidFill>
              <a:srgbClr val="E2E8F0"/>
            </a:solidFill>
            <a:prstDash val="solid"/>
          </a:ln>
        </p:spPr>
      </p:sp>
      <p:sp>
        <p:nvSpPr>
          <p:cNvPr id="12" name="Shape 8"/>
          <p:cNvSpPr/>
          <p:nvPr/>
        </p:nvSpPr>
        <p:spPr>
          <a:xfrm>
            <a:off x="603504" y="4940528"/>
            <a:ext cx="274320" cy="274320"/>
          </a:xfrm>
          <a:prstGeom prst="ellipse">
            <a:avLst/>
          </a:prstGeom>
          <a:solidFill>
            <a:srgbClr val="0D9488"/>
          </a:solidFill>
          <a:ln/>
        </p:spPr>
      </p:sp>
      <p:sp>
        <p:nvSpPr>
          <p:cNvPr id="13" name="Text 9"/>
          <p:cNvSpPr txBox="1"/>
          <p:nvPr/>
        </p:nvSpPr>
        <p:spPr>
          <a:xfrm>
            <a:off x="603504" y="49405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Plus Jakarta Sans" pitchFamily="34" charset="-122"/>
                <a:cs typeface="Plus Jakarta Sans" pitchFamily="34" charset="-120"/>
              </a:rPr>
              <a:t>1</a:t>
            </a:r>
            <a:endParaRPr lang="en-US" sz="1200" dirty="0"/>
          </a:p>
        </p:txBody>
      </p:sp>
      <p:sp>
        <p:nvSpPr>
          <p:cNvPr id="14" name="Text 10"/>
          <p:cNvSpPr txBox="1"/>
          <p:nvPr/>
        </p:nvSpPr>
        <p:spPr>
          <a:xfrm>
            <a:off x="960120" y="4940528"/>
            <a:ext cx="2936138" cy="274320"/>
          </a:xfrm>
          <a:prstGeom prst="rect">
            <a:avLst/>
          </a:prstGeom>
          <a:noFill/>
          <a:ln/>
        </p:spPr>
        <p:txBody>
          <a:bodyPr wrap="square" lIns="0" tIns="0" rIns="0" bIns="0" rtlCol="0" anchor="ctr"/>
          <a:lstStyle/>
          <a:p>
            <a:pPr indent="0" marL="0">
              <a:buNone/>
            </a:pPr>
            <a:r>
              <a:rPr lang="en-US" sz="1200" b="1" dirty="0">
                <a:solidFill>
                  <a:srgbClr val="0F2922"/>
                </a:solidFill>
                <a:latin typeface="Plus Jakarta Sans" pitchFamily="34" charset="0"/>
                <a:ea typeface="Plus Jakarta Sans" pitchFamily="34" charset="-122"/>
                <a:cs typeface="Plus Jakarta Sans" pitchFamily="34" charset="-120"/>
              </a:rPr>
              <a:t>Guided Intake</a:t>
            </a:r>
            <a:endParaRPr lang="en-US" sz="1200" dirty="0"/>
          </a:p>
        </p:txBody>
      </p:sp>
      <p:sp>
        <p:nvSpPr>
          <p:cNvPr id="15" name="Text 11"/>
          <p:cNvSpPr txBox="1"/>
          <p:nvPr/>
        </p:nvSpPr>
        <p:spPr>
          <a:xfrm>
            <a:off x="640080" y="5288000"/>
            <a:ext cx="3210458" cy="1021360"/>
          </a:xfrm>
          <a:prstGeom prst="rect">
            <a:avLst/>
          </a:prstGeom>
          <a:noFill/>
          <a:ln/>
        </p:spPr>
        <p:txBody>
          <a:bodyPr wrap="square" lIns="0" tIns="0" rIns="0" bIns="0" rtlCol="0" anchor="t"/>
          <a:lstStyle/>
          <a:p>
            <a:pPr indent="0" marL="0">
              <a:lnSpc>
                <a:spcPct val="118000"/>
              </a:lnSpc>
              <a:buNone/>
            </a:pPr>
            <a:r>
              <a:rPr lang="en-US" sz="1000" dirty="0">
                <a:solidFill>
                  <a:srgbClr val="475569"/>
                </a:solidFill>
                <a:latin typeface="Inter" pitchFamily="34" charset="0"/>
                <a:ea typeface="Inter" pitchFamily="34" charset="-122"/>
                <a:cs typeface="Inter" pitchFamily="34" charset="-120"/>
              </a:rPr>
              <a:t>Subject, description, category, and impact fields feed directly into AI classification and severity scoring.</a:t>
            </a:r>
            <a:endParaRPr lang="en-US" sz="1000" dirty="0"/>
          </a:p>
        </p:txBody>
      </p:sp>
      <p:sp>
        <p:nvSpPr>
          <p:cNvPr id="16" name="Shape 12"/>
          <p:cNvSpPr/>
          <p:nvPr/>
        </p:nvSpPr>
        <p:spPr>
          <a:xfrm>
            <a:off x="4307738" y="4812512"/>
            <a:ext cx="3576218" cy="1588288"/>
          </a:xfrm>
          <a:prstGeom prst="roundRect">
            <a:avLst>
              <a:gd name="adj" fmla="val 4606"/>
            </a:avLst>
          </a:prstGeom>
          <a:solidFill>
            <a:srgbClr val="FFFFFF"/>
          </a:solidFill>
          <a:ln w="12700">
            <a:solidFill>
              <a:srgbClr val="E2E8F0"/>
            </a:solidFill>
            <a:prstDash val="solid"/>
          </a:ln>
        </p:spPr>
      </p:sp>
      <p:sp>
        <p:nvSpPr>
          <p:cNvPr id="17" name="Shape 13"/>
          <p:cNvSpPr/>
          <p:nvPr/>
        </p:nvSpPr>
        <p:spPr>
          <a:xfrm>
            <a:off x="4454042" y="4940528"/>
            <a:ext cx="274320" cy="274320"/>
          </a:xfrm>
          <a:prstGeom prst="ellipse">
            <a:avLst/>
          </a:prstGeom>
          <a:solidFill>
            <a:srgbClr val="0D9488"/>
          </a:solidFill>
          <a:ln/>
        </p:spPr>
      </p:sp>
      <p:sp>
        <p:nvSpPr>
          <p:cNvPr id="18" name="Text 14"/>
          <p:cNvSpPr txBox="1"/>
          <p:nvPr/>
        </p:nvSpPr>
        <p:spPr>
          <a:xfrm>
            <a:off x="4454042" y="49405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Plus Jakarta Sans" pitchFamily="34" charset="-122"/>
                <a:cs typeface="Plus Jakarta Sans" pitchFamily="34" charset="-120"/>
              </a:rPr>
              <a:t>2</a:t>
            </a:r>
            <a:endParaRPr lang="en-US" sz="1200" dirty="0"/>
          </a:p>
        </p:txBody>
      </p:sp>
      <p:sp>
        <p:nvSpPr>
          <p:cNvPr id="19" name="Text 15"/>
          <p:cNvSpPr txBox="1"/>
          <p:nvPr/>
        </p:nvSpPr>
        <p:spPr>
          <a:xfrm>
            <a:off x="4810658" y="4940528"/>
            <a:ext cx="2936138" cy="274320"/>
          </a:xfrm>
          <a:prstGeom prst="rect">
            <a:avLst/>
          </a:prstGeom>
          <a:noFill/>
          <a:ln/>
        </p:spPr>
        <p:txBody>
          <a:bodyPr wrap="square" lIns="0" tIns="0" rIns="0" bIns="0" rtlCol="0" anchor="ctr"/>
          <a:lstStyle/>
          <a:p>
            <a:pPr indent="0" marL="0">
              <a:buNone/>
            </a:pPr>
            <a:r>
              <a:rPr lang="en-US" sz="1200" b="1" dirty="0">
                <a:solidFill>
                  <a:srgbClr val="0F2922"/>
                </a:solidFill>
                <a:latin typeface="Plus Jakarta Sans" pitchFamily="34" charset="0"/>
                <a:ea typeface="Plus Jakarta Sans" pitchFamily="34" charset="-122"/>
                <a:cs typeface="Plus Jakarta Sans" pitchFamily="34" charset="-120"/>
              </a:rPr>
              <a:t>Live AI Confidence</a:t>
            </a:r>
            <a:endParaRPr lang="en-US" sz="1200" dirty="0"/>
          </a:p>
        </p:txBody>
      </p:sp>
      <p:sp>
        <p:nvSpPr>
          <p:cNvPr id="20" name="Text 16"/>
          <p:cNvSpPr txBox="1"/>
          <p:nvPr/>
        </p:nvSpPr>
        <p:spPr>
          <a:xfrm>
            <a:off x="4490618" y="5288000"/>
            <a:ext cx="3210458" cy="1021360"/>
          </a:xfrm>
          <a:prstGeom prst="rect">
            <a:avLst/>
          </a:prstGeom>
          <a:noFill/>
          <a:ln/>
        </p:spPr>
        <p:txBody>
          <a:bodyPr wrap="square" lIns="0" tIns="0" rIns="0" bIns="0" rtlCol="0" anchor="t"/>
          <a:lstStyle/>
          <a:p>
            <a:pPr indent="0" marL="0">
              <a:lnSpc>
                <a:spcPct val="118000"/>
              </a:lnSpc>
              <a:buNone/>
            </a:pPr>
            <a:r>
              <a:rPr lang="en-US" sz="1000" dirty="0">
                <a:solidFill>
                  <a:srgbClr val="475569"/>
                </a:solidFill>
                <a:latin typeface="Inter" pitchFamily="34" charset="0"/>
                <a:ea typeface="Inter" pitchFamily="34" charset="-122"/>
                <a:cs typeface="Inter" pitchFamily="34" charset="-120"/>
              </a:rPr>
              <a:t>Every ticket shows its routing method and AI confidence score at a glance.</a:t>
            </a:r>
            <a:endParaRPr lang="en-US" sz="1000" dirty="0"/>
          </a:p>
        </p:txBody>
      </p:sp>
      <p:sp>
        <p:nvSpPr>
          <p:cNvPr id="21" name="Shape 17"/>
          <p:cNvSpPr/>
          <p:nvPr/>
        </p:nvSpPr>
        <p:spPr>
          <a:xfrm>
            <a:off x="8158277" y="4812512"/>
            <a:ext cx="3576218" cy="1588288"/>
          </a:xfrm>
          <a:prstGeom prst="roundRect">
            <a:avLst>
              <a:gd name="adj" fmla="val 4606"/>
            </a:avLst>
          </a:prstGeom>
          <a:solidFill>
            <a:srgbClr val="FFFFFF"/>
          </a:solidFill>
          <a:ln w="12700">
            <a:solidFill>
              <a:srgbClr val="E2E8F0"/>
            </a:solidFill>
            <a:prstDash val="solid"/>
          </a:ln>
        </p:spPr>
      </p:sp>
      <p:sp>
        <p:nvSpPr>
          <p:cNvPr id="22" name="Shape 18"/>
          <p:cNvSpPr/>
          <p:nvPr/>
        </p:nvSpPr>
        <p:spPr>
          <a:xfrm>
            <a:off x="8304581" y="4940528"/>
            <a:ext cx="274320" cy="274320"/>
          </a:xfrm>
          <a:prstGeom prst="ellipse">
            <a:avLst/>
          </a:prstGeom>
          <a:solidFill>
            <a:srgbClr val="0D9488"/>
          </a:solidFill>
          <a:ln/>
        </p:spPr>
      </p:sp>
      <p:sp>
        <p:nvSpPr>
          <p:cNvPr id="23" name="Text 19"/>
          <p:cNvSpPr txBox="1"/>
          <p:nvPr/>
        </p:nvSpPr>
        <p:spPr>
          <a:xfrm>
            <a:off x="8304581" y="49405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Plus Jakarta Sans" pitchFamily="34" charset="-122"/>
                <a:cs typeface="Plus Jakarta Sans" pitchFamily="34" charset="-120"/>
              </a:rPr>
              <a:t>3</a:t>
            </a:r>
            <a:endParaRPr lang="en-US" sz="1200" dirty="0"/>
          </a:p>
        </p:txBody>
      </p:sp>
      <p:sp>
        <p:nvSpPr>
          <p:cNvPr id="24" name="Text 20"/>
          <p:cNvSpPr txBox="1"/>
          <p:nvPr/>
        </p:nvSpPr>
        <p:spPr>
          <a:xfrm>
            <a:off x="8661197" y="4940528"/>
            <a:ext cx="2936138" cy="274320"/>
          </a:xfrm>
          <a:prstGeom prst="rect">
            <a:avLst/>
          </a:prstGeom>
          <a:noFill/>
          <a:ln/>
        </p:spPr>
        <p:txBody>
          <a:bodyPr wrap="square" lIns="0" tIns="0" rIns="0" bIns="0" rtlCol="0" anchor="ctr"/>
          <a:lstStyle/>
          <a:p>
            <a:pPr indent="0" marL="0">
              <a:buNone/>
            </a:pPr>
            <a:r>
              <a:rPr lang="en-US" sz="1200" b="1" dirty="0">
                <a:solidFill>
                  <a:srgbClr val="0F2922"/>
                </a:solidFill>
                <a:latin typeface="Plus Jakarta Sans" pitchFamily="34" charset="0"/>
                <a:ea typeface="Plus Jakarta Sans" pitchFamily="34" charset="-122"/>
                <a:cs typeface="Plus Jakarta Sans" pitchFamily="34" charset="-120"/>
              </a:rPr>
              <a:t>One-Tap Resolution</a:t>
            </a:r>
            <a:endParaRPr lang="en-US" sz="1200" dirty="0"/>
          </a:p>
        </p:txBody>
      </p:sp>
      <p:sp>
        <p:nvSpPr>
          <p:cNvPr id="25" name="Text 21"/>
          <p:cNvSpPr txBox="1"/>
          <p:nvPr/>
        </p:nvSpPr>
        <p:spPr>
          <a:xfrm>
            <a:off x="8341157" y="5288000"/>
            <a:ext cx="3210458" cy="1021360"/>
          </a:xfrm>
          <a:prstGeom prst="rect">
            <a:avLst/>
          </a:prstGeom>
          <a:noFill/>
          <a:ln/>
        </p:spPr>
        <p:txBody>
          <a:bodyPr wrap="square" lIns="0" tIns="0" rIns="0" bIns="0" rtlCol="0" anchor="t"/>
          <a:lstStyle/>
          <a:p>
            <a:pPr indent="0" marL="0">
              <a:lnSpc>
                <a:spcPct val="118000"/>
              </a:lnSpc>
              <a:buNone/>
            </a:pPr>
            <a:r>
              <a:rPr lang="en-US" sz="1000" dirty="0">
                <a:solidFill>
                  <a:srgbClr val="475569"/>
                </a:solidFill>
                <a:latin typeface="Inter" pitchFamily="34" charset="0"/>
                <a:ea typeface="Inter" pitchFamily="34" charset="-122"/>
                <a:cs typeface="Inter" pitchFamily="34" charset="-120"/>
              </a:rPr>
              <a:t>Customers can Accept &amp; Close, Request Human Help, or Reopen a ticket directly from the list.</a:t>
            </a:r>
            <a:endParaRPr lang="en-US" sz="1000" dirty="0"/>
          </a:p>
        </p:txBody>
      </p:sp>
      <p:sp>
        <p:nvSpPr>
          <p:cNvPr id="26" name="Text 22"/>
          <p:cNvSpPr txBox="1"/>
          <p:nvPr/>
        </p:nvSpPr>
        <p:spPr>
          <a:xfrm>
            <a:off x="11475720" y="6510528"/>
            <a:ext cx="365760" cy="256032"/>
          </a:xfrm>
          <a:prstGeom prst="rect">
            <a:avLst/>
          </a:prstGeom>
          <a:noFill/>
          <a:ln/>
        </p:spPr>
        <p:txBody>
          <a:bodyPr wrap="square" lIns="0" tIns="0" rIns="0" bIns="0" rtlCol="0" anchor="ctr"/>
          <a:lstStyle/>
          <a:p>
            <a:pPr algn="r" indent="0" marL="0">
              <a:buNone/>
            </a:pPr>
            <a:r>
              <a:rPr lang="en-US" sz="900" b="1" dirty="0">
                <a:solidFill>
                  <a:srgbClr val="CBD5E1"/>
                </a:solidFill>
                <a:latin typeface="Inter" pitchFamily="34" charset="0"/>
                <a:ea typeface="Inter" pitchFamily="34" charset="-122"/>
                <a:cs typeface="Inter"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9"/>
        </a:solidFill>
      </p:bgPr>
    </p:bg>
    <p:spTree>
      <p:nvGrpSpPr>
        <p:cNvPr id="1" name=""/>
        <p:cNvGrpSpPr/>
        <p:nvPr/>
      </p:nvGrpSpPr>
      <p:grpSpPr>
        <a:xfrm>
          <a:off x="0" y="0"/>
          <a:ext cx="0" cy="0"/>
          <a:chOff x="0" y="0"/>
          <a:chExt cx="0" cy="0"/>
        </a:xfrm>
      </p:grpSpPr>
      <p:sp>
        <p:nvSpPr>
          <p:cNvPr id="2" name="Text 0"/>
          <p:cNvSpPr txBox="1"/>
          <p:nvPr/>
        </p:nvSpPr>
        <p:spPr>
          <a:xfrm>
            <a:off x="457200" y="320040"/>
            <a:ext cx="10607040" cy="274320"/>
          </a:xfrm>
          <a:prstGeom prst="rect">
            <a:avLst/>
          </a:prstGeom>
          <a:noFill/>
          <a:ln/>
        </p:spPr>
        <p:txBody>
          <a:bodyPr wrap="square" lIns="0" tIns="0" rIns="0" bIns="0" rtlCol="0" anchor="ctr"/>
          <a:lstStyle/>
          <a:p>
            <a:pPr indent="0" marL="0">
              <a:buNone/>
            </a:pPr>
            <a:r>
              <a:rPr lang="en-US" sz="1100" b="1" spc="100" kern="0" dirty="0">
                <a:solidFill>
                  <a:srgbClr val="0D9488"/>
                </a:solidFill>
                <a:latin typeface="Inter" pitchFamily="34" charset="0"/>
                <a:ea typeface="Inter" pitchFamily="34" charset="-122"/>
                <a:cs typeface="Inter" pitchFamily="34" charset="-120"/>
              </a:rPr>
              <a:t>PRODUCT WALKTHROUGH</a:t>
            </a:r>
            <a:endParaRPr lang="en-US" sz="1100" dirty="0"/>
          </a:p>
        </p:txBody>
      </p:sp>
      <p:sp>
        <p:nvSpPr>
          <p:cNvPr id="3" name="Text 1"/>
          <p:cNvSpPr txBox="1"/>
          <p:nvPr/>
        </p:nvSpPr>
        <p:spPr>
          <a:xfrm>
            <a:off x="457200" y="566928"/>
            <a:ext cx="10972800" cy="566928"/>
          </a:xfrm>
          <a:prstGeom prst="rect">
            <a:avLst/>
          </a:prstGeom>
          <a:noFill/>
          <a:ln/>
        </p:spPr>
        <p:txBody>
          <a:bodyPr wrap="square" lIns="0" tIns="0" rIns="0" bIns="0" rtlCol="0" anchor="ctr"/>
          <a:lstStyle/>
          <a:p>
            <a:pPr indent="0" marL="0">
              <a:buNone/>
            </a:pPr>
            <a:r>
              <a:rPr lang="en-US" sz="2600" b="1" dirty="0">
                <a:solidFill>
                  <a:srgbClr val="0F2922"/>
                </a:solidFill>
                <a:latin typeface="Plus Jakarta Sans" pitchFamily="34" charset="0"/>
                <a:ea typeface="Plus Jakarta Sans" pitchFamily="34" charset="-122"/>
                <a:cs typeface="Plus Jakarta Sans" pitchFamily="34" charset="-120"/>
              </a:rPr>
              <a:t>Customer Portal — Dashboard &amp; Notifications</a:t>
            </a:r>
            <a:endParaRPr lang="en-US" sz="2600" dirty="0"/>
          </a:p>
        </p:txBody>
      </p:sp>
      <p:sp>
        <p:nvSpPr>
          <p:cNvPr id="4" name="Shape 2"/>
          <p:cNvSpPr/>
          <p:nvPr/>
        </p:nvSpPr>
        <p:spPr>
          <a:xfrm>
            <a:off x="457200" y="1207008"/>
            <a:ext cx="11277295" cy="18288"/>
          </a:xfrm>
          <a:prstGeom prst="rect">
            <a:avLst/>
          </a:prstGeom>
          <a:solidFill>
            <a:srgbClr val="E2E8F0"/>
          </a:solidFill>
          <a:ln/>
        </p:spPr>
      </p:sp>
      <p:sp>
        <p:nvSpPr>
          <p:cNvPr id="5" name="Shape 3"/>
          <p:cNvSpPr/>
          <p:nvPr/>
        </p:nvSpPr>
        <p:spPr>
          <a:xfrm>
            <a:off x="402336" y="1362456"/>
            <a:ext cx="5588356" cy="2937992"/>
          </a:xfrm>
          <a:prstGeom prst="roundRect">
            <a:avLst>
              <a:gd name="adj" fmla="val 2490"/>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pic>
        <p:nvPicPr>
          <p:cNvPr id="6" name="Image 0" descr="/home/claude/images/img4_customer_dashboard.png">    </p:cNvPr>
          <p:cNvPicPr>
            <a:picLocks noChangeAspect="1"/>
          </p:cNvPicPr>
          <p:nvPr/>
        </p:nvPicPr>
        <p:blipFill>
          <a:blip r:embed="rId1"/>
          <a:stretch>
            <a:fillRect/>
          </a:stretch>
        </p:blipFill>
        <p:spPr>
          <a:xfrm>
            <a:off x="457200" y="1417320"/>
            <a:ext cx="5478628" cy="2828264"/>
          </a:xfrm>
          <a:prstGeom prst="rect">
            <a:avLst/>
          </a:prstGeom>
        </p:spPr>
      </p:pic>
      <p:sp>
        <p:nvSpPr>
          <p:cNvPr id="7" name="Shape 4"/>
          <p:cNvSpPr/>
          <p:nvPr/>
        </p:nvSpPr>
        <p:spPr>
          <a:xfrm>
            <a:off x="6201004" y="1362456"/>
            <a:ext cx="5588356" cy="2937992"/>
          </a:xfrm>
          <a:prstGeom prst="roundRect">
            <a:avLst>
              <a:gd name="adj" fmla="val 2490"/>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pic>
        <p:nvPicPr>
          <p:cNvPr id="8" name="Image 1" descr="/home/claude/images/img3_email_logs.png">    </p:cNvPr>
          <p:cNvPicPr>
            <a:picLocks noChangeAspect="1"/>
          </p:cNvPicPr>
          <p:nvPr/>
        </p:nvPicPr>
        <p:blipFill>
          <a:blip r:embed="rId2"/>
          <a:stretch>
            <a:fillRect/>
          </a:stretch>
        </p:blipFill>
        <p:spPr>
          <a:xfrm>
            <a:off x="6255868" y="1417320"/>
            <a:ext cx="5478628" cy="2828264"/>
          </a:xfrm>
          <a:prstGeom prst="rect">
            <a:avLst/>
          </a:prstGeom>
        </p:spPr>
      </p:pic>
      <p:sp>
        <p:nvSpPr>
          <p:cNvPr id="9" name="Text 5"/>
          <p:cNvSpPr txBox="1"/>
          <p:nvPr/>
        </p:nvSpPr>
        <p:spPr>
          <a:xfrm>
            <a:off x="457200" y="4355312"/>
            <a:ext cx="5478628" cy="274320"/>
          </a:xfrm>
          <a:prstGeom prst="rect">
            <a:avLst/>
          </a:prstGeom>
          <a:noFill/>
          <a:ln/>
        </p:spPr>
        <p:txBody>
          <a:bodyPr wrap="square" lIns="0" tIns="0" rIns="0" bIns="0" rtlCol="0" anchor="ctr"/>
          <a:lstStyle/>
          <a:p>
            <a:pPr algn="ctr" indent="0" marL="0">
              <a:buNone/>
            </a:pPr>
            <a:r>
              <a:rPr lang="en-US" sz="1100" b="1" dirty="0">
                <a:solidFill>
                  <a:srgbClr val="0F2922"/>
                </a:solidFill>
                <a:latin typeface="Inter" pitchFamily="34" charset="0"/>
                <a:ea typeface="Inter" pitchFamily="34" charset="-122"/>
                <a:cs typeface="Inter" pitchFamily="34" charset="-120"/>
              </a:rPr>
              <a:t>Account Dashboard — Ticket Summary at a Glance</a:t>
            </a:r>
            <a:endParaRPr lang="en-US" sz="1100" dirty="0"/>
          </a:p>
        </p:txBody>
      </p:sp>
      <p:sp>
        <p:nvSpPr>
          <p:cNvPr id="10" name="Text 6"/>
          <p:cNvSpPr txBox="1"/>
          <p:nvPr/>
        </p:nvSpPr>
        <p:spPr>
          <a:xfrm>
            <a:off x="6255868" y="4355312"/>
            <a:ext cx="5478628" cy="274320"/>
          </a:xfrm>
          <a:prstGeom prst="rect">
            <a:avLst/>
          </a:prstGeom>
          <a:noFill/>
          <a:ln/>
        </p:spPr>
        <p:txBody>
          <a:bodyPr wrap="square" lIns="0" tIns="0" rIns="0" bIns="0" rtlCol="0" anchor="ctr"/>
          <a:lstStyle/>
          <a:p>
            <a:pPr algn="ctr" indent="0" marL="0">
              <a:buNone/>
            </a:pPr>
            <a:r>
              <a:rPr lang="en-US" sz="1100" b="1" dirty="0">
                <a:solidFill>
                  <a:srgbClr val="0F2922"/>
                </a:solidFill>
                <a:latin typeface="Inter" pitchFamily="34" charset="0"/>
                <a:ea typeface="Inter" pitchFamily="34" charset="-122"/>
                <a:cs typeface="Inter" pitchFamily="34" charset="-120"/>
              </a:rPr>
              <a:t>Email Logs — Full Notification History</a:t>
            </a:r>
            <a:endParaRPr lang="en-US" sz="1100" dirty="0"/>
          </a:p>
        </p:txBody>
      </p:sp>
      <p:sp>
        <p:nvSpPr>
          <p:cNvPr id="11" name="Shape 7"/>
          <p:cNvSpPr/>
          <p:nvPr/>
        </p:nvSpPr>
        <p:spPr>
          <a:xfrm>
            <a:off x="457200" y="4812512"/>
            <a:ext cx="3576218" cy="1588288"/>
          </a:xfrm>
          <a:prstGeom prst="roundRect">
            <a:avLst>
              <a:gd name="adj" fmla="val 4606"/>
            </a:avLst>
          </a:prstGeom>
          <a:solidFill>
            <a:srgbClr val="FFFFFF"/>
          </a:solidFill>
          <a:ln w="12700">
            <a:solidFill>
              <a:srgbClr val="E2E8F0"/>
            </a:solidFill>
            <a:prstDash val="solid"/>
          </a:ln>
        </p:spPr>
      </p:sp>
      <p:sp>
        <p:nvSpPr>
          <p:cNvPr id="12" name="Shape 8"/>
          <p:cNvSpPr/>
          <p:nvPr/>
        </p:nvSpPr>
        <p:spPr>
          <a:xfrm>
            <a:off x="603504" y="4940528"/>
            <a:ext cx="274320" cy="274320"/>
          </a:xfrm>
          <a:prstGeom prst="ellipse">
            <a:avLst/>
          </a:prstGeom>
          <a:solidFill>
            <a:srgbClr val="0D9488"/>
          </a:solidFill>
          <a:ln/>
        </p:spPr>
      </p:sp>
      <p:sp>
        <p:nvSpPr>
          <p:cNvPr id="13" name="Text 9"/>
          <p:cNvSpPr txBox="1"/>
          <p:nvPr/>
        </p:nvSpPr>
        <p:spPr>
          <a:xfrm>
            <a:off x="603504" y="49405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Plus Jakarta Sans" pitchFamily="34" charset="-122"/>
                <a:cs typeface="Plus Jakarta Sans" pitchFamily="34" charset="-120"/>
              </a:rPr>
              <a:t>1</a:t>
            </a:r>
            <a:endParaRPr lang="en-US" sz="1200" dirty="0"/>
          </a:p>
        </p:txBody>
      </p:sp>
      <p:sp>
        <p:nvSpPr>
          <p:cNvPr id="14" name="Text 10"/>
          <p:cNvSpPr txBox="1"/>
          <p:nvPr/>
        </p:nvSpPr>
        <p:spPr>
          <a:xfrm>
            <a:off x="960120" y="4940528"/>
            <a:ext cx="2936138" cy="274320"/>
          </a:xfrm>
          <a:prstGeom prst="rect">
            <a:avLst/>
          </a:prstGeom>
          <a:noFill/>
          <a:ln/>
        </p:spPr>
        <p:txBody>
          <a:bodyPr wrap="square" lIns="0" tIns="0" rIns="0" bIns="0" rtlCol="0" anchor="ctr"/>
          <a:lstStyle/>
          <a:p>
            <a:pPr indent="0" marL="0">
              <a:buNone/>
            </a:pPr>
            <a:r>
              <a:rPr lang="en-US" sz="1200" b="1" dirty="0">
                <a:solidFill>
                  <a:srgbClr val="0F2922"/>
                </a:solidFill>
                <a:latin typeface="Plus Jakarta Sans" pitchFamily="34" charset="0"/>
                <a:ea typeface="Plus Jakarta Sans" pitchFamily="34" charset="-122"/>
                <a:cs typeface="Plus Jakarta Sans" pitchFamily="34" charset="-120"/>
              </a:rPr>
              <a:t>Real-Time Overview</a:t>
            </a:r>
            <a:endParaRPr lang="en-US" sz="1200" dirty="0"/>
          </a:p>
        </p:txBody>
      </p:sp>
      <p:sp>
        <p:nvSpPr>
          <p:cNvPr id="15" name="Text 11"/>
          <p:cNvSpPr txBox="1"/>
          <p:nvPr/>
        </p:nvSpPr>
        <p:spPr>
          <a:xfrm>
            <a:off x="640080" y="5288000"/>
            <a:ext cx="3210458" cy="1021360"/>
          </a:xfrm>
          <a:prstGeom prst="rect">
            <a:avLst/>
          </a:prstGeom>
          <a:noFill/>
          <a:ln/>
        </p:spPr>
        <p:txBody>
          <a:bodyPr wrap="square" lIns="0" tIns="0" rIns="0" bIns="0" rtlCol="0" anchor="t"/>
          <a:lstStyle/>
          <a:p>
            <a:pPr indent="0" marL="0">
              <a:lnSpc>
                <a:spcPct val="118000"/>
              </a:lnSpc>
              <a:buNone/>
            </a:pPr>
            <a:r>
              <a:rPr lang="en-US" sz="1000" dirty="0">
                <a:solidFill>
                  <a:srgbClr val="475569"/>
                </a:solidFill>
                <a:latin typeface="Inter" pitchFamily="34" charset="0"/>
                <a:ea typeface="Inter" pitchFamily="34" charset="-122"/>
                <a:cs typeface="Inter" pitchFamily="34" charset="-120"/>
              </a:rPr>
              <a:t>Total, open, and resolved ticket counts update instantly for the signed-in customer.</a:t>
            </a:r>
            <a:endParaRPr lang="en-US" sz="1000" dirty="0"/>
          </a:p>
        </p:txBody>
      </p:sp>
      <p:sp>
        <p:nvSpPr>
          <p:cNvPr id="16" name="Shape 12"/>
          <p:cNvSpPr/>
          <p:nvPr/>
        </p:nvSpPr>
        <p:spPr>
          <a:xfrm>
            <a:off x="4307738" y="4812512"/>
            <a:ext cx="3576218" cy="1588288"/>
          </a:xfrm>
          <a:prstGeom prst="roundRect">
            <a:avLst>
              <a:gd name="adj" fmla="val 4606"/>
            </a:avLst>
          </a:prstGeom>
          <a:solidFill>
            <a:srgbClr val="FFFFFF"/>
          </a:solidFill>
          <a:ln w="12700">
            <a:solidFill>
              <a:srgbClr val="E2E8F0"/>
            </a:solidFill>
            <a:prstDash val="solid"/>
          </a:ln>
        </p:spPr>
      </p:sp>
      <p:sp>
        <p:nvSpPr>
          <p:cNvPr id="17" name="Shape 13"/>
          <p:cNvSpPr/>
          <p:nvPr/>
        </p:nvSpPr>
        <p:spPr>
          <a:xfrm>
            <a:off x="4454042" y="4940528"/>
            <a:ext cx="274320" cy="274320"/>
          </a:xfrm>
          <a:prstGeom prst="ellipse">
            <a:avLst/>
          </a:prstGeom>
          <a:solidFill>
            <a:srgbClr val="0D9488"/>
          </a:solidFill>
          <a:ln/>
        </p:spPr>
      </p:sp>
      <p:sp>
        <p:nvSpPr>
          <p:cNvPr id="18" name="Text 14"/>
          <p:cNvSpPr txBox="1"/>
          <p:nvPr/>
        </p:nvSpPr>
        <p:spPr>
          <a:xfrm>
            <a:off x="4454042" y="49405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Plus Jakarta Sans" pitchFamily="34" charset="-122"/>
                <a:cs typeface="Plus Jakarta Sans" pitchFamily="34" charset="-120"/>
              </a:rPr>
              <a:t>2</a:t>
            </a:r>
            <a:endParaRPr lang="en-US" sz="1200" dirty="0"/>
          </a:p>
        </p:txBody>
      </p:sp>
      <p:sp>
        <p:nvSpPr>
          <p:cNvPr id="19" name="Text 15"/>
          <p:cNvSpPr txBox="1"/>
          <p:nvPr/>
        </p:nvSpPr>
        <p:spPr>
          <a:xfrm>
            <a:off x="4810658" y="4940528"/>
            <a:ext cx="2936138" cy="274320"/>
          </a:xfrm>
          <a:prstGeom prst="rect">
            <a:avLst/>
          </a:prstGeom>
          <a:noFill/>
          <a:ln/>
        </p:spPr>
        <p:txBody>
          <a:bodyPr wrap="square" lIns="0" tIns="0" rIns="0" bIns="0" rtlCol="0" anchor="ctr"/>
          <a:lstStyle/>
          <a:p>
            <a:pPr indent="0" marL="0">
              <a:buNone/>
            </a:pPr>
            <a:r>
              <a:rPr lang="en-US" sz="1200" b="1" dirty="0">
                <a:solidFill>
                  <a:srgbClr val="0F2922"/>
                </a:solidFill>
                <a:latin typeface="Plus Jakarta Sans" pitchFamily="34" charset="0"/>
                <a:ea typeface="Plus Jakarta Sans" pitchFamily="34" charset="-122"/>
                <a:cs typeface="Plus Jakarta Sans" pitchFamily="34" charset="-120"/>
              </a:rPr>
              <a:t>Automated Notifications</a:t>
            </a:r>
            <a:endParaRPr lang="en-US" sz="1200" dirty="0"/>
          </a:p>
        </p:txBody>
      </p:sp>
      <p:sp>
        <p:nvSpPr>
          <p:cNvPr id="20" name="Text 16"/>
          <p:cNvSpPr txBox="1"/>
          <p:nvPr/>
        </p:nvSpPr>
        <p:spPr>
          <a:xfrm>
            <a:off x="4490618" y="5288000"/>
            <a:ext cx="3210458" cy="1021360"/>
          </a:xfrm>
          <a:prstGeom prst="rect">
            <a:avLst/>
          </a:prstGeom>
          <a:noFill/>
          <a:ln/>
        </p:spPr>
        <p:txBody>
          <a:bodyPr wrap="square" lIns="0" tIns="0" rIns="0" bIns="0" rtlCol="0" anchor="t"/>
          <a:lstStyle/>
          <a:p>
            <a:pPr indent="0" marL="0">
              <a:lnSpc>
                <a:spcPct val="118000"/>
              </a:lnSpc>
              <a:buNone/>
            </a:pPr>
            <a:r>
              <a:rPr lang="en-US" sz="1000" dirty="0">
                <a:solidFill>
                  <a:srgbClr val="475569"/>
                </a:solidFill>
                <a:latin typeface="Inter" pitchFamily="34" charset="0"/>
                <a:ea typeface="Inter" pitchFamily="34" charset="-122"/>
                <a:cs typeface="Inter" pitchFamily="34" charset="-120"/>
              </a:rPr>
              <a:t>Resolved, escalated, and AI-resolved emails are sent automatically at every workflow step.</a:t>
            </a:r>
            <a:endParaRPr lang="en-US" sz="1000" dirty="0"/>
          </a:p>
        </p:txBody>
      </p:sp>
      <p:sp>
        <p:nvSpPr>
          <p:cNvPr id="21" name="Shape 17"/>
          <p:cNvSpPr/>
          <p:nvPr/>
        </p:nvSpPr>
        <p:spPr>
          <a:xfrm>
            <a:off x="8158277" y="4812512"/>
            <a:ext cx="3576218" cy="1588288"/>
          </a:xfrm>
          <a:prstGeom prst="roundRect">
            <a:avLst>
              <a:gd name="adj" fmla="val 4606"/>
            </a:avLst>
          </a:prstGeom>
          <a:solidFill>
            <a:srgbClr val="FFFFFF"/>
          </a:solidFill>
          <a:ln w="12700">
            <a:solidFill>
              <a:srgbClr val="E2E8F0"/>
            </a:solidFill>
            <a:prstDash val="solid"/>
          </a:ln>
        </p:spPr>
      </p:sp>
      <p:sp>
        <p:nvSpPr>
          <p:cNvPr id="22" name="Shape 18"/>
          <p:cNvSpPr/>
          <p:nvPr/>
        </p:nvSpPr>
        <p:spPr>
          <a:xfrm>
            <a:off x="8304581" y="4940528"/>
            <a:ext cx="274320" cy="274320"/>
          </a:xfrm>
          <a:prstGeom prst="ellipse">
            <a:avLst/>
          </a:prstGeom>
          <a:solidFill>
            <a:srgbClr val="0D9488"/>
          </a:solidFill>
          <a:ln/>
        </p:spPr>
      </p:sp>
      <p:sp>
        <p:nvSpPr>
          <p:cNvPr id="23" name="Text 19"/>
          <p:cNvSpPr txBox="1"/>
          <p:nvPr/>
        </p:nvSpPr>
        <p:spPr>
          <a:xfrm>
            <a:off x="8304581" y="49405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Plus Jakarta Sans" pitchFamily="34" charset="-122"/>
                <a:cs typeface="Plus Jakarta Sans" pitchFamily="34" charset="-120"/>
              </a:rPr>
              <a:t>3</a:t>
            </a:r>
            <a:endParaRPr lang="en-US" sz="1200" dirty="0"/>
          </a:p>
        </p:txBody>
      </p:sp>
      <p:sp>
        <p:nvSpPr>
          <p:cNvPr id="24" name="Text 20"/>
          <p:cNvSpPr txBox="1"/>
          <p:nvPr/>
        </p:nvSpPr>
        <p:spPr>
          <a:xfrm>
            <a:off x="8661197" y="4940528"/>
            <a:ext cx="2936138" cy="274320"/>
          </a:xfrm>
          <a:prstGeom prst="rect">
            <a:avLst/>
          </a:prstGeom>
          <a:noFill/>
          <a:ln/>
        </p:spPr>
        <p:txBody>
          <a:bodyPr wrap="square" lIns="0" tIns="0" rIns="0" bIns="0" rtlCol="0" anchor="ctr"/>
          <a:lstStyle/>
          <a:p>
            <a:pPr indent="0" marL="0">
              <a:buNone/>
            </a:pPr>
            <a:r>
              <a:rPr lang="en-US" sz="1200" b="1" dirty="0">
                <a:solidFill>
                  <a:srgbClr val="0F2922"/>
                </a:solidFill>
                <a:latin typeface="Plus Jakarta Sans" pitchFamily="34" charset="0"/>
                <a:ea typeface="Plus Jakarta Sans" pitchFamily="34" charset="-122"/>
                <a:cs typeface="Plus Jakarta Sans" pitchFamily="34" charset="-120"/>
              </a:rPr>
              <a:t>Full Audit Trail</a:t>
            </a:r>
            <a:endParaRPr lang="en-US" sz="1200" dirty="0"/>
          </a:p>
        </p:txBody>
      </p:sp>
      <p:sp>
        <p:nvSpPr>
          <p:cNvPr id="25" name="Text 21"/>
          <p:cNvSpPr txBox="1"/>
          <p:nvPr/>
        </p:nvSpPr>
        <p:spPr>
          <a:xfrm>
            <a:off x="8341157" y="5288000"/>
            <a:ext cx="3210458" cy="1021360"/>
          </a:xfrm>
          <a:prstGeom prst="rect">
            <a:avLst/>
          </a:prstGeom>
          <a:noFill/>
          <a:ln/>
        </p:spPr>
        <p:txBody>
          <a:bodyPr wrap="square" lIns="0" tIns="0" rIns="0" bIns="0" rtlCol="0" anchor="t"/>
          <a:lstStyle/>
          <a:p>
            <a:pPr indent="0" marL="0">
              <a:lnSpc>
                <a:spcPct val="118000"/>
              </a:lnSpc>
              <a:buNone/>
            </a:pPr>
            <a:r>
              <a:rPr lang="en-US" sz="1000" dirty="0">
                <a:solidFill>
                  <a:srgbClr val="475569"/>
                </a:solidFill>
                <a:latin typeface="Inter" pitchFamily="34" charset="0"/>
                <a:ea typeface="Inter" pitchFamily="34" charset="-122"/>
                <a:cs typeface="Inter" pitchFamily="34" charset="-120"/>
              </a:rPr>
              <a:t>Every customer communication is logged with delivery status for complete transparency.</a:t>
            </a:r>
            <a:endParaRPr lang="en-US" sz="1000" dirty="0"/>
          </a:p>
        </p:txBody>
      </p:sp>
      <p:sp>
        <p:nvSpPr>
          <p:cNvPr id="26" name="Text 22"/>
          <p:cNvSpPr txBox="1"/>
          <p:nvPr/>
        </p:nvSpPr>
        <p:spPr>
          <a:xfrm>
            <a:off x="11475720" y="6510528"/>
            <a:ext cx="365760" cy="256032"/>
          </a:xfrm>
          <a:prstGeom prst="rect">
            <a:avLst/>
          </a:prstGeom>
          <a:noFill/>
          <a:ln/>
        </p:spPr>
        <p:txBody>
          <a:bodyPr wrap="square" lIns="0" tIns="0" rIns="0" bIns="0" rtlCol="0" anchor="ctr"/>
          <a:lstStyle/>
          <a:p>
            <a:pPr algn="r" indent="0" marL="0">
              <a:buNone/>
            </a:pPr>
            <a:r>
              <a:rPr lang="en-US" sz="900" b="1" dirty="0">
                <a:solidFill>
                  <a:srgbClr val="CBD5E1"/>
                </a:solidFill>
                <a:latin typeface="Inter" pitchFamily="34" charset="0"/>
                <a:ea typeface="Inter" pitchFamily="34" charset="-122"/>
                <a:cs typeface="Inter"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9"/>
        </a:solidFill>
      </p:bgPr>
    </p:bg>
    <p:spTree>
      <p:nvGrpSpPr>
        <p:cNvPr id="1" name=""/>
        <p:cNvGrpSpPr/>
        <p:nvPr/>
      </p:nvGrpSpPr>
      <p:grpSpPr>
        <a:xfrm>
          <a:off x="0" y="0"/>
          <a:ext cx="0" cy="0"/>
          <a:chOff x="0" y="0"/>
          <a:chExt cx="0" cy="0"/>
        </a:xfrm>
      </p:grpSpPr>
      <p:sp>
        <p:nvSpPr>
          <p:cNvPr id="2" name="Text 0"/>
          <p:cNvSpPr txBox="1"/>
          <p:nvPr/>
        </p:nvSpPr>
        <p:spPr>
          <a:xfrm>
            <a:off x="457200" y="320040"/>
            <a:ext cx="10607040" cy="274320"/>
          </a:xfrm>
          <a:prstGeom prst="rect">
            <a:avLst/>
          </a:prstGeom>
          <a:noFill/>
          <a:ln/>
        </p:spPr>
        <p:txBody>
          <a:bodyPr wrap="square" lIns="0" tIns="0" rIns="0" bIns="0" rtlCol="0" anchor="ctr"/>
          <a:lstStyle/>
          <a:p>
            <a:pPr indent="0" marL="0">
              <a:buNone/>
            </a:pPr>
            <a:r>
              <a:rPr lang="en-US" sz="1100" b="1" spc="100" kern="0" dirty="0">
                <a:solidFill>
                  <a:srgbClr val="0D9488"/>
                </a:solidFill>
                <a:latin typeface="Inter" pitchFamily="34" charset="0"/>
                <a:ea typeface="Inter" pitchFamily="34" charset="-122"/>
                <a:cs typeface="Inter" pitchFamily="34" charset="-120"/>
              </a:rPr>
              <a:t>PRODUCT WALKTHROUGH</a:t>
            </a:r>
            <a:endParaRPr lang="en-US" sz="1100" dirty="0"/>
          </a:p>
        </p:txBody>
      </p:sp>
      <p:sp>
        <p:nvSpPr>
          <p:cNvPr id="3" name="Text 1"/>
          <p:cNvSpPr txBox="1"/>
          <p:nvPr/>
        </p:nvSpPr>
        <p:spPr>
          <a:xfrm>
            <a:off x="457200" y="566928"/>
            <a:ext cx="10972800" cy="566928"/>
          </a:xfrm>
          <a:prstGeom prst="rect">
            <a:avLst/>
          </a:prstGeom>
          <a:noFill/>
          <a:ln/>
        </p:spPr>
        <p:txBody>
          <a:bodyPr wrap="square" lIns="0" tIns="0" rIns="0" bIns="0" rtlCol="0" anchor="ctr"/>
          <a:lstStyle/>
          <a:p>
            <a:pPr indent="0" marL="0">
              <a:buNone/>
            </a:pPr>
            <a:r>
              <a:rPr lang="en-US" sz="2600" b="1" dirty="0">
                <a:solidFill>
                  <a:srgbClr val="0F2922"/>
                </a:solidFill>
                <a:latin typeface="Plus Jakarta Sans" pitchFamily="34" charset="0"/>
                <a:ea typeface="Plus Jakarta Sans" pitchFamily="34" charset="-122"/>
                <a:cs typeface="Plus Jakarta Sans" pitchFamily="34" charset="-120"/>
              </a:rPr>
              <a:t>Support Agent Portal — AI-Assisted Resolution</a:t>
            </a:r>
            <a:endParaRPr lang="en-US" sz="2600" dirty="0"/>
          </a:p>
        </p:txBody>
      </p:sp>
      <p:sp>
        <p:nvSpPr>
          <p:cNvPr id="4" name="Shape 2"/>
          <p:cNvSpPr/>
          <p:nvPr/>
        </p:nvSpPr>
        <p:spPr>
          <a:xfrm>
            <a:off x="457200" y="1207008"/>
            <a:ext cx="11277295" cy="18288"/>
          </a:xfrm>
          <a:prstGeom prst="rect">
            <a:avLst/>
          </a:prstGeom>
          <a:solidFill>
            <a:srgbClr val="E2E8F0"/>
          </a:solidFill>
          <a:ln/>
        </p:spPr>
      </p:sp>
      <p:sp>
        <p:nvSpPr>
          <p:cNvPr id="5" name="Shape 3"/>
          <p:cNvSpPr/>
          <p:nvPr/>
        </p:nvSpPr>
        <p:spPr>
          <a:xfrm>
            <a:off x="402336" y="1362456"/>
            <a:ext cx="5588356" cy="2937992"/>
          </a:xfrm>
          <a:prstGeom prst="roundRect">
            <a:avLst>
              <a:gd name="adj" fmla="val 2490"/>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pic>
        <p:nvPicPr>
          <p:cNvPr id="6" name="Image 0" descr="/home/claude/images/img5_agent_dashboard.png">    </p:cNvPr>
          <p:cNvPicPr>
            <a:picLocks noChangeAspect="1"/>
          </p:cNvPicPr>
          <p:nvPr/>
        </p:nvPicPr>
        <p:blipFill>
          <a:blip r:embed="rId1"/>
          <a:stretch>
            <a:fillRect/>
          </a:stretch>
        </p:blipFill>
        <p:spPr>
          <a:xfrm>
            <a:off x="457200" y="1417320"/>
            <a:ext cx="5478628" cy="2828264"/>
          </a:xfrm>
          <a:prstGeom prst="rect">
            <a:avLst/>
          </a:prstGeom>
        </p:spPr>
      </p:pic>
      <p:sp>
        <p:nvSpPr>
          <p:cNvPr id="7" name="Shape 4"/>
          <p:cNvSpPr/>
          <p:nvPr/>
        </p:nvSpPr>
        <p:spPr>
          <a:xfrm>
            <a:off x="6201004" y="1362456"/>
            <a:ext cx="5588356" cy="2937992"/>
          </a:xfrm>
          <a:prstGeom prst="roundRect">
            <a:avLst>
              <a:gd name="adj" fmla="val 2490"/>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pic>
        <p:nvPicPr>
          <p:cNvPr id="8" name="Image 1" descr="/home/claude/images/img6_ticket_detail.png">    </p:cNvPr>
          <p:cNvPicPr>
            <a:picLocks noChangeAspect="1"/>
          </p:cNvPicPr>
          <p:nvPr/>
        </p:nvPicPr>
        <p:blipFill>
          <a:blip r:embed="rId2"/>
          <a:stretch>
            <a:fillRect/>
          </a:stretch>
        </p:blipFill>
        <p:spPr>
          <a:xfrm>
            <a:off x="6255868" y="1417320"/>
            <a:ext cx="5478628" cy="2828264"/>
          </a:xfrm>
          <a:prstGeom prst="rect">
            <a:avLst/>
          </a:prstGeom>
        </p:spPr>
      </p:pic>
      <p:sp>
        <p:nvSpPr>
          <p:cNvPr id="9" name="Text 5"/>
          <p:cNvSpPr txBox="1"/>
          <p:nvPr/>
        </p:nvSpPr>
        <p:spPr>
          <a:xfrm>
            <a:off x="457200" y="4355312"/>
            <a:ext cx="5478628" cy="274320"/>
          </a:xfrm>
          <a:prstGeom prst="rect">
            <a:avLst/>
          </a:prstGeom>
          <a:noFill/>
          <a:ln/>
        </p:spPr>
        <p:txBody>
          <a:bodyPr wrap="square" lIns="0" tIns="0" rIns="0" bIns="0" rtlCol="0" anchor="ctr"/>
          <a:lstStyle/>
          <a:p>
            <a:pPr algn="ctr" indent="0" marL="0">
              <a:buNone/>
            </a:pPr>
            <a:r>
              <a:rPr lang="en-US" sz="1100" b="1" dirty="0">
                <a:solidFill>
                  <a:srgbClr val="0F2922"/>
                </a:solidFill>
                <a:latin typeface="Inter" pitchFamily="34" charset="0"/>
                <a:ea typeface="Inter" pitchFamily="34" charset="-122"/>
                <a:cs typeface="Inter" pitchFamily="34" charset="-120"/>
              </a:rPr>
              <a:t>Agent Dashboard — Workload &amp; Classification Summary</a:t>
            </a:r>
            <a:endParaRPr lang="en-US" sz="1100" dirty="0"/>
          </a:p>
        </p:txBody>
      </p:sp>
      <p:sp>
        <p:nvSpPr>
          <p:cNvPr id="10" name="Text 6"/>
          <p:cNvSpPr txBox="1"/>
          <p:nvPr/>
        </p:nvSpPr>
        <p:spPr>
          <a:xfrm>
            <a:off x="6255868" y="4355312"/>
            <a:ext cx="5478628" cy="274320"/>
          </a:xfrm>
          <a:prstGeom prst="rect">
            <a:avLst/>
          </a:prstGeom>
          <a:noFill/>
          <a:ln/>
        </p:spPr>
        <p:txBody>
          <a:bodyPr wrap="square" lIns="0" tIns="0" rIns="0" bIns="0" rtlCol="0" anchor="ctr"/>
          <a:lstStyle/>
          <a:p>
            <a:pPr algn="ctr" indent="0" marL="0">
              <a:buNone/>
            </a:pPr>
            <a:r>
              <a:rPr lang="en-US" sz="1100" b="1" dirty="0">
                <a:solidFill>
                  <a:srgbClr val="0F2922"/>
                </a:solidFill>
                <a:latin typeface="Inter" pitchFamily="34" charset="0"/>
                <a:ea typeface="Inter" pitchFamily="34" charset="-122"/>
                <a:cs typeface="Inter" pitchFamily="34" charset="-120"/>
              </a:rPr>
              <a:t>Ticket Detail — AI (RAG) Suggested Resolution</a:t>
            </a:r>
            <a:endParaRPr lang="en-US" sz="1100" dirty="0"/>
          </a:p>
        </p:txBody>
      </p:sp>
      <p:sp>
        <p:nvSpPr>
          <p:cNvPr id="11" name="Shape 7"/>
          <p:cNvSpPr/>
          <p:nvPr/>
        </p:nvSpPr>
        <p:spPr>
          <a:xfrm>
            <a:off x="457200" y="4812512"/>
            <a:ext cx="3576218" cy="1588288"/>
          </a:xfrm>
          <a:prstGeom prst="roundRect">
            <a:avLst>
              <a:gd name="adj" fmla="val 4606"/>
            </a:avLst>
          </a:prstGeom>
          <a:solidFill>
            <a:srgbClr val="FFFFFF"/>
          </a:solidFill>
          <a:ln w="12700">
            <a:solidFill>
              <a:srgbClr val="E2E8F0"/>
            </a:solidFill>
            <a:prstDash val="solid"/>
          </a:ln>
        </p:spPr>
      </p:sp>
      <p:sp>
        <p:nvSpPr>
          <p:cNvPr id="12" name="Shape 8"/>
          <p:cNvSpPr/>
          <p:nvPr/>
        </p:nvSpPr>
        <p:spPr>
          <a:xfrm>
            <a:off x="603504" y="4940528"/>
            <a:ext cx="274320" cy="274320"/>
          </a:xfrm>
          <a:prstGeom prst="ellipse">
            <a:avLst/>
          </a:prstGeom>
          <a:solidFill>
            <a:srgbClr val="0D9488"/>
          </a:solidFill>
          <a:ln/>
        </p:spPr>
      </p:sp>
      <p:sp>
        <p:nvSpPr>
          <p:cNvPr id="13" name="Text 9"/>
          <p:cNvSpPr txBox="1"/>
          <p:nvPr/>
        </p:nvSpPr>
        <p:spPr>
          <a:xfrm>
            <a:off x="603504" y="49405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Plus Jakarta Sans" pitchFamily="34" charset="-122"/>
                <a:cs typeface="Plus Jakarta Sans" pitchFamily="34" charset="-120"/>
              </a:rPr>
              <a:t>1</a:t>
            </a:r>
            <a:endParaRPr lang="en-US" sz="1200" dirty="0"/>
          </a:p>
        </p:txBody>
      </p:sp>
      <p:sp>
        <p:nvSpPr>
          <p:cNvPr id="14" name="Text 10"/>
          <p:cNvSpPr txBox="1"/>
          <p:nvPr/>
        </p:nvSpPr>
        <p:spPr>
          <a:xfrm>
            <a:off x="960120" y="4940528"/>
            <a:ext cx="2936138" cy="274320"/>
          </a:xfrm>
          <a:prstGeom prst="rect">
            <a:avLst/>
          </a:prstGeom>
          <a:noFill/>
          <a:ln/>
        </p:spPr>
        <p:txBody>
          <a:bodyPr wrap="square" lIns="0" tIns="0" rIns="0" bIns="0" rtlCol="0" anchor="ctr"/>
          <a:lstStyle/>
          <a:p>
            <a:pPr indent="0" marL="0">
              <a:buNone/>
            </a:pPr>
            <a:r>
              <a:rPr lang="en-US" sz="1200" b="1" dirty="0">
                <a:solidFill>
                  <a:srgbClr val="0F2922"/>
                </a:solidFill>
                <a:latin typeface="Plus Jakarta Sans" pitchFamily="34" charset="0"/>
                <a:ea typeface="Plus Jakarta Sans" pitchFamily="34" charset="-122"/>
                <a:cs typeface="Plus Jakarta Sans" pitchFamily="34" charset="-120"/>
              </a:rPr>
              <a:t>Workload at a Glance</a:t>
            </a:r>
            <a:endParaRPr lang="en-US" sz="1200" dirty="0"/>
          </a:p>
        </p:txBody>
      </p:sp>
      <p:sp>
        <p:nvSpPr>
          <p:cNvPr id="15" name="Text 11"/>
          <p:cNvSpPr txBox="1"/>
          <p:nvPr/>
        </p:nvSpPr>
        <p:spPr>
          <a:xfrm>
            <a:off x="640080" y="5288000"/>
            <a:ext cx="3210458" cy="1021360"/>
          </a:xfrm>
          <a:prstGeom prst="rect">
            <a:avLst/>
          </a:prstGeom>
          <a:noFill/>
          <a:ln/>
        </p:spPr>
        <p:txBody>
          <a:bodyPr wrap="square" lIns="0" tIns="0" rIns="0" bIns="0" rtlCol="0" anchor="t"/>
          <a:lstStyle/>
          <a:p>
            <a:pPr indent="0" marL="0">
              <a:lnSpc>
                <a:spcPct val="118000"/>
              </a:lnSpc>
              <a:buNone/>
            </a:pPr>
            <a:r>
              <a:rPr lang="en-US" sz="1000" dirty="0">
                <a:solidFill>
                  <a:srgbClr val="475569"/>
                </a:solidFill>
                <a:latin typeface="Inter" pitchFamily="34" charset="0"/>
                <a:ea typeface="Inter" pitchFamily="34" charset="-122"/>
                <a:cs typeface="Inter" pitchFamily="34" charset="-120"/>
              </a:rPr>
              <a:t>Open, in-progress, and resolved ticket counts broken down by priority and category.</a:t>
            </a:r>
            <a:endParaRPr lang="en-US" sz="1000" dirty="0"/>
          </a:p>
        </p:txBody>
      </p:sp>
      <p:sp>
        <p:nvSpPr>
          <p:cNvPr id="16" name="Shape 12"/>
          <p:cNvSpPr/>
          <p:nvPr/>
        </p:nvSpPr>
        <p:spPr>
          <a:xfrm>
            <a:off x="4307738" y="4812512"/>
            <a:ext cx="3576218" cy="1588288"/>
          </a:xfrm>
          <a:prstGeom prst="roundRect">
            <a:avLst>
              <a:gd name="adj" fmla="val 4606"/>
            </a:avLst>
          </a:prstGeom>
          <a:solidFill>
            <a:srgbClr val="FFFFFF"/>
          </a:solidFill>
          <a:ln w="12700">
            <a:solidFill>
              <a:srgbClr val="E2E8F0"/>
            </a:solidFill>
            <a:prstDash val="solid"/>
          </a:ln>
        </p:spPr>
      </p:sp>
      <p:sp>
        <p:nvSpPr>
          <p:cNvPr id="17" name="Shape 13"/>
          <p:cNvSpPr/>
          <p:nvPr/>
        </p:nvSpPr>
        <p:spPr>
          <a:xfrm>
            <a:off x="4454042" y="4940528"/>
            <a:ext cx="274320" cy="274320"/>
          </a:xfrm>
          <a:prstGeom prst="ellipse">
            <a:avLst/>
          </a:prstGeom>
          <a:solidFill>
            <a:srgbClr val="0D9488"/>
          </a:solidFill>
          <a:ln/>
        </p:spPr>
      </p:sp>
      <p:sp>
        <p:nvSpPr>
          <p:cNvPr id="18" name="Text 14"/>
          <p:cNvSpPr txBox="1"/>
          <p:nvPr/>
        </p:nvSpPr>
        <p:spPr>
          <a:xfrm>
            <a:off x="4454042" y="49405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Plus Jakarta Sans" pitchFamily="34" charset="-122"/>
                <a:cs typeface="Plus Jakarta Sans" pitchFamily="34" charset="-120"/>
              </a:rPr>
              <a:t>2</a:t>
            </a:r>
            <a:endParaRPr lang="en-US" sz="1200" dirty="0"/>
          </a:p>
        </p:txBody>
      </p:sp>
      <p:sp>
        <p:nvSpPr>
          <p:cNvPr id="19" name="Text 15"/>
          <p:cNvSpPr txBox="1"/>
          <p:nvPr/>
        </p:nvSpPr>
        <p:spPr>
          <a:xfrm>
            <a:off x="4810658" y="4940528"/>
            <a:ext cx="2936138" cy="274320"/>
          </a:xfrm>
          <a:prstGeom prst="rect">
            <a:avLst/>
          </a:prstGeom>
          <a:noFill/>
          <a:ln/>
        </p:spPr>
        <p:txBody>
          <a:bodyPr wrap="square" lIns="0" tIns="0" rIns="0" bIns="0" rtlCol="0" anchor="ctr"/>
          <a:lstStyle/>
          <a:p>
            <a:pPr indent="0" marL="0">
              <a:buNone/>
            </a:pPr>
            <a:r>
              <a:rPr lang="en-US" sz="1200" b="1" dirty="0">
                <a:solidFill>
                  <a:srgbClr val="0F2922"/>
                </a:solidFill>
                <a:latin typeface="Plus Jakarta Sans" pitchFamily="34" charset="0"/>
                <a:ea typeface="Plus Jakarta Sans" pitchFamily="34" charset="-122"/>
                <a:cs typeface="Plus Jakarta Sans" pitchFamily="34" charset="-120"/>
              </a:rPr>
              <a:t>Grounded AI Suggestions</a:t>
            </a:r>
            <a:endParaRPr lang="en-US" sz="1200" dirty="0"/>
          </a:p>
        </p:txBody>
      </p:sp>
      <p:sp>
        <p:nvSpPr>
          <p:cNvPr id="20" name="Text 16"/>
          <p:cNvSpPr txBox="1"/>
          <p:nvPr/>
        </p:nvSpPr>
        <p:spPr>
          <a:xfrm>
            <a:off x="4490618" y="5288000"/>
            <a:ext cx="3210458" cy="1021360"/>
          </a:xfrm>
          <a:prstGeom prst="rect">
            <a:avLst/>
          </a:prstGeom>
          <a:noFill/>
          <a:ln/>
        </p:spPr>
        <p:txBody>
          <a:bodyPr wrap="square" lIns="0" tIns="0" rIns="0" bIns="0" rtlCol="0" anchor="t"/>
          <a:lstStyle/>
          <a:p>
            <a:pPr indent="0" marL="0">
              <a:lnSpc>
                <a:spcPct val="118000"/>
              </a:lnSpc>
              <a:buNone/>
            </a:pPr>
            <a:r>
              <a:rPr lang="en-US" sz="1000" dirty="0">
                <a:solidFill>
                  <a:srgbClr val="475569"/>
                </a:solidFill>
                <a:latin typeface="Inter" pitchFamily="34" charset="0"/>
                <a:ea typeface="Inter" pitchFamily="34" charset="-122"/>
                <a:cs typeface="Inter" pitchFamily="34" charset="-120"/>
              </a:rPr>
              <a:t>RAG-generated, step-by-step resolutions shown alongside SLA status and AI confidence.</a:t>
            </a:r>
            <a:endParaRPr lang="en-US" sz="1000" dirty="0"/>
          </a:p>
        </p:txBody>
      </p:sp>
      <p:sp>
        <p:nvSpPr>
          <p:cNvPr id="21" name="Shape 17"/>
          <p:cNvSpPr/>
          <p:nvPr/>
        </p:nvSpPr>
        <p:spPr>
          <a:xfrm>
            <a:off x="8158277" y="4812512"/>
            <a:ext cx="3576218" cy="1588288"/>
          </a:xfrm>
          <a:prstGeom prst="roundRect">
            <a:avLst>
              <a:gd name="adj" fmla="val 4606"/>
            </a:avLst>
          </a:prstGeom>
          <a:solidFill>
            <a:srgbClr val="FFFFFF"/>
          </a:solidFill>
          <a:ln w="12700">
            <a:solidFill>
              <a:srgbClr val="E2E8F0"/>
            </a:solidFill>
            <a:prstDash val="solid"/>
          </a:ln>
        </p:spPr>
      </p:sp>
      <p:sp>
        <p:nvSpPr>
          <p:cNvPr id="22" name="Shape 18"/>
          <p:cNvSpPr/>
          <p:nvPr/>
        </p:nvSpPr>
        <p:spPr>
          <a:xfrm>
            <a:off x="8304581" y="4940528"/>
            <a:ext cx="274320" cy="274320"/>
          </a:xfrm>
          <a:prstGeom prst="ellipse">
            <a:avLst/>
          </a:prstGeom>
          <a:solidFill>
            <a:srgbClr val="0D9488"/>
          </a:solidFill>
          <a:ln/>
        </p:spPr>
      </p:sp>
      <p:sp>
        <p:nvSpPr>
          <p:cNvPr id="23" name="Text 19"/>
          <p:cNvSpPr txBox="1"/>
          <p:nvPr/>
        </p:nvSpPr>
        <p:spPr>
          <a:xfrm>
            <a:off x="8304581" y="49405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Plus Jakarta Sans" pitchFamily="34" charset="-122"/>
                <a:cs typeface="Plus Jakarta Sans" pitchFamily="34" charset="-120"/>
              </a:rPr>
              <a:t>3</a:t>
            </a:r>
            <a:endParaRPr lang="en-US" sz="1200" dirty="0"/>
          </a:p>
        </p:txBody>
      </p:sp>
      <p:sp>
        <p:nvSpPr>
          <p:cNvPr id="24" name="Text 20"/>
          <p:cNvSpPr txBox="1"/>
          <p:nvPr/>
        </p:nvSpPr>
        <p:spPr>
          <a:xfrm>
            <a:off x="8661197" y="4940528"/>
            <a:ext cx="2936138" cy="274320"/>
          </a:xfrm>
          <a:prstGeom prst="rect">
            <a:avLst/>
          </a:prstGeom>
          <a:noFill/>
          <a:ln/>
        </p:spPr>
        <p:txBody>
          <a:bodyPr wrap="square" lIns="0" tIns="0" rIns="0" bIns="0" rtlCol="0" anchor="ctr"/>
          <a:lstStyle/>
          <a:p>
            <a:pPr indent="0" marL="0">
              <a:buNone/>
            </a:pPr>
            <a:r>
              <a:rPr lang="en-US" sz="1200" b="1" dirty="0">
                <a:solidFill>
                  <a:srgbClr val="0F2922"/>
                </a:solidFill>
                <a:latin typeface="Plus Jakarta Sans" pitchFamily="34" charset="0"/>
                <a:ea typeface="Plus Jakarta Sans" pitchFamily="34" charset="-122"/>
                <a:cs typeface="Plus Jakarta Sans" pitchFamily="34" charset="-120"/>
              </a:rPr>
              <a:t>One-Click Actions</a:t>
            </a:r>
            <a:endParaRPr lang="en-US" sz="1200" dirty="0"/>
          </a:p>
        </p:txBody>
      </p:sp>
      <p:sp>
        <p:nvSpPr>
          <p:cNvPr id="25" name="Text 21"/>
          <p:cNvSpPr txBox="1"/>
          <p:nvPr/>
        </p:nvSpPr>
        <p:spPr>
          <a:xfrm>
            <a:off x="8341157" y="5288000"/>
            <a:ext cx="3210458" cy="1021360"/>
          </a:xfrm>
          <a:prstGeom prst="rect">
            <a:avLst/>
          </a:prstGeom>
          <a:noFill/>
          <a:ln/>
        </p:spPr>
        <p:txBody>
          <a:bodyPr wrap="square" lIns="0" tIns="0" rIns="0" bIns="0" rtlCol="0" anchor="t"/>
          <a:lstStyle/>
          <a:p>
            <a:pPr indent="0" marL="0">
              <a:lnSpc>
                <a:spcPct val="118000"/>
              </a:lnSpc>
              <a:buNone/>
            </a:pPr>
            <a:r>
              <a:rPr lang="en-US" sz="1000" dirty="0">
                <a:solidFill>
                  <a:srgbClr val="475569"/>
                </a:solidFill>
                <a:latin typeface="Inter" pitchFamily="34" charset="0"/>
                <a:ea typeface="Inter" pitchFamily="34" charset="-122"/>
                <a:cs typeface="Inter" pitchFamily="34" charset="-120"/>
              </a:rPr>
              <a:t>Agents can send the AI resolution, respond manually, or escalate the ticket instantly.</a:t>
            </a:r>
            <a:endParaRPr lang="en-US" sz="1000" dirty="0"/>
          </a:p>
        </p:txBody>
      </p:sp>
      <p:sp>
        <p:nvSpPr>
          <p:cNvPr id="26" name="Text 22"/>
          <p:cNvSpPr txBox="1"/>
          <p:nvPr/>
        </p:nvSpPr>
        <p:spPr>
          <a:xfrm>
            <a:off x="11475720" y="6510528"/>
            <a:ext cx="365760" cy="256032"/>
          </a:xfrm>
          <a:prstGeom prst="rect">
            <a:avLst/>
          </a:prstGeom>
          <a:noFill/>
          <a:ln/>
        </p:spPr>
        <p:txBody>
          <a:bodyPr wrap="square" lIns="0" tIns="0" rIns="0" bIns="0" rtlCol="0" anchor="ctr"/>
          <a:lstStyle/>
          <a:p>
            <a:pPr algn="r" indent="0" marL="0">
              <a:buNone/>
            </a:pPr>
            <a:r>
              <a:rPr lang="en-US" sz="900" b="1" dirty="0">
                <a:solidFill>
                  <a:srgbClr val="CBD5E1"/>
                </a:solidFill>
                <a:latin typeface="Inter" pitchFamily="34" charset="0"/>
                <a:ea typeface="Inter" pitchFamily="34" charset="-122"/>
                <a:cs typeface="Inter"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9"/>
        </a:solidFill>
      </p:bgPr>
    </p:bg>
    <p:spTree>
      <p:nvGrpSpPr>
        <p:cNvPr id="1" name=""/>
        <p:cNvGrpSpPr/>
        <p:nvPr/>
      </p:nvGrpSpPr>
      <p:grpSpPr>
        <a:xfrm>
          <a:off x="0" y="0"/>
          <a:ext cx="0" cy="0"/>
          <a:chOff x="0" y="0"/>
          <a:chExt cx="0" cy="0"/>
        </a:xfrm>
      </p:grpSpPr>
      <p:sp>
        <p:nvSpPr>
          <p:cNvPr id="2" name="Text 0"/>
          <p:cNvSpPr txBox="1"/>
          <p:nvPr/>
        </p:nvSpPr>
        <p:spPr>
          <a:xfrm>
            <a:off x="457200" y="320040"/>
            <a:ext cx="10607040" cy="274320"/>
          </a:xfrm>
          <a:prstGeom prst="rect">
            <a:avLst/>
          </a:prstGeom>
          <a:noFill/>
          <a:ln/>
        </p:spPr>
        <p:txBody>
          <a:bodyPr wrap="square" lIns="0" tIns="0" rIns="0" bIns="0" rtlCol="0" anchor="ctr"/>
          <a:lstStyle/>
          <a:p>
            <a:pPr indent="0" marL="0">
              <a:buNone/>
            </a:pPr>
            <a:r>
              <a:rPr lang="en-US" sz="1100" b="1" spc="100" kern="0" dirty="0">
                <a:solidFill>
                  <a:srgbClr val="0D9488"/>
                </a:solidFill>
                <a:latin typeface="Inter" pitchFamily="34" charset="0"/>
                <a:ea typeface="Inter" pitchFamily="34" charset="-122"/>
                <a:cs typeface="Inter" pitchFamily="34" charset="-120"/>
              </a:rPr>
              <a:t>PRODUCT WALKTHROUGH</a:t>
            </a:r>
            <a:endParaRPr lang="en-US" sz="1100" dirty="0"/>
          </a:p>
        </p:txBody>
      </p:sp>
      <p:sp>
        <p:nvSpPr>
          <p:cNvPr id="3" name="Text 1"/>
          <p:cNvSpPr txBox="1"/>
          <p:nvPr/>
        </p:nvSpPr>
        <p:spPr>
          <a:xfrm>
            <a:off x="457200" y="566928"/>
            <a:ext cx="10972800" cy="566928"/>
          </a:xfrm>
          <a:prstGeom prst="rect">
            <a:avLst/>
          </a:prstGeom>
          <a:noFill/>
          <a:ln/>
        </p:spPr>
        <p:txBody>
          <a:bodyPr wrap="square" lIns="0" tIns="0" rIns="0" bIns="0" rtlCol="0" anchor="ctr"/>
          <a:lstStyle/>
          <a:p>
            <a:pPr indent="0" marL="0">
              <a:buNone/>
            </a:pPr>
            <a:r>
              <a:rPr lang="en-US" sz="2600" b="1" dirty="0">
                <a:solidFill>
                  <a:srgbClr val="0F2922"/>
                </a:solidFill>
                <a:latin typeface="Plus Jakarta Sans" pitchFamily="34" charset="0"/>
                <a:ea typeface="Plus Jakarta Sans" pitchFamily="34" charset="-122"/>
                <a:cs typeface="Plus Jakarta Sans" pitchFamily="34" charset="-120"/>
              </a:rPr>
              <a:t>Manager Console — Assignment &amp; Jira Sync</a:t>
            </a:r>
            <a:endParaRPr lang="en-US" sz="2600" dirty="0"/>
          </a:p>
        </p:txBody>
      </p:sp>
      <p:sp>
        <p:nvSpPr>
          <p:cNvPr id="4" name="Shape 2"/>
          <p:cNvSpPr/>
          <p:nvPr/>
        </p:nvSpPr>
        <p:spPr>
          <a:xfrm>
            <a:off x="457200" y="1207008"/>
            <a:ext cx="11277295" cy="18288"/>
          </a:xfrm>
          <a:prstGeom prst="rect">
            <a:avLst/>
          </a:prstGeom>
          <a:solidFill>
            <a:srgbClr val="E2E8F0"/>
          </a:solidFill>
          <a:ln/>
        </p:spPr>
      </p:sp>
      <p:sp>
        <p:nvSpPr>
          <p:cNvPr id="5" name="Shape 3"/>
          <p:cNvSpPr/>
          <p:nvPr/>
        </p:nvSpPr>
        <p:spPr>
          <a:xfrm>
            <a:off x="402336" y="1362456"/>
            <a:ext cx="5588356" cy="2937992"/>
          </a:xfrm>
          <a:prstGeom prst="roundRect">
            <a:avLst>
              <a:gd name="adj" fmla="val 2490"/>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pic>
        <p:nvPicPr>
          <p:cNvPr id="6" name="Image 0" descr="/home/claude/images/img9_manager_console.png">    </p:cNvPr>
          <p:cNvPicPr>
            <a:picLocks noChangeAspect="1"/>
          </p:cNvPicPr>
          <p:nvPr/>
        </p:nvPicPr>
        <p:blipFill>
          <a:blip r:embed="rId1"/>
          <a:stretch>
            <a:fillRect/>
          </a:stretch>
        </p:blipFill>
        <p:spPr>
          <a:xfrm>
            <a:off x="457200" y="1417320"/>
            <a:ext cx="5478628" cy="2828264"/>
          </a:xfrm>
          <a:prstGeom prst="rect">
            <a:avLst/>
          </a:prstGeom>
        </p:spPr>
      </p:pic>
      <p:sp>
        <p:nvSpPr>
          <p:cNvPr id="7" name="Shape 4"/>
          <p:cNvSpPr/>
          <p:nvPr/>
        </p:nvSpPr>
        <p:spPr>
          <a:xfrm>
            <a:off x="6201004" y="1362456"/>
            <a:ext cx="5588356" cy="2937992"/>
          </a:xfrm>
          <a:prstGeom prst="roundRect">
            <a:avLst>
              <a:gd name="adj" fmla="val 2490"/>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pic>
        <p:nvPicPr>
          <p:cNvPr id="8" name="Image 1" descr="/home/claude/images/img10_jira_logs.png">    </p:cNvPr>
          <p:cNvPicPr>
            <a:picLocks noChangeAspect="1"/>
          </p:cNvPicPr>
          <p:nvPr/>
        </p:nvPicPr>
        <p:blipFill>
          <a:blip r:embed="rId2"/>
          <a:stretch>
            <a:fillRect/>
          </a:stretch>
        </p:blipFill>
        <p:spPr>
          <a:xfrm>
            <a:off x="6255868" y="1417320"/>
            <a:ext cx="5478628" cy="2828264"/>
          </a:xfrm>
          <a:prstGeom prst="rect">
            <a:avLst/>
          </a:prstGeom>
        </p:spPr>
      </p:pic>
      <p:sp>
        <p:nvSpPr>
          <p:cNvPr id="9" name="Text 5"/>
          <p:cNvSpPr txBox="1"/>
          <p:nvPr/>
        </p:nvSpPr>
        <p:spPr>
          <a:xfrm>
            <a:off x="457200" y="4355312"/>
            <a:ext cx="5478628" cy="274320"/>
          </a:xfrm>
          <a:prstGeom prst="rect">
            <a:avLst/>
          </a:prstGeom>
          <a:noFill/>
          <a:ln/>
        </p:spPr>
        <p:txBody>
          <a:bodyPr wrap="square" lIns="0" tIns="0" rIns="0" bIns="0" rtlCol="0" anchor="ctr"/>
          <a:lstStyle/>
          <a:p>
            <a:pPr algn="ctr" indent="0" marL="0">
              <a:buNone/>
            </a:pPr>
            <a:r>
              <a:rPr lang="en-US" sz="1100" b="1" dirty="0">
                <a:solidFill>
                  <a:srgbClr val="0F2922"/>
                </a:solidFill>
                <a:latin typeface="Inter" pitchFamily="34" charset="0"/>
                <a:ea typeface="Inter" pitchFamily="34" charset="-122"/>
                <a:cs typeface="Inter" pitchFamily="34" charset="-120"/>
              </a:rPr>
              <a:t>Assignment Queue — AI Confidence &amp; Routing Reason</a:t>
            </a:r>
            <a:endParaRPr lang="en-US" sz="1100" dirty="0"/>
          </a:p>
        </p:txBody>
      </p:sp>
      <p:sp>
        <p:nvSpPr>
          <p:cNvPr id="10" name="Text 6"/>
          <p:cNvSpPr txBox="1"/>
          <p:nvPr/>
        </p:nvSpPr>
        <p:spPr>
          <a:xfrm>
            <a:off x="6255868" y="4355312"/>
            <a:ext cx="5478628" cy="274320"/>
          </a:xfrm>
          <a:prstGeom prst="rect">
            <a:avLst/>
          </a:prstGeom>
          <a:noFill/>
          <a:ln/>
        </p:spPr>
        <p:txBody>
          <a:bodyPr wrap="square" lIns="0" tIns="0" rIns="0" bIns="0" rtlCol="0" anchor="ctr"/>
          <a:lstStyle/>
          <a:p>
            <a:pPr algn="ctr" indent="0" marL="0">
              <a:buNone/>
            </a:pPr>
            <a:r>
              <a:rPr lang="en-US" sz="1100" b="1" dirty="0">
                <a:solidFill>
                  <a:srgbClr val="0F2922"/>
                </a:solidFill>
                <a:latin typeface="Inter" pitchFamily="34" charset="0"/>
                <a:ea typeface="Inter" pitchFamily="34" charset="-122"/>
                <a:cs typeface="Inter" pitchFamily="34" charset="-120"/>
              </a:rPr>
              <a:t>Jira Ticket Logs — Two-Way Sync History</a:t>
            </a:r>
            <a:endParaRPr lang="en-US" sz="1100" dirty="0"/>
          </a:p>
        </p:txBody>
      </p:sp>
      <p:sp>
        <p:nvSpPr>
          <p:cNvPr id="11" name="Shape 7"/>
          <p:cNvSpPr/>
          <p:nvPr/>
        </p:nvSpPr>
        <p:spPr>
          <a:xfrm>
            <a:off x="457200" y="4812512"/>
            <a:ext cx="3576218" cy="1588288"/>
          </a:xfrm>
          <a:prstGeom prst="roundRect">
            <a:avLst>
              <a:gd name="adj" fmla="val 4606"/>
            </a:avLst>
          </a:prstGeom>
          <a:solidFill>
            <a:srgbClr val="FFFFFF"/>
          </a:solidFill>
          <a:ln w="12700">
            <a:solidFill>
              <a:srgbClr val="E2E8F0"/>
            </a:solidFill>
            <a:prstDash val="solid"/>
          </a:ln>
        </p:spPr>
      </p:sp>
      <p:sp>
        <p:nvSpPr>
          <p:cNvPr id="12" name="Shape 8"/>
          <p:cNvSpPr/>
          <p:nvPr/>
        </p:nvSpPr>
        <p:spPr>
          <a:xfrm>
            <a:off x="603504" y="4940528"/>
            <a:ext cx="274320" cy="274320"/>
          </a:xfrm>
          <a:prstGeom prst="ellipse">
            <a:avLst/>
          </a:prstGeom>
          <a:solidFill>
            <a:srgbClr val="0D9488"/>
          </a:solidFill>
          <a:ln/>
        </p:spPr>
      </p:sp>
      <p:sp>
        <p:nvSpPr>
          <p:cNvPr id="13" name="Text 9"/>
          <p:cNvSpPr txBox="1"/>
          <p:nvPr/>
        </p:nvSpPr>
        <p:spPr>
          <a:xfrm>
            <a:off x="603504" y="49405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Plus Jakarta Sans" pitchFamily="34" charset="-122"/>
                <a:cs typeface="Plus Jakarta Sans" pitchFamily="34" charset="-120"/>
              </a:rPr>
              <a:t>1</a:t>
            </a:r>
            <a:endParaRPr lang="en-US" sz="1200" dirty="0"/>
          </a:p>
        </p:txBody>
      </p:sp>
      <p:sp>
        <p:nvSpPr>
          <p:cNvPr id="14" name="Text 10"/>
          <p:cNvSpPr txBox="1"/>
          <p:nvPr/>
        </p:nvSpPr>
        <p:spPr>
          <a:xfrm>
            <a:off x="960120" y="4940528"/>
            <a:ext cx="2936138" cy="274320"/>
          </a:xfrm>
          <a:prstGeom prst="rect">
            <a:avLst/>
          </a:prstGeom>
          <a:noFill/>
          <a:ln/>
        </p:spPr>
        <p:txBody>
          <a:bodyPr wrap="square" lIns="0" tIns="0" rIns="0" bIns="0" rtlCol="0" anchor="ctr"/>
          <a:lstStyle/>
          <a:p>
            <a:pPr indent="0" marL="0">
              <a:buNone/>
            </a:pPr>
            <a:r>
              <a:rPr lang="en-US" sz="1200" b="1" dirty="0">
                <a:solidFill>
                  <a:srgbClr val="0F2922"/>
                </a:solidFill>
                <a:latin typeface="Plus Jakarta Sans" pitchFamily="34" charset="0"/>
                <a:ea typeface="Plus Jakarta Sans" pitchFamily="34" charset="-122"/>
                <a:cs typeface="Plus Jakarta Sans" pitchFamily="34" charset="-120"/>
              </a:rPr>
              <a:t>Smart Assignment</a:t>
            </a:r>
            <a:endParaRPr lang="en-US" sz="1200" dirty="0"/>
          </a:p>
        </p:txBody>
      </p:sp>
      <p:sp>
        <p:nvSpPr>
          <p:cNvPr id="15" name="Text 11"/>
          <p:cNvSpPr txBox="1"/>
          <p:nvPr/>
        </p:nvSpPr>
        <p:spPr>
          <a:xfrm>
            <a:off x="640080" y="5288000"/>
            <a:ext cx="3210458" cy="1021360"/>
          </a:xfrm>
          <a:prstGeom prst="rect">
            <a:avLst/>
          </a:prstGeom>
          <a:noFill/>
          <a:ln/>
        </p:spPr>
        <p:txBody>
          <a:bodyPr wrap="square" lIns="0" tIns="0" rIns="0" bIns="0" rtlCol="0" anchor="t"/>
          <a:lstStyle/>
          <a:p>
            <a:pPr indent="0" marL="0">
              <a:lnSpc>
                <a:spcPct val="118000"/>
              </a:lnSpc>
              <a:buNone/>
            </a:pPr>
            <a:r>
              <a:rPr lang="en-US" sz="1000" dirty="0">
                <a:solidFill>
                  <a:srgbClr val="475569"/>
                </a:solidFill>
                <a:latin typeface="Inter" pitchFamily="34" charset="0"/>
                <a:ea typeface="Inter" pitchFamily="34" charset="-122"/>
                <a:cs typeface="Inter" pitchFamily="34" charset="-120"/>
              </a:rPr>
              <a:t>Unassigned tickets sorted by priority and AI diagnosis confidence before routing to an agent.</a:t>
            </a:r>
            <a:endParaRPr lang="en-US" sz="1000" dirty="0"/>
          </a:p>
        </p:txBody>
      </p:sp>
      <p:sp>
        <p:nvSpPr>
          <p:cNvPr id="16" name="Shape 12"/>
          <p:cNvSpPr/>
          <p:nvPr/>
        </p:nvSpPr>
        <p:spPr>
          <a:xfrm>
            <a:off x="4307738" y="4812512"/>
            <a:ext cx="3576218" cy="1588288"/>
          </a:xfrm>
          <a:prstGeom prst="roundRect">
            <a:avLst>
              <a:gd name="adj" fmla="val 4606"/>
            </a:avLst>
          </a:prstGeom>
          <a:solidFill>
            <a:srgbClr val="FFFFFF"/>
          </a:solidFill>
          <a:ln w="12700">
            <a:solidFill>
              <a:srgbClr val="E2E8F0"/>
            </a:solidFill>
            <a:prstDash val="solid"/>
          </a:ln>
        </p:spPr>
      </p:sp>
      <p:sp>
        <p:nvSpPr>
          <p:cNvPr id="17" name="Shape 13"/>
          <p:cNvSpPr/>
          <p:nvPr/>
        </p:nvSpPr>
        <p:spPr>
          <a:xfrm>
            <a:off x="4454042" y="4940528"/>
            <a:ext cx="274320" cy="274320"/>
          </a:xfrm>
          <a:prstGeom prst="ellipse">
            <a:avLst/>
          </a:prstGeom>
          <a:solidFill>
            <a:srgbClr val="0D9488"/>
          </a:solidFill>
          <a:ln/>
        </p:spPr>
      </p:sp>
      <p:sp>
        <p:nvSpPr>
          <p:cNvPr id="18" name="Text 14"/>
          <p:cNvSpPr txBox="1"/>
          <p:nvPr/>
        </p:nvSpPr>
        <p:spPr>
          <a:xfrm>
            <a:off x="4454042" y="49405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Plus Jakarta Sans" pitchFamily="34" charset="-122"/>
                <a:cs typeface="Plus Jakarta Sans" pitchFamily="34" charset="-120"/>
              </a:rPr>
              <a:t>2</a:t>
            </a:r>
            <a:endParaRPr lang="en-US" sz="1200" dirty="0"/>
          </a:p>
        </p:txBody>
      </p:sp>
      <p:sp>
        <p:nvSpPr>
          <p:cNvPr id="19" name="Text 15"/>
          <p:cNvSpPr txBox="1"/>
          <p:nvPr/>
        </p:nvSpPr>
        <p:spPr>
          <a:xfrm>
            <a:off x="4810658" y="4940528"/>
            <a:ext cx="2936138" cy="274320"/>
          </a:xfrm>
          <a:prstGeom prst="rect">
            <a:avLst/>
          </a:prstGeom>
          <a:noFill/>
          <a:ln/>
        </p:spPr>
        <p:txBody>
          <a:bodyPr wrap="square" lIns="0" tIns="0" rIns="0" bIns="0" rtlCol="0" anchor="ctr"/>
          <a:lstStyle/>
          <a:p>
            <a:pPr indent="0" marL="0">
              <a:buNone/>
            </a:pPr>
            <a:r>
              <a:rPr lang="en-US" sz="1200" b="1" dirty="0">
                <a:solidFill>
                  <a:srgbClr val="0F2922"/>
                </a:solidFill>
                <a:latin typeface="Plus Jakarta Sans" pitchFamily="34" charset="0"/>
                <a:ea typeface="Plus Jakarta Sans" pitchFamily="34" charset="-122"/>
                <a:cs typeface="Plus Jakarta Sans" pitchFamily="34" charset="-120"/>
              </a:rPr>
              <a:t>Escalation Visibility</a:t>
            </a:r>
            <a:endParaRPr lang="en-US" sz="1200" dirty="0"/>
          </a:p>
        </p:txBody>
      </p:sp>
      <p:sp>
        <p:nvSpPr>
          <p:cNvPr id="20" name="Text 16"/>
          <p:cNvSpPr txBox="1"/>
          <p:nvPr/>
        </p:nvSpPr>
        <p:spPr>
          <a:xfrm>
            <a:off x="4490618" y="5288000"/>
            <a:ext cx="3210458" cy="1021360"/>
          </a:xfrm>
          <a:prstGeom prst="rect">
            <a:avLst/>
          </a:prstGeom>
          <a:noFill/>
          <a:ln/>
        </p:spPr>
        <p:txBody>
          <a:bodyPr wrap="square" lIns="0" tIns="0" rIns="0" bIns="0" rtlCol="0" anchor="t"/>
          <a:lstStyle/>
          <a:p>
            <a:pPr indent="0" marL="0">
              <a:lnSpc>
                <a:spcPct val="118000"/>
              </a:lnSpc>
              <a:buNone/>
            </a:pPr>
            <a:r>
              <a:rPr lang="en-US" sz="1000" dirty="0">
                <a:solidFill>
                  <a:srgbClr val="475569"/>
                </a:solidFill>
                <a:latin typeface="Inter" pitchFamily="34" charset="0"/>
                <a:ea typeface="Inter" pitchFamily="34" charset="-122"/>
                <a:cs typeface="Inter" pitchFamily="34" charset="-120"/>
              </a:rPr>
              <a:t>Active agents, average assignment time, and open escalations are tracked live.</a:t>
            </a:r>
            <a:endParaRPr lang="en-US" sz="1000" dirty="0"/>
          </a:p>
        </p:txBody>
      </p:sp>
      <p:sp>
        <p:nvSpPr>
          <p:cNvPr id="21" name="Shape 17"/>
          <p:cNvSpPr/>
          <p:nvPr/>
        </p:nvSpPr>
        <p:spPr>
          <a:xfrm>
            <a:off x="8158277" y="4812512"/>
            <a:ext cx="3576218" cy="1588288"/>
          </a:xfrm>
          <a:prstGeom prst="roundRect">
            <a:avLst>
              <a:gd name="adj" fmla="val 4606"/>
            </a:avLst>
          </a:prstGeom>
          <a:solidFill>
            <a:srgbClr val="FFFFFF"/>
          </a:solidFill>
          <a:ln w="12700">
            <a:solidFill>
              <a:srgbClr val="E2E8F0"/>
            </a:solidFill>
            <a:prstDash val="solid"/>
          </a:ln>
        </p:spPr>
      </p:sp>
      <p:sp>
        <p:nvSpPr>
          <p:cNvPr id="22" name="Shape 18"/>
          <p:cNvSpPr/>
          <p:nvPr/>
        </p:nvSpPr>
        <p:spPr>
          <a:xfrm>
            <a:off x="8304581" y="4940528"/>
            <a:ext cx="274320" cy="274320"/>
          </a:xfrm>
          <a:prstGeom prst="ellipse">
            <a:avLst/>
          </a:prstGeom>
          <a:solidFill>
            <a:srgbClr val="0D9488"/>
          </a:solidFill>
          <a:ln/>
        </p:spPr>
      </p:sp>
      <p:sp>
        <p:nvSpPr>
          <p:cNvPr id="23" name="Text 19"/>
          <p:cNvSpPr txBox="1"/>
          <p:nvPr/>
        </p:nvSpPr>
        <p:spPr>
          <a:xfrm>
            <a:off x="8304581" y="49405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Plus Jakarta Sans" pitchFamily="34" charset="-122"/>
                <a:cs typeface="Plus Jakarta Sans" pitchFamily="34" charset="-120"/>
              </a:rPr>
              <a:t>3</a:t>
            </a:r>
            <a:endParaRPr lang="en-US" sz="1200" dirty="0"/>
          </a:p>
        </p:txBody>
      </p:sp>
      <p:sp>
        <p:nvSpPr>
          <p:cNvPr id="24" name="Text 20"/>
          <p:cNvSpPr txBox="1"/>
          <p:nvPr/>
        </p:nvSpPr>
        <p:spPr>
          <a:xfrm>
            <a:off x="8661197" y="4940528"/>
            <a:ext cx="2936138" cy="274320"/>
          </a:xfrm>
          <a:prstGeom prst="rect">
            <a:avLst/>
          </a:prstGeom>
          <a:noFill/>
          <a:ln/>
        </p:spPr>
        <p:txBody>
          <a:bodyPr wrap="square" lIns="0" tIns="0" rIns="0" bIns="0" rtlCol="0" anchor="ctr"/>
          <a:lstStyle/>
          <a:p>
            <a:pPr indent="0" marL="0">
              <a:buNone/>
            </a:pPr>
            <a:r>
              <a:rPr lang="en-US" sz="1200" b="1" dirty="0">
                <a:solidFill>
                  <a:srgbClr val="0F2922"/>
                </a:solidFill>
                <a:latin typeface="Plus Jakarta Sans" pitchFamily="34" charset="0"/>
                <a:ea typeface="Plus Jakarta Sans" pitchFamily="34" charset="-122"/>
                <a:cs typeface="Plus Jakarta Sans" pitchFamily="34" charset="-120"/>
              </a:rPr>
              <a:t>Jira Sync Trail</a:t>
            </a:r>
            <a:endParaRPr lang="en-US" sz="1200" dirty="0"/>
          </a:p>
        </p:txBody>
      </p:sp>
      <p:sp>
        <p:nvSpPr>
          <p:cNvPr id="25" name="Text 21"/>
          <p:cNvSpPr txBox="1"/>
          <p:nvPr/>
        </p:nvSpPr>
        <p:spPr>
          <a:xfrm>
            <a:off x="8341157" y="5288000"/>
            <a:ext cx="3210458" cy="1021360"/>
          </a:xfrm>
          <a:prstGeom prst="rect">
            <a:avLst/>
          </a:prstGeom>
          <a:noFill/>
          <a:ln/>
        </p:spPr>
        <p:txBody>
          <a:bodyPr wrap="square" lIns="0" tIns="0" rIns="0" bIns="0" rtlCol="0" anchor="t"/>
          <a:lstStyle/>
          <a:p>
            <a:pPr indent="0" marL="0">
              <a:lnSpc>
                <a:spcPct val="118000"/>
              </a:lnSpc>
              <a:buNone/>
            </a:pPr>
            <a:r>
              <a:rPr lang="en-US" sz="1000" dirty="0">
                <a:solidFill>
                  <a:srgbClr val="475569"/>
                </a:solidFill>
                <a:latin typeface="Inter" pitchFamily="34" charset="0"/>
                <a:ea typeface="Inter" pitchFamily="34" charset="-122"/>
                <a:cs typeface="Inter" pitchFamily="34" charset="-120"/>
              </a:rPr>
              <a:t>Every escalated ticket's sync status (Done / Pending) is recorded with a timestamp.</a:t>
            </a:r>
            <a:endParaRPr lang="en-US" sz="1000" dirty="0"/>
          </a:p>
        </p:txBody>
      </p:sp>
      <p:sp>
        <p:nvSpPr>
          <p:cNvPr id="26" name="Text 22"/>
          <p:cNvSpPr txBox="1"/>
          <p:nvPr/>
        </p:nvSpPr>
        <p:spPr>
          <a:xfrm>
            <a:off x="11475720" y="6510528"/>
            <a:ext cx="365760" cy="256032"/>
          </a:xfrm>
          <a:prstGeom prst="rect">
            <a:avLst/>
          </a:prstGeom>
          <a:noFill/>
          <a:ln/>
        </p:spPr>
        <p:txBody>
          <a:bodyPr wrap="square" lIns="0" tIns="0" rIns="0" bIns="0" rtlCol="0" anchor="ctr"/>
          <a:lstStyle/>
          <a:p>
            <a:pPr algn="r" indent="0" marL="0">
              <a:buNone/>
            </a:pPr>
            <a:r>
              <a:rPr lang="en-US" sz="900" b="1" dirty="0">
                <a:solidFill>
                  <a:srgbClr val="CBD5E1"/>
                </a:solidFill>
                <a:latin typeface="Inter" pitchFamily="34" charset="0"/>
                <a:ea typeface="Inter" pitchFamily="34" charset="-122"/>
                <a:cs typeface="Inter"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9"/>
        </a:solidFill>
      </p:bgPr>
    </p:bg>
    <p:spTree>
      <p:nvGrpSpPr>
        <p:cNvPr id="1" name=""/>
        <p:cNvGrpSpPr/>
        <p:nvPr/>
      </p:nvGrpSpPr>
      <p:grpSpPr>
        <a:xfrm>
          <a:off x="0" y="0"/>
          <a:ext cx="0" cy="0"/>
          <a:chOff x="0" y="0"/>
          <a:chExt cx="0" cy="0"/>
        </a:xfrm>
      </p:grpSpPr>
      <p:sp>
        <p:nvSpPr>
          <p:cNvPr id="2" name="Text 0"/>
          <p:cNvSpPr txBox="1"/>
          <p:nvPr/>
        </p:nvSpPr>
        <p:spPr>
          <a:xfrm>
            <a:off x="457200" y="320040"/>
            <a:ext cx="10607040" cy="274320"/>
          </a:xfrm>
          <a:prstGeom prst="rect">
            <a:avLst/>
          </a:prstGeom>
          <a:noFill/>
          <a:ln/>
        </p:spPr>
        <p:txBody>
          <a:bodyPr wrap="square" lIns="0" tIns="0" rIns="0" bIns="0" rtlCol="0" anchor="ctr"/>
          <a:lstStyle/>
          <a:p>
            <a:pPr indent="0" marL="0">
              <a:buNone/>
            </a:pPr>
            <a:r>
              <a:rPr lang="en-US" sz="1100" b="1" spc="100" kern="0" dirty="0">
                <a:solidFill>
                  <a:srgbClr val="0D9488"/>
                </a:solidFill>
                <a:latin typeface="Inter" pitchFamily="34" charset="0"/>
                <a:ea typeface="Inter" pitchFamily="34" charset="-122"/>
                <a:cs typeface="Inter" pitchFamily="34" charset="-120"/>
              </a:rPr>
              <a:t>PRODUCT WALKTHROUGH</a:t>
            </a:r>
            <a:endParaRPr lang="en-US" sz="1100" dirty="0"/>
          </a:p>
        </p:txBody>
      </p:sp>
      <p:sp>
        <p:nvSpPr>
          <p:cNvPr id="3" name="Text 1"/>
          <p:cNvSpPr txBox="1"/>
          <p:nvPr/>
        </p:nvSpPr>
        <p:spPr>
          <a:xfrm>
            <a:off x="457200" y="566928"/>
            <a:ext cx="10972800" cy="566928"/>
          </a:xfrm>
          <a:prstGeom prst="rect">
            <a:avLst/>
          </a:prstGeom>
          <a:noFill/>
          <a:ln/>
        </p:spPr>
        <p:txBody>
          <a:bodyPr wrap="square" lIns="0" tIns="0" rIns="0" bIns="0" rtlCol="0" anchor="ctr"/>
          <a:lstStyle/>
          <a:p>
            <a:pPr indent="0" marL="0">
              <a:buNone/>
            </a:pPr>
            <a:r>
              <a:rPr lang="en-US" sz="2600" b="1" dirty="0">
                <a:solidFill>
                  <a:srgbClr val="0F2922"/>
                </a:solidFill>
                <a:latin typeface="Plus Jakarta Sans" pitchFamily="34" charset="0"/>
                <a:ea typeface="Plus Jakarta Sans" pitchFamily="34" charset="-122"/>
                <a:cs typeface="Plus Jakarta Sans" pitchFamily="34" charset="-120"/>
              </a:rPr>
              <a:t>Admin Portal — Analytics &amp; Configuration</a:t>
            </a:r>
            <a:endParaRPr lang="en-US" sz="2600" dirty="0"/>
          </a:p>
        </p:txBody>
      </p:sp>
      <p:sp>
        <p:nvSpPr>
          <p:cNvPr id="4" name="Shape 2"/>
          <p:cNvSpPr/>
          <p:nvPr/>
        </p:nvSpPr>
        <p:spPr>
          <a:xfrm>
            <a:off x="457200" y="1207008"/>
            <a:ext cx="11277295" cy="18288"/>
          </a:xfrm>
          <a:prstGeom prst="rect">
            <a:avLst/>
          </a:prstGeom>
          <a:solidFill>
            <a:srgbClr val="E2E8F0"/>
          </a:solidFill>
          <a:ln/>
        </p:spPr>
      </p:sp>
      <p:sp>
        <p:nvSpPr>
          <p:cNvPr id="5" name="Shape 3"/>
          <p:cNvSpPr/>
          <p:nvPr/>
        </p:nvSpPr>
        <p:spPr>
          <a:xfrm>
            <a:off x="402336" y="1362456"/>
            <a:ext cx="5588356" cy="2937992"/>
          </a:xfrm>
          <a:prstGeom prst="roundRect">
            <a:avLst>
              <a:gd name="adj" fmla="val 2490"/>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pic>
        <p:nvPicPr>
          <p:cNvPr id="6" name="Image 0" descr="/home/claude/images/img7_admin_dashboard.png">    </p:cNvPr>
          <p:cNvPicPr>
            <a:picLocks noChangeAspect="1"/>
          </p:cNvPicPr>
          <p:nvPr/>
        </p:nvPicPr>
        <p:blipFill>
          <a:blip r:embed="rId1"/>
          <a:stretch>
            <a:fillRect/>
          </a:stretch>
        </p:blipFill>
        <p:spPr>
          <a:xfrm>
            <a:off x="457200" y="1417320"/>
            <a:ext cx="5478628" cy="2828264"/>
          </a:xfrm>
          <a:prstGeom prst="rect">
            <a:avLst/>
          </a:prstGeom>
        </p:spPr>
      </p:pic>
      <p:sp>
        <p:nvSpPr>
          <p:cNvPr id="7" name="Shape 4"/>
          <p:cNvSpPr/>
          <p:nvPr/>
        </p:nvSpPr>
        <p:spPr>
          <a:xfrm>
            <a:off x="6201004" y="1362456"/>
            <a:ext cx="5588356" cy="2937992"/>
          </a:xfrm>
          <a:prstGeom prst="roundRect">
            <a:avLst>
              <a:gd name="adj" fmla="val 2490"/>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pic>
        <p:nvPicPr>
          <p:cNvPr id="8" name="Image 1" descr="/home/claude/images/img8_admin_masterdata.png">    </p:cNvPr>
          <p:cNvPicPr>
            <a:picLocks noChangeAspect="1"/>
          </p:cNvPicPr>
          <p:nvPr/>
        </p:nvPicPr>
        <p:blipFill>
          <a:blip r:embed="rId2"/>
          <a:stretch>
            <a:fillRect/>
          </a:stretch>
        </p:blipFill>
        <p:spPr>
          <a:xfrm>
            <a:off x="6255868" y="1417320"/>
            <a:ext cx="5478628" cy="2828264"/>
          </a:xfrm>
          <a:prstGeom prst="rect">
            <a:avLst/>
          </a:prstGeom>
        </p:spPr>
      </p:pic>
      <p:sp>
        <p:nvSpPr>
          <p:cNvPr id="9" name="Text 5"/>
          <p:cNvSpPr txBox="1"/>
          <p:nvPr/>
        </p:nvSpPr>
        <p:spPr>
          <a:xfrm>
            <a:off x="457200" y="4355312"/>
            <a:ext cx="5478628" cy="274320"/>
          </a:xfrm>
          <a:prstGeom prst="rect">
            <a:avLst/>
          </a:prstGeom>
          <a:noFill/>
          <a:ln/>
        </p:spPr>
        <p:txBody>
          <a:bodyPr wrap="square" lIns="0" tIns="0" rIns="0" bIns="0" rtlCol="0" anchor="ctr"/>
          <a:lstStyle/>
          <a:p>
            <a:pPr algn="ctr" indent="0" marL="0">
              <a:buNone/>
            </a:pPr>
            <a:r>
              <a:rPr lang="en-US" sz="1100" b="1" dirty="0">
                <a:solidFill>
                  <a:srgbClr val="0F2922"/>
                </a:solidFill>
                <a:latin typeface="Inter" pitchFamily="34" charset="0"/>
                <a:ea typeface="Inter" pitchFamily="34" charset="-122"/>
                <a:cs typeface="Inter" pitchFamily="34" charset="-120"/>
              </a:rPr>
              <a:t>Admin Dashboard — Platform-Wide Analytics</a:t>
            </a:r>
            <a:endParaRPr lang="en-US" sz="1100" dirty="0"/>
          </a:p>
        </p:txBody>
      </p:sp>
      <p:sp>
        <p:nvSpPr>
          <p:cNvPr id="10" name="Text 6"/>
          <p:cNvSpPr txBox="1"/>
          <p:nvPr/>
        </p:nvSpPr>
        <p:spPr>
          <a:xfrm>
            <a:off x="6255868" y="4355312"/>
            <a:ext cx="5478628" cy="274320"/>
          </a:xfrm>
          <a:prstGeom prst="rect">
            <a:avLst/>
          </a:prstGeom>
          <a:noFill/>
          <a:ln/>
        </p:spPr>
        <p:txBody>
          <a:bodyPr wrap="square" lIns="0" tIns="0" rIns="0" bIns="0" rtlCol="0" anchor="ctr"/>
          <a:lstStyle/>
          <a:p>
            <a:pPr algn="ctr" indent="0" marL="0">
              <a:buNone/>
            </a:pPr>
            <a:r>
              <a:rPr lang="en-US" sz="1100" b="1" dirty="0">
                <a:solidFill>
                  <a:srgbClr val="0F2922"/>
                </a:solidFill>
                <a:latin typeface="Inter" pitchFamily="34" charset="0"/>
                <a:ea typeface="Inter" pitchFamily="34" charset="-122"/>
                <a:cs typeface="Inter" pitchFamily="34" charset="-120"/>
              </a:rPr>
              <a:t>Master Data — Categories &amp; SLA Rules</a:t>
            </a:r>
            <a:endParaRPr lang="en-US" sz="1100" dirty="0"/>
          </a:p>
        </p:txBody>
      </p:sp>
      <p:sp>
        <p:nvSpPr>
          <p:cNvPr id="11" name="Shape 7"/>
          <p:cNvSpPr/>
          <p:nvPr/>
        </p:nvSpPr>
        <p:spPr>
          <a:xfrm>
            <a:off x="457200" y="4812512"/>
            <a:ext cx="3576218" cy="1588288"/>
          </a:xfrm>
          <a:prstGeom prst="roundRect">
            <a:avLst>
              <a:gd name="adj" fmla="val 4606"/>
            </a:avLst>
          </a:prstGeom>
          <a:solidFill>
            <a:srgbClr val="FFFFFF"/>
          </a:solidFill>
          <a:ln w="12700">
            <a:solidFill>
              <a:srgbClr val="E2E8F0"/>
            </a:solidFill>
            <a:prstDash val="solid"/>
          </a:ln>
        </p:spPr>
      </p:sp>
      <p:sp>
        <p:nvSpPr>
          <p:cNvPr id="12" name="Shape 8"/>
          <p:cNvSpPr/>
          <p:nvPr/>
        </p:nvSpPr>
        <p:spPr>
          <a:xfrm>
            <a:off x="603504" y="4940528"/>
            <a:ext cx="274320" cy="274320"/>
          </a:xfrm>
          <a:prstGeom prst="ellipse">
            <a:avLst/>
          </a:prstGeom>
          <a:solidFill>
            <a:srgbClr val="0D9488"/>
          </a:solidFill>
          <a:ln/>
        </p:spPr>
      </p:sp>
      <p:sp>
        <p:nvSpPr>
          <p:cNvPr id="13" name="Text 9"/>
          <p:cNvSpPr txBox="1"/>
          <p:nvPr/>
        </p:nvSpPr>
        <p:spPr>
          <a:xfrm>
            <a:off x="603504" y="49405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Plus Jakarta Sans" pitchFamily="34" charset="-122"/>
                <a:cs typeface="Plus Jakarta Sans" pitchFamily="34" charset="-120"/>
              </a:rPr>
              <a:t>1</a:t>
            </a:r>
            <a:endParaRPr lang="en-US" sz="1200" dirty="0"/>
          </a:p>
        </p:txBody>
      </p:sp>
      <p:sp>
        <p:nvSpPr>
          <p:cNvPr id="14" name="Text 10"/>
          <p:cNvSpPr txBox="1"/>
          <p:nvPr/>
        </p:nvSpPr>
        <p:spPr>
          <a:xfrm>
            <a:off x="960120" y="4940528"/>
            <a:ext cx="2936138" cy="274320"/>
          </a:xfrm>
          <a:prstGeom prst="rect">
            <a:avLst/>
          </a:prstGeom>
          <a:noFill/>
          <a:ln/>
        </p:spPr>
        <p:txBody>
          <a:bodyPr wrap="square" lIns="0" tIns="0" rIns="0" bIns="0" rtlCol="0" anchor="ctr"/>
          <a:lstStyle/>
          <a:p>
            <a:pPr indent="0" marL="0">
              <a:buNone/>
            </a:pPr>
            <a:r>
              <a:rPr lang="en-US" sz="1200" b="1" dirty="0">
                <a:solidFill>
                  <a:srgbClr val="0F2922"/>
                </a:solidFill>
                <a:latin typeface="Plus Jakarta Sans" pitchFamily="34" charset="0"/>
                <a:ea typeface="Plus Jakarta Sans" pitchFamily="34" charset="-122"/>
                <a:cs typeface="Plus Jakarta Sans" pitchFamily="34" charset="-120"/>
              </a:rPr>
              <a:t>Executive Visibility</a:t>
            </a:r>
            <a:endParaRPr lang="en-US" sz="1200" dirty="0"/>
          </a:p>
        </p:txBody>
      </p:sp>
      <p:sp>
        <p:nvSpPr>
          <p:cNvPr id="15" name="Text 11"/>
          <p:cNvSpPr txBox="1"/>
          <p:nvPr/>
        </p:nvSpPr>
        <p:spPr>
          <a:xfrm>
            <a:off x="640080" y="5288000"/>
            <a:ext cx="3210458" cy="1021360"/>
          </a:xfrm>
          <a:prstGeom prst="rect">
            <a:avLst/>
          </a:prstGeom>
          <a:noFill/>
          <a:ln/>
        </p:spPr>
        <p:txBody>
          <a:bodyPr wrap="square" lIns="0" tIns="0" rIns="0" bIns="0" rtlCol="0" anchor="t"/>
          <a:lstStyle/>
          <a:p>
            <a:pPr indent="0" marL="0">
              <a:lnSpc>
                <a:spcPct val="118000"/>
              </a:lnSpc>
              <a:buNone/>
            </a:pPr>
            <a:r>
              <a:rPr lang="en-US" sz="1000" dirty="0">
                <a:solidFill>
                  <a:srgbClr val="475569"/>
                </a:solidFill>
                <a:latin typeface="Inter" pitchFamily="34" charset="0"/>
                <a:ea typeface="Inter" pitchFamily="34" charset="-122"/>
                <a:cs typeface="Inter" pitchFamily="34" charset="-120"/>
              </a:rPr>
              <a:t>Ticket volume, resolution rate, and category trends visible in a single dashboard.</a:t>
            </a:r>
            <a:endParaRPr lang="en-US" sz="1000" dirty="0"/>
          </a:p>
        </p:txBody>
      </p:sp>
      <p:sp>
        <p:nvSpPr>
          <p:cNvPr id="16" name="Shape 12"/>
          <p:cNvSpPr/>
          <p:nvPr/>
        </p:nvSpPr>
        <p:spPr>
          <a:xfrm>
            <a:off x="4307738" y="4812512"/>
            <a:ext cx="3576218" cy="1588288"/>
          </a:xfrm>
          <a:prstGeom prst="roundRect">
            <a:avLst>
              <a:gd name="adj" fmla="val 4606"/>
            </a:avLst>
          </a:prstGeom>
          <a:solidFill>
            <a:srgbClr val="FFFFFF"/>
          </a:solidFill>
          <a:ln w="12700">
            <a:solidFill>
              <a:srgbClr val="E2E8F0"/>
            </a:solidFill>
            <a:prstDash val="solid"/>
          </a:ln>
        </p:spPr>
      </p:sp>
      <p:sp>
        <p:nvSpPr>
          <p:cNvPr id="17" name="Shape 13"/>
          <p:cNvSpPr/>
          <p:nvPr/>
        </p:nvSpPr>
        <p:spPr>
          <a:xfrm>
            <a:off x="4454042" y="4940528"/>
            <a:ext cx="274320" cy="274320"/>
          </a:xfrm>
          <a:prstGeom prst="ellipse">
            <a:avLst/>
          </a:prstGeom>
          <a:solidFill>
            <a:srgbClr val="0D9488"/>
          </a:solidFill>
          <a:ln/>
        </p:spPr>
      </p:sp>
      <p:sp>
        <p:nvSpPr>
          <p:cNvPr id="18" name="Text 14"/>
          <p:cNvSpPr txBox="1"/>
          <p:nvPr/>
        </p:nvSpPr>
        <p:spPr>
          <a:xfrm>
            <a:off x="4454042" y="49405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Plus Jakarta Sans" pitchFamily="34" charset="-122"/>
                <a:cs typeface="Plus Jakarta Sans" pitchFamily="34" charset="-120"/>
              </a:rPr>
              <a:t>2</a:t>
            </a:r>
            <a:endParaRPr lang="en-US" sz="1200" dirty="0"/>
          </a:p>
        </p:txBody>
      </p:sp>
      <p:sp>
        <p:nvSpPr>
          <p:cNvPr id="19" name="Text 15"/>
          <p:cNvSpPr txBox="1"/>
          <p:nvPr/>
        </p:nvSpPr>
        <p:spPr>
          <a:xfrm>
            <a:off x="4810658" y="4940528"/>
            <a:ext cx="2936138" cy="274320"/>
          </a:xfrm>
          <a:prstGeom prst="rect">
            <a:avLst/>
          </a:prstGeom>
          <a:noFill/>
          <a:ln/>
        </p:spPr>
        <p:txBody>
          <a:bodyPr wrap="square" lIns="0" tIns="0" rIns="0" bIns="0" rtlCol="0" anchor="ctr"/>
          <a:lstStyle/>
          <a:p>
            <a:pPr indent="0" marL="0">
              <a:buNone/>
            </a:pPr>
            <a:r>
              <a:rPr lang="en-US" sz="1200" b="1" dirty="0">
                <a:solidFill>
                  <a:srgbClr val="0F2922"/>
                </a:solidFill>
                <a:latin typeface="Plus Jakarta Sans" pitchFamily="34" charset="0"/>
                <a:ea typeface="Plus Jakarta Sans" pitchFamily="34" charset="-122"/>
                <a:cs typeface="Plus Jakarta Sans" pitchFamily="34" charset="-120"/>
              </a:rPr>
              <a:t>Centralized Configuration</a:t>
            </a:r>
            <a:endParaRPr lang="en-US" sz="1200" dirty="0"/>
          </a:p>
        </p:txBody>
      </p:sp>
      <p:sp>
        <p:nvSpPr>
          <p:cNvPr id="20" name="Text 16"/>
          <p:cNvSpPr txBox="1"/>
          <p:nvPr/>
        </p:nvSpPr>
        <p:spPr>
          <a:xfrm>
            <a:off x="4490618" y="5288000"/>
            <a:ext cx="3210458" cy="1021360"/>
          </a:xfrm>
          <a:prstGeom prst="rect">
            <a:avLst/>
          </a:prstGeom>
          <a:noFill/>
          <a:ln/>
        </p:spPr>
        <p:txBody>
          <a:bodyPr wrap="square" lIns="0" tIns="0" rIns="0" bIns="0" rtlCol="0" anchor="t"/>
          <a:lstStyle/>
          <a:p>
            <a:pPr indent="0" marL="0">
              <a:lnSpc>
                <a:spcPct val="118000"/>
              </a:lnSpc>
              <a:buNone/>
            </a:pPr>
            <a:r>
              <a:rPr lang="en-US" sz="1000" dirty="0">
                <a:solidFill>
                  <a:srgbClr val="475569"/>
                </a:solidFill>
                <a:latin typeface="Inter" pitchFamily="34" charset="0"/>
                <a:ea typeface="Inter" pitchFamily="34" charset="-122"/>
                <a:cs typeface="Inter" pitchFamily="34" charset="-120"/>
              </a:rPr>
              <a:t>Categories, the SLA matrix, and routing rules are all managed from one console.</a:t>
            </a:r>
            <a:endParaRPr lang="en-US" sz="1000" dirty="0"/>
          </a:p>
        </p:txBody>
      </p:sp>
      <p:sp>
        <p:nvSpPr>
          <p:cNvPr id="21" name="Shape 17"/>
          <p:cNvSpPr/>
          <p:nvPr/>
        </p:nvSpPr>
        <p:spPr>
          <a:xfrm>
            <a:off x="8158277" y="4812512"/>
            <a:ext cx="3576218" cy="1588288"/>
          </a:xfrm>
          <a:prstGeom prst="roundRect">
            <a:avLst>
              <a:gd name="adj" fmla="val 4606"/>
            </a:avLst>
          </a:prstGeom>
          <a:solidFill>
            <a:srgbClr val="FFFFFF"/>
          </a:solidFill>
          <a:ln w="12700">
            <a:solidFill>
              <a:srgbClr val="E2E8F0"/>
            </a:solidFill>
            <a:prstDash val="solid"/>
          </a:ln>
        </p:spPr>
      </p:sp>
      <p:sp>
        <p:nvSpPr>
          <p:cNvPr id="22" name="Shape 18"/>
          <p:cNvSpPr/>
          <p:nvPr/>
        </p:nvSpPr>
        <p:spPr>
          <a:xfrm>
            <a:off x="8304581" y="4940528"/>
            <a:ext cx="274320" cy="274320"/>
          </a:xfrm>
          <a:prstGeom prst="ellipse">
            <a:avLst/>
          </a:prstGeom>
          <a:solidFill>
            <a:srgbClr val="0D9488"/>
          </a:solidFill>
          <a:ln/>
        </p:spPr>
      </p:sp>
      <p:sp>
        <p:nvSpPr>
          <p:cNvPr id="23" name="Text 19"/>
          <p:cNvSpPr txBox="1"/>
          <p:nvPr/>
        </p:nvSpPr>
        <p:spPr>
          <a:xfrm>
            <a:off x="8304581" y="49405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Plus Jakarta Sans" pitchFamily="34" charset="-122"/>
                <a:cs typeface="Plus Jakarta Sans" pitchFamily="34" charset="-120"/>
              </a:rPr>
              <a:t>3</a:t>
            </a:r>
            <a:endParaRPr lang="en-US" sz="1200" dirty="0"/>
          </a:p>
        </p:txBody>
      </p:sp>
      <p:sp>
        <p:nvSpPr>
          <p:cNvPr id="24" name="Text 20"/>
          <p:cNvSpPr txBox="1"/>
          <p:nvPr/>
        </p:nvSpPr>
        <p:spPr>
          <a:xfrm>
            <a:off x="8661197" y="4940528"/>
            <a:ext cx="2936138" cy="274320"/>
          </a:xfrm>
          <a:prstGeom prst="rect">
            <a:avLst/>
          </a:prstGeom>
          <a:noFill/>
          <a:ln/>
        </p:spPr>
        <p:txBody>
          <a:bodyPr wrap="square" lIns="0" tIns="0" rIns="0" bIns="0" rtlCol="0" anchor="ctr"/>
          <a:lstStyle/>
          <a:p>
            <a:pPr indent="0" marL="0">
              <a:buNone/>
            </a:pPr>
            <a:r>
              <a:rPr lang="en-US" sz="1200" b="1" dirty="0">
                <a:solidFill>
                  <a:srgbClr val="0F2922"/>
                </a:solidFill>
                <a:latin typeface="Plus Jakarta Sans" pitchFamily="34" charset="0"/>
                <a:ea typeface="Plus Jakarta Sans" pitchFamily="34" charset="-122"/>
                <a:cs typeface="Plus Jakarta Sans" pitchFamily="34" charset="-120"/>
              </a:rPr>
              <a:t>Governed Automation</a:t>
            </a:r>
            <a:endParaRPr lang="en-US" sz="1200" dirty="0"/>
          </a:p>
        </p:txBody>
      </p:sp>
      <p:sp>
        <p:nvSpPr>
          <p:cNvPr id="25" name="Text 21"/>
          <p:cNvSpPr txBox="1"/>
          <p:nvPr/>
        </p:nvSpPr>
        <p:spPr>
          <a:xfrm>
            <a:off x="8341157" y="5288000"/>
            <a:ext cx="3210458" cy="1021360"/>
          </a:xfrm>
          <a:prstGeom prst="rect">
            <a:avLst/>
          </a:prstGeom>
          <a:noFill/>
          <a:ln/>
        </p:spPr>
        <p:txBody>
          <a:bodyPr wrap="square" lIns="0" tIns="0" rIns="0" bIns="0" rtlCol="0" anchor="t"/>
          <a:lstStyle/>
          <a:p>
            <a:pPr indent="0" marL="0">
              <a:lnSpc>
                <a:spcPct val="118000"/>
              </a:lnSpc>
              <a:buNone/>
            </a:pPr>
            <a:r>
              <a:rPr lang="en-US" sz="1000" dirty="0">
                <a:solidFill>
                  <a:srgbClr val="475569"/>
                </a:solidFill>
                <a:latin typeface="Inter" pitchFamily="34" charset="0"/>
                <a:ea typeface="Inter" pitchFamily="34" charset="-122"/>
                <a:cs typeface="Inter" pitchFamily="34" charset="-120"/>
              </a:rPr>
              <a:t>Confidence thresholds and escalation rules stay Admin-controlled rather than hard-coded.</a:t>
            </a:r>
            <a:endParaRPr lang="en-US" sz="1000" dirty="0"/>
          </a:p>
        </p:txBody>
      </p:sp>
      <p:sp>
        <p:nvSpPr>
          <p:cNvPr id="26" name="Text 22"/>
          <p:cNvSpPr txBox="1"/>
          <p:nvPr/>
        </p:nvSpPr>
        <p:spPr>
          <a:xfrm>
            <a:off x="11475720" y="6510528"/>
            <a:ext cx="365760" cy="256032"/>
          </a:xfrm>
          <a:prstGeom prst="rect">
            <a:avLst/>
          </a:prstGeom>
          <a:noFill/>
          <a:ln/>
        </p:spPr>
        <p:txBody>
          <a:bodyPr wrap="square" lIns="0" tIns="0" rIns="0" bIns="0" rtlCol="0" anchor="ctr"/>
          <a:lstStyle/>
          <a:p>
            <a:pPr algn="r" indent="0" marL="0">
              <a:buNone/>
            </a:pPr>
            <a:r>
              <a:rPr lang="en-US" sz="900" b="1" dirty="0">
                <a:solidFill>
                  <a:srgbClr val="CBD5E1"/>
                </a:solidFill>
                <a:latin typeface="Inter" pitchFamily="34" charset="0"/>
                <a:ea typeface="Inter" pitchFamily="34" charset="-122"/>
                <a:cs typeface="Inter"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9"/>
        </a:solidFill>
      </p:bgPr>
    </p:bg>
    <p:spTree>
      <p:nvGrpSpPr>
        <p:cNvPr id="1" name=""/>
        <p:cNvGrpSpPr/>
        <p:nvPr/>
      </p:nvGrpSpPr>
      <p:grpSpPr>
        <a:xfrm>
          <a:off x="0" y="0"/>
          <a:ext cx="0" cy="0"/>
          <a:chOff x="0" y="0"/>
          <a:chExt cx="0" cy="0"/>
        </a:xfrm>
      </p:grpSpPr>
      <p:sp>
        <p:nvSpPr>
          <p:cNvPr id="2" name="Text 0"/>
          <p:cNvSpPr txBox="1"/>
          <p:nvPr/>
        </p:nvSpPr>
        <p:spPr>
          <a:xfrm>
            <a:off x="457200" y="320040"/>
            <a:ext cx="10607040" cy="274320"/>
          </a:xfrm>
          <a:prstGeom prst="rect">
            <a:avLst/>
          </a:prstGeom>
          <a:noFill/>
          <a:ln/>
        </p:spPr>
        <p:txBody>
          <a:bodyPr wrap="square" lIns="0" tIns="0" rIns="0" bIns="0" rtlCol="0" anchor="ctr"/>
          <a:lstStyle/>
          <a:p>
            <a:pPr indent="0" marL="0">
              <a:buNone/>
            </a:pPr>
            <a:r>
              <a:rPr lang="en-US" sz="1100" b="1" spc="100" kern="0" dirty="0">
                <a:solidFill>
                  <a:srgbClr val="0D9488"/>
                </a:solidFill>
                <a:latin typeface="Inter" pitchFamily="34" charset="0"/>
                <a:ea typeface="Inter" pitchFamily="34" charset="-122"/>
                <a:cs typeface="Inter" pitchFamily="34" charset="-120"/>
              </a:rPr>
              <a:t>ARCHITECTURE STACK</a:t>
            </a:r>
            <a:endParaRPr lang="en-US" sz="1100" dirty="0"/>
          </a:p>
        </p:txBody>
      </p:sp>
      <p:sp>
        <p:nvSpPr>
          <p:cNvPr id="3" name="Text 1"/>
          <p:cNvSpPr txBox="1"/>
          <p:nvPr/>
        </p:nvSpPr>
        <p:spPr>
          <a:xfrm>
            <a:off x="457200" y="566928"/>
            <a:ext cx="10972800" cy="566928"/>
          </a:xfrm>
          <a:prstGeom prst="rect">
            <a:avLst/>
          </a:prstGeom>
          <a:noFill/>
          <a:ln/>
        </p:spPr>
        <p:txBody>
          <a:bodyPr wrap="square" lIns="0" tIns="0" rIns="0" bIns="0" rtlCol="0" anchor="ctr"/>
          <a:lstStyle/>
          <a:p>
            <a:pPr indent="0" marL="0">
              <a:buNone/>
            </a:pPr>
            <a:r>
              <a:rPr lang="en-US" sz="2600" b="1" dirty="0">
                <a:solidFill>
                  <a:srgbClr val="0F2922"/>
                </a:solidFill>
                <a:latin typeface="Plus Jakarta Sans" pitchFamily="34" charset="0"/>
                <a:ea typeface="Plus Jakarta Sans" pitchFamily="34" charset="-122"/>
                <a:cs typeface="Plus Jakarta Sans" pitchFamily="34" charset="-120"/>
              </a:rPr>
              <a:t>Enterprise Technology Stack &amp; Libraries</a:t>
            </a:r>
            <a:endParaRPr lang="en-US" sz="2600" dirty="0"/>
          </a:p>
        </p:txBody>
      </p:sp>
      <p:sp>
        <p:nvSpPr>
          <p:cNvPr id="4" name="Shape 2"/>
          <p:cNvSpPr/>
          <p:nvPr/>
        </p:nvSpPr>
        <p:spPr>
          <a:xfrm>
            <a:off x="457200" y="1207008"/>
            <a:ext cx="11277295" cy="18288"/>
          </a:xfrm>
          <a:prstGeom prst="rect">
            <a:avLst/>
          </a:prstGeom>
          <a:solidFill>
            <a:srgbClr val="E2E8F0"/>
          </a:solidFill>
          <a:ln/>
        </p:spPr>
      </p:sp>
      <p:sp>
        <p:nvSpPr>
          <p:cNvPr id="5" name="Shape 3"/>
          <p:cNvSpPr/>
          <p:nvPr/>
        </p:nvSpPr>
        <p:spPr>
          <a:xfrm>
            <a:off x="457200" y="1463040"/>
            <a:ext cx="3576218" cy="2331720"/>
          </a:xfrm>
          <a:prstGeom prst="roundRect">
            <a:avLst>
              <a:gd name="adj" fmla="val 3137"/>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6" name="Shape 4"/>
          <p:cNvSpPr/>
          <p:nvPr/>
        </p:nvSpPr>
        <p:spPr>
          <a:xfrm>
            <a:off x="640080" y="1645920"/>
            <a:ext cx="365760" cy="365760"/>
          </a:xfrm>
          <a:prstGeom prst="ellipse">
            <a:avLst/>
          </a:prstGeom>
          <a:solidFill>
            <a:srgbClr val="0D9488"/>
          </a:solidFill>
          <a:ln/>
        </p:spPr>
      </p:sp>
      <p:sp>
        <p:nvSpPr>
          <p:cNvPr id="7" name="Text 5"/>
          <p:cNvSpPr txBox="1"/>
          <p:nvPr/>
        </p:nvSpPr>
        <p:spPr>
          <a:xfrm>
            <a:off x="640080" y="16459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Plus Jakarta Sans" pitchFamily="34" charset="-122"/>
                <a:cs typeface="Plus Jakarta Sans" pitchFamily="34" charset="-120"/>
              </a:rPr>
              <a:t>1</a:t>
            </a:r>
            <a:endParaRPr lang="en-US" sz="1200" dirty="0"/>
          </a:p>
        </p:txBody>
      </p:sp>
      <p:sp>
        <p:nvSpPr>
          <p:cNvPr id="8" name="Text 6"/>
          <p:cNvSpPr txBox="1"/>
          <p:nvPr/>
        </p:nvSpPr>
        <p:spPr>
          <a:xfrm>
            <a:off x="1143000" y="1645920"/>
            <a:ext cx="2707538" cy="365760"/>
          </a:xfrm>
          <a:prstGeom prst="rect">
            <a:avLst/>
          </a:prstGeom>
          <a:noFill/>
          <a:ln/>
        </p:spPr>
        <p:txBody>
          <a:bodyPr wrap="square" lIns="0" tIns="0" rIns="0" bIns="0" rtlCol="0" anchor="ctr"/>
          <a:lstStyle/>
          <a:p>
            <a:pPr indent="0" marL="0">
              <a:buNone/>
            </a:pPr>
            <a:r>
              <a:rPr lang="en-US" sz="1200" b="1" dirty="0">
                <a:solidFill>
                  <a:srgbClr val="0F2922"/>
                </a:solidFill>
                <a:latin typeface="Plus Jakarta Sans" pitchFamily="34" charset="0"/>
                <a:ea typeface="Plus Jakarta Sans" pitchFamily="34" charset="-122"/>
                <a:cs typeface="Plus Jakarta Sans" pitchFamily="34" charset="-120"/>
              </a:rPr>
              <a:t>Frontend UI Stack</a:t>
            </a:r>
            <a:endParaRPr lang="en-US" sz="1200" dirty="0"/>
          </a:p>
        </p:txBody>
      </p:sp>
      <p:sp>
        <p:nvSpPr>
          <p:cNvPr id="9" name="Text 7"/>
          <p:cNvSpPr txBox="1"/>
          <p:nvPr/>
        </p:nvSpPr>
        <p:spPr>
          <a:xfrm>
            <a:off x="640080" y="2176272"/>
            <a:ext cx="3210458" cy="502920"/>
          </a:xfrm>
          <a:prstGeom prst="rect">
            <a:avLst/>
          </a:prstGeom>
          <a:noFill/>
          <a:ln/>
        </p:spPr>
        <p:txBody>
          <a:bodyPr wrap="square" lIns="0" tIns="0" rIns="0" bIns="0" rtlCol="0" anchor="ctr"/>
          <a:lstStyle/>
          <a:p>
            <a:pPr indent="0" marL="0">
              <a:lnSpc>
                <a:spcPct val="120000"/>
              </a:lnSpc>
              <a:buNone/>
            </a:pPr>
            <a:r>
              <a:rPr lang="en-US" sz="950" i="1" dirty="0">
                <a:solidFill>
                  <a:srgbClr val="475569"/>
                </a:solidFill>
                <a:latin typeface="Inter" pitchFamily="34" charset="0"/>
                <a:ea typeface="Inter" pitchFamily="34" charset="-122"/>
                <a:cs typeface="Inter" pitchFamily="34" charset="-120"/>
              </a:rPr>
              <a:t>Responsive multi-dashboard interface</a:t>
            </a:r>
            <a:endParaRPr lang="en-US" sz="950" dirty="0"/>
          </a:p>
        </p:txBody>
      </p:sp>
      <p:sp>
        <p:nvSpPr>
          <p:cNvPr id="10" name="Shape 8"/>
          <p:cNvSpPr/>
          <p:nvPr/>
        </p:nvSpPr>
        <p:spPr>
          <a:xfrm>
            <a:off x="640080" y="2724912"/>
            <a:ext cx="3210458" cy="10973"/>
          </a:xfrm>
          <a:prstGeom prst="rect">
            <a:avLst/>
          </a:prstGeom>
          <a:solidFill>
            <a:srgbClr val="E2E8F0"/>
          </a:solidFill>
          <a:ln/>
        </p:spPr>
      </p:sp>
      <p:sp>
        <p:nvSpPr>
          <p:cNvPr id="11" name="Text 9"/>
          <p:cNvSpPr txBox="1"/>
          <p:nvPr/>
        </p:nvSpPr>
        <p:spPr>
          <a:xfrm>
            <a:off x="640080" y="2852928"/>
            <a:ext cx="3210458" cy="822960"/>
          </a:xfrm>
          <a:prstGeom prst="rect">
            <a:avLst/>
          </a:prstGeom>
          <a:noFill/>
          <a:ln/>
        </p:spPr>
        <p:txBody>
          <a:bodyPr wrap="square" lIns="0" tIns="0" rIns="0" bIns="0" rtlCol="0" anchor="ctr"/>
          <a:lstStyle/>
          <a:p>
            <a:pPr indent="0" marL="0">
              <a:lnSpc>
                <a:spcPct val="125000"/>
              </a:lnSpc>
              <a:buNone/>
            </a:pPr>
            <a:r>
              <a:rPr lang="en-US" sz="1000" dirty="0">
                <a:solidFill>
                  <a:srgbClr val="0F2922"/>
                </a:solidFill>
                <a:latin typeface="Inter" pitchFamily="34" charset="0"/>
                <a:ea typeface="Inter" pitchFamily="34" charset="-122"/>
                <a:cs typeface="Inter" pitchFamily="34" charset="-120"/>
              </a:rPr>
              <a:t>React.js, Tailwind CSS, FontAwesome Icons, Recharts, Axios</a:t>
            </a:r>
            <a:endParaRPr lang="en-US" sz="1000" dirty="0"/>
          </a:p>
        </p:txBody>
      </p:sp>
      <p:sp>
        <p:nvSpPr>
          <p:cNvPr id="12" name="Shape 10"/>
          <p:cNvSpPr/>
          <p:nvPr/>
        </p:nvSpPr>
        <p:spPr>
          <a:xfrm>
            <a:off x="4307738" y="1463040"/>
            <a:ext cx="3576218" cy="2331720"/>
          </a:xfrm>
          <a:prstGeom prst="roundRect">
            <a:avLst>
              <a:gd name="adj" fmla="val 3137"/>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13" name="Shape 11"/>
          <p:cNvSpPr/>
          <p:nvPr/>
        </p:nvSpPr>
        <p:spPr>
          <a:xfrm>
            <a:off x="4490618" y="1645920"/>
            <a:ext cx="365760" cy="365760"/>
          </a:xfrm>
          <a:prstGeom prst="ellipse">
            <a:avLst/>
          </a:prstGeom>
          <a:solidFill>
            <a:srgbClr val="0D9488"/>
          </a:solidFill>
          <a:ln/>
        </p:spPr>
      </p:sp>
      <p:sp>
        <p:nvSpPr>
          <p:cNvPr id="14" name="Text 12"/>
          <p:cNvSpPr txBox="1"/>
          <p:nvPr/>
        </p:nvSpPr>
        <p:spPr>
          <a:xfrm>
            <a:off x="4490618" y="16459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Plus Jakarta Sans" pitchFamily="34" charset="-122"/>
                <a:cs typeface="Plus Jakarta Sans" pitchFamily="34" charset="-120"/>
              </a:rPr>
              <a:t>2</a:t>
            </a:r>
            <a:endParaRPr lang="en-US" sz="1200" dirty="0"/>
          </a:p>
        </p:txBody>
      </p:sp>
      <p:sp>
        <p:nvSpPr>
          <p:cNvPr id="15" name="Text 13"/>
          <p:cNvSpPr txBox="1"/>
          <p:nvPr/>
        </p:nvSpPr>
        <p:spPr>
          <a:xfrm>
            <a:off x="4993538" y="1645920"/>
            <a:ext cx="2707538" cy="365760"/>
          </a:xfrm>
          <a:prstGeom prst="rect">
            <a:avLst/>
          </a:prstGeom>
          <a:noFill/>
          <a:ln/>
        </p:spPr>
        <p:txBody>
          <a:bodyPr wrap="square" lIns="0" tIns="0" rIns="0" bIns="0" rtlCol="0" anchor="ctr"/>
          <a:lstStyle/>
          <a:p>
            <a:pPr indent="0" marL="0">
              <a:buNone/>
            </a:pPr>
            <a:r>
              <a:rPr lang="en-US" sz="1200" b="1" dirty="0">
                <a:solidFill>
                  <a:srgbClr val="0F2922"/>
                </a:solidFill>
                <a:latin typeface="Plus Jakarta Sans" pitchFamily="34" charset="0"/>
                <a:ea typeface="Plus Jakarta Sans" pitchFamily="34" charset="-122"/>
                <a:cs typeface="Plus Jakarta Sans" pitchFamily="34" charset="-120"/>
              </a:rPr>
              <a:t>Backend API Server</a:t>
            </a:r>
            <a:endParaRPr lang="en-US" sz="1200" dirty="0"/>
          </a:p>
        </p:txBody>
      </p:sp>
      <p:sp>
        <p:nvSpPr>
          <p:cNvPr id="16" name="Text 14"/>
          <p:cNvSpPr txBox="1"/>
          <p:nvPr/>
        </p:nvSpPr>
        <p:spPr>
          <a:xfrm>
            <a:off x="4490618" y="2176272"/>
            <a:ext cx="3210458" cy="502920"/>
          </a:xfrm>
          <a:prstGeom prst="rect">
            <a:avLst/>
          </a:prstGeom>
          <a:noFill/>
          <a:ln/>
        </p:spPr>
        <p:txBody>
          <a:bodyPr wrap="square" lIns="0" tIns="0" rIns="0" bIns="0" rtlCol="0" anchor="ctr"/>
          <a:lstStyle/>
          <a:p>
            <a:pPr indent="0" marL="0">
              <a:lnSpc>
                <a:spcPct val="120000"/>
              </a:lnSpc>
              <a:buNone/>
            </a:pPr>
            <a:r>
              <a:rPr lang="en-US" sz="950" i="1" dirty="0">
                <a:solidFill>
                  <a:srgbClr val="475569"/>
                </a:solidFill>
                <a:latin typeface="Inter" pitchFamily="34" charset="0"/>
                <a:ea typeface="Inter" pitchFamily="34" charset="-122"/>
                <a:cs typeface="Inter" pitchFamily="34" charset="-120"/>
              </a:rPr>
              <a:t>RESTful API architecture with CORS &amp; Auth</a:t>
            </a:r>
            <a:endParaRPr lang="en-US" sz="950" dirty="0"/>
          </a:p>
        </p:txBody>
      </p:sp>
      <p:sp>
        <p:nvSpPr>
          <p:cNvPr id="17" name="Shape 15"/>
          <p:cNvSpPr/>
          <p:nvPr/>
        </p:nvSpPr>
        <p:spPr>
          <a:xfrm>
            <a:off x="4490618" y="2724912"/>
            <a:ext cx="3210458" cy="10973"/>
          </a:xfrm>
          <a:prstGeom prst="rect">
            <a:avLst/>
          </a:prstGeom>
          <a:solidFill>
            <a:srgbClr val="E2E8F0"/>
          </a:solidFill>
          <a:ln/>
        </p:spPr>
      </p:sp>
      <p:sp>
        <p:nvSpPr>
          <p:cNvPr id="18" name="Text 16"/>
          <p:cNvSpPr txBox="1"/>
          <p:nvPr/>
        </p:nvSpPr>
        <p:spPr>
          <a:xfrm>
            <a:off x="4490618" y="2852928"/>
            <a:ext cx="3210458" cy="822960"/>
          </a:xfrm>
          <a:prstGeom prst="rect">
            <a:avLst/>
          </a:prstGeom>
          <a:noFill/>
          <a:ln/>
        </p:spPr>
        <p:txBody>
          <a:bodyPr wrap="square" lIns="0" tIns="0" rIns="0" bIns="0" rtlCol="0" anchor="ctr"/>
          <a:lstStyle/>
          <a:p>
            <a:pPr indent="0" marL="0">
              <a:lnSpc>
                <a:spcPct val="125000"/>
              </a:lnSpc>
              <a:buNone/>
            </a:pPr>
            <a:r>
              <a:rPr lang="en-US" sz="1000" dirty="0">
                <a:solidFill>
                  <a:srgbClr val="0F2922"/>
                </a:solidFill>
                <a:latin typeface="Inter" pitchFamily="34" charset="0"/>
                <a:ea typeface="Inter" pitchFamily="34" charset="-122"/>
                <a:cs typeface="Inter" pitchFamily="34" charset="-120"/>
              </a:rPr>
              <a:t>Python 3.11, Django, Django REST Framework, JWT Tokens</a:t>
            </a:r>
            <a:endParaRPr lang="en-US" sz="1000" dirty="0"/>
          </a:p>
        </p:txBody>
      </p:sp>
      <p:sp>
        <p:nvSpPr>
          <p:cNvPr id="19" name="Shape 17"/>
          <p:cNvSpPr/>
          <p:nvPr/>
        </p:nvSpPr>
        <p:spPr>
          <a:xfrm>
            <a:off x="8158277" y="1463040"/>
            <a:ext cx="3576218" cy="2331720"/>
          </a:xfrm>
          <a:prstGeom prst="roundRect">
            <a:avLst>
              <a:gd name="adj" fmla="val 3137"/>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20" name="Shape 18"/>
          <p:cNvSpPr/>
          <p:nvPr/>
        </p:nvSpPr>
        <p:spPr>
          <a:xfrm>
            <a:off x="8341157" y="1645920"/>
            <a:ext cx="365760" cy="365760"/>
          </a:xfrm>
          <a:prstGeom prst="ellipse">
            <a:avLst/>
          </a:prstGeom>
          <a:solidFill>
            <a:srgbClr val="0D9488"/>
          </a:solidFill>
          <a:ln/>
        </p:spPr>
      </p:sp>
      <p:sp>
        <p:nvSpPr>
          <p:cNvPr id="21" name="Text 19"/>
          <p:cNvSpPr txBox="1"/>
          <p:nvPr/>
        </p:nvSpPr>
        <p:spPr>
          <a:xfrm>
            <a:off x="8341157" y="16459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Plus Jakarta Sans" pitchFamily="34" charset="-122"/>
                <a:cs typeface="Plus Jakarta Sans" pitchFamily="34" charset="-120"/>
              </a:rPr>
              <a:t>3</a:t>
            </a:r>
            <a:endParaRPr lang="en-US" sz="1200" dirty="0"/>
          </a:p>
        </p:txBody>
      </p:sp>
      <p:sp>
        <p:nvSpPr>
          <p:cNvPr id="22" name="Text 20"/>
          <p:cNvSpPr txBox="1"/>
          <p:nvPr/>
        </p:nvSpPr>
        <p:spPr>
          <a:xfrm>
            <a:off x="8844077" y="1645920"/>
            <a:ext cx="2707538" cy="365760"/>
          </a:xfrm>
          <a:prstGeom prst="rect">
            <a:avLst/>
          </a:prstGeom>
          <a:noFill/>
          <a:ln/>
        </p:spPr>
        <p:txBody>
          <a:bodyPr wrap="square" lIns="0" tIns="0" rIns="0" bIns="0" rtlCol="0" anchor="ctr"/>
          <a:lstStyle/>
          <a:p>
            <a:pPr indent="0" marL="0">
              <a:buNone/>
            </a:pPr>
            <a:r>
              <a:rPr lang="en-US" sz="1200" b="1" dirty="0">
                <a:solidFill>
                  <a:srgbClr val="0F2922"/>
                </a:solidFill>
                <a:latin typeface="Plus Jakarta Sans" pitchFamily="34" charset="0"/>
                <a:ea typeface="Plus Jakarta Sans" pitchFamily="34" charset="-122"/>
                <a:cs typeface="Plus Jakarta Sans" pitchFamily="34" charset="-120"/>
              </a:rPr>
              <a:t>Database &amp; Storage</a:t>
            </a:r>
            <a:endParaRPr lang="en-US" sz="1200" dirty="0"/>
          </a:p>
        </p:txBody>
      </p:sp>
      <p:sp>
        <p:nvSpPr>
          <p:cNvPr id="23" name="Text 21"/>
          <p:cNvSpPr txBox="1"/>
          <p:nvPr/>
        </p:nvSpPr>
        <p:spPr>
          <a:xfrm>
            <a:off x="8341157" y="2176272"/>
            <a:ext cx="3210458" cy="502920"/>
          </a:xfrm>
          <a:prstGeom prst="rect">
            <a:avLst/>
          </a:prstGeom>
          <a:noFill/>
          <a:ln/>
        </p:spPr>
        <p:txBody>
          <a:bodyPr wrap="square" lIns="0" tIns="0" rIns="0" bIns="0" rtlCol="0" anchor="ctr"/>
          <a:lstStyle/>
          <a:p>
            <a:pPr indent="0" marL="0">
              <a:lnSpc>
                <a:spcPct val="120000"/>
              </a:lnSpc>
              <a:buNone/>
            </a:pPr>
            <a:r>
              <a:rPr lang="en-US" sz="950" i="1" dirty="0">
                <a:solidFill>
                  <a:srgbClr val="475569"/>
                </a:solidFill>
                <a:latin typeface="Inter" pitchFamily="34" charset="0"/>
                <a:ea typeface="Inter" pitchFamily="34" charset="-122"/>
                <a:cs typeface="Inter" pitchFamily="34" charset="-120"/>
              </a:rPr>
              <a:t>Dynamic document storage for tickets &amp; logs</a:t>
            </a:r>
            <a:endParaRPr lang="en-US" sz="950" dirty="0"/>
          </a:p>
        </p:txBody>
      </p:sp>
      <p:sp>
        <p:nvSpPr>
          <p:cNvPr id="24" name="Shape 22"/>
          <p:cNvSpPr/>
          <p:nvPr/>
        </p:nvSpPr>
        <p:spPr>
          <a:xfrm>
            <a:off x="8341157" y="2724912"/>
            <a:ext cx="3210458" cy="10973"/>
          </a:xfrm>
          <a:prstGeom prst="rect">
            <a:avLst/>
          </a:prstGeom>
          <a:solidFill>
            <a:srgbClr val="E2E8F0"/>
          </a:solidFill>
          <a:ln/>
        </p:spPr>
      </p:sp>
      <p:sp>
        <p:nvSpPr>
          <p:cNvPr id="25" name="Text 23"/>
          <p:cNvSpPr txBox="1"/>
          <p:nvPr/>
        </p:nvSpPr>
        <p:spPr>
          <a:xfrm>
            <a:off x="8341157" y="2852928"/>
            <a:ext cx="3210458" cy="822960"/>
          </a:xfrm>
          <a:prstGeom prst="rect">
            <a:avLst/>
          </a:prstGeom>
          <a:noFill/>
          <a:ln/>
        </p:spPr>
        <p:txBody>
          <a:bodyPr wrap="square" lIns="0" tIns="0" rIns="0" bIns="0" rtlCol="0" anchor="ctr"/>
          <a:lstStyle/>
          <a:p>
            <a:pPr indent="0" marL="0">
              <a:lnSpc>
                <a:spcPct val="125000"/>
              </a:lnSpc>
              <a:buNone/>
            </a:pPr>
            <a:r>
              <a:rPr lang="en-US" sz="1000" dirty="0">
                <a:solidFill>
                  <a:srgbClr val="0F2922"/>
                </a:solidFill>
                <a:latin typeface="Inter" pitchFamily="34" charset="0"/>
                <a:ea typeface="Inter" pitchFamily="34" charset="-122"/>
                <a:cs typeface="Inter" pitchFamily="34" charset="-120"/>
              </a:rPr>
              <a:t>MongoDB Atlas Cloud, PyMongo / MongoEngine Schema</a:t>
            </a:r>
            <a:endParaRPr lang="en-US" sz="1000" dirty="0"/>
          </a:p>
        </p:txBody>
      </p:sp>
      <p:sp>
        <p:nvSpPr>
          <p:cNvPr id="26" name="Shape 24"/>
          <p:cNvSpPr/>
          <p:nvPr/>
        </p:nvSpPr>
        <p:spPr>
          <a:xfrm>
            <a:off x="457200" y="4069080"/>
            <a:ext cx="3576218" cy="2331720"/>
          </a:xfrm>
          <a:prstGeom prst="roundRect">
            <a:avLst>
              <a:gd name="adj" fmla="val 3137"/>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27" name="Shape 25"/>
          <p:cNvSpPr/>
          <p:nvPr/>
        </p:nvSpPr>
        <p:spPr>
          <a:xfrm>
            <a:off x="640080" y="4251960"/>
            <a:ext cx="365760" cy="365760"/>
          </a:xfrm>
          <a:prstGeom prst="ellipse">
            <a:avLst/>
          </a:prstGeom>
          <a:solidFill>
            <a:srgbClr val="0D9488"/>
          </a:solidFill>
          <a:ln/>
        </p:spPr>
      </p:sp>
      <p:sp>
        <p:nvSpPr>
          <p:cNvPr id="28" name="Text 26"/>
          <p:cNvSpPr txBox="1"/>
          <p:nvPr/>
        </p:nvSpPr>
        <p:spPr>
          <a:xfrm>
            <a:off x="640080" y="42519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Plus Jakarta Sans" pitchFamily="34" charset="-122"/>
                <a:cs typeface="Plus Jakarta Sans" pitchFamily="34" charset="-120"/>
              </a:rPr>
              <a:t>4</a:t>
            </a:r>
            <a:endParaRPr lang="en-US" sz="1200" dirty="0"/>
          </a:p>
        </p:txBody>
      </p:sp>
      <p:sp>
        <p:nvSpPr>
          <p:cNvPr id="29" name="Text 27"/>
          <p:cNvSpPr txBox="1"/>
          <p:nvPr/>
        </p:nvSpPr>
        <p:spPr>
          <a:xfrm>
            <a:off x="1143000" y="4251960"/>
            <a:ext cx="2707538" cy="365760"/>
          </a:xfrm>
          <a:prstGeom prst="rect">
            <a:avLst/>
          </a:prstGeom>
          <a:noFill/>
          <a:ln/>
        </p:spPr>
        <p:txBody>
          <a:bodyPr wrap="square" lIns="0" tIns="0" rIns="0" bIns="0" rtlCol="0" anchor="ctr"/>
          <a:lstStyle/>
          <a:p>
            <a:pPr indent="0" marL="0">
              <a:buNone/>
            </a:pPr>
            <a:r>
              <a:rPr lang="en-US" sz="1200" b="1" dirty="0">
                <a:solidFill>
                  <a:srgbClr val="0F2922"/>
                </a:solidFill>
                <a:latin typeface="Plus Jakarta Sans" pitchFamily="34" charset="0"/>
                <a:ea typeface="Plus Jakarta Sans" pitchFamily="34" charset="-122"/>
                <a:cs typeface="Plus Jakarta Sans" pitchFamily="34" charset="-120"/>
              </a:rPr>
              <a:t>AI &amp; Vector RAG Engine</a:t>
            </a:r>
            <a:endParaRPr lang="en-US" sz="1200" dirty="0"/>
          </a:p>
        </p:txBody>
      </p:sp>
      <p:sp>
        <p:nvSpPr>
          <p:cNvPr id="30" name="Text 28"/>
          <p:cNvSpPr txBox="1"/>
          <p:nvPr/>
        </p:nvSpPr>
        <p:spPr>
          <a:xfrm>
            <a:off x="640080" y="4782312"/>
            <a:ext cx="3210458" cy="502920"/>
          </a:xfrm>
          <a:prstGeom prst="rect">
            <a:avLst/>
          </a:prstGeom>
          <a:noFill/>
          <a:ln/>
        </p:spPr>
        <p:txBody>
          <a:bodyPr wrap="square" lIns="0" tIns="0" rIns="0" bIns="0" rtlCol="0" anchor="ctr"/>
          <a:lstStyle/>
          <a:p>
            <a:pPr indent="0" marL="0">
              <a:lnSpc>
                <a:spcPct val="120000"/>
              </a:lnSpc>
              <a:buNone/>
            </a:pPr>
            <a:r>
              <a:rPr lang="en-US" sz="950" i="1" dirty="0">
                <a:solidFill>
                  <a:srgbClr val="475569"/>
                </a:solidFill>
                <a:latin typeface="Inter" pitchFamily="34" charset="0"/>
                <a:ea typeface="Inter" pitchFamily="34" charset="-122"/>
                <a:cs typeface="Inter" pitchFamily="34" charset="-120"/>
              </a:rPr>
              <a:t>Multi-stage prompt &amp; context retriever</a:t>
            </a:r>
            <a:endParaRPr lang="en-US" sz="950" dirty="0"/>
          </a:p>
        </p:txBody>
      </p:sp>
      <p:sp>
        <p:nvSpPr>
          <p:cNvPr id="31" name="Shape 29"/>
          <p:cNvSpPr/>
          <p:nvPr/>
        </p:nvSpPr>
        <p:spPr>
          <a:xfrm>
            <a:off x="640080" y="5330952"/>
            <a:ext cx="3210458" cy="10973"/>
          </a:xfrm>
          <a:prstGeom prst="rect">
            <a:avLst/>
          </a:prstGeom>
          <a:solidFill>
            <a:srgbClr val="E2E8F0"/>
          </a:solidFill>
          <a:ln/>
        </p:spPr>
      </p:sp>
      <p:sp>
        <p:nvSpPr>
          <p:cNvPr id="32" name="Text 30"/>
          <p:cNvSpPr txBox="1"/>
          <p:nvPr/>
        </p:nvSpPr>
        <p:spPr>
          <a:xfrm>
            <a:off x="640080" y="5458968"/>
            <a:ext cx="3210458" cy="822960"/>
          </a:xfrm>
          <a:prstGeom prst="rect">
            <a:avLst/>
          </a:prstGeom>
          <a:noFill/>
          <a:ln/>
        </p:spPr>
        <p:txBody>
          <a:bodyPr wrap="square" lIns="0" tIns="0" rIns="0" bIns="0" rtlCol="0" anchor="ctr"/>
          <a:lstStyle/>
          <a:p>
            <a:pPr indent="0" marL="0">
              <a:lnSpc>
                <a:spcPct val="125000"/>
              </a:lnSpc>
              <a:buNone/>
            </a:pPr>
            <a:r>
              <a:rPr lang="en-US" sz="1000" dirty="0">
                <a:solidFill>
                  <a:srgbClr val="0F2922"/>
                </a:solidFill>
                <a:latin typeface="Inter" pitchFamily="34" charset="0"/>
                <a:ea typeface="Inter" pitchFamily="34" charset="-122"/>
                <a:cs typeface="Inter" pitchFamily="34" charset="-120"/>
              </a:rPr>
              <a:t>LLM Integrations, Embedding Search, Sentiment Classifier</a:t>
            </a:r>
            <a:endParaRPr lang="en-US" sz="1000" dirty="0"/>
          </a:p>
        </p:txBody>
      </p:sp>
      <p:sp>
        <p:nvSpPr>
          <p:cNvPr id="33" name="Shape 31"/>
          <p:cNvSpPr/>
          <p:nvPr/>
        </p:nvSpPr>
        <p:spPr>
          <a:xfrm>
            <a:off x="4307738" y="4069080"/>
            <a:ext cx="3576218" cy="2331720"/>
          </a:xfrm>
          <a:prstGeom prst="roundRect">
            <a:avLst>
              <a:gd name="adj" fmla="val 3137"/>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34" name="Shape 32"/>
          <p:cNvSpPr/>
          <p:nvPr/>
        </p:nvSpPr>
        <p:spPr>
          <a:xfrm>
            <a:off x="4490618" y="4251960"/>
            <a:ext cx="365760" cy="365760"/>
          </a:xfrm>
          <a:prstGeom prst="ellipse">
            <a:avLst/>
          </a:prstGeom>
          <a:solidFill>
            <a:srgbClr val="0D9488"/>
          </a:solidFill>
          <a:ln/>
        </p:spPr>
      </p:sp>
      <p:sp>
        <p:nvSpPr>
          <p:cNvPr id="35" name="Text 33"/>
          <p:cNvSpPr txBox="1"/>
          <p:nvPr/>
        </p:nvSpPr>
        <p:spPr>
          <a:xfrm>
            <a:off x="4490618" y="42519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Plus Jakarta Sans" pitchFamily="34" charset="-122"/>
                <a:cs typeface="Plus Jakarta Sans" pitchFamily="34" charset="-120"/>
              </a:rPr>
              <a:t>5</a:t>
            </a:r>
            <a:endParaRPr lang="en-US" sz="1200" dirty="0"/>
          </a:p>
        </p:txBody>
      </p:sp>
      <p:sp>
        <p:nvSpPr>
          <p:cNvPr id="36" name="Text 34"/>
          <p:cNvSpPr txBox="1"/>
          <p:nvPr/>
        </p:nvSpPr>
        <p:spPr>
          <a:xfrm>
            <a:off x="4993538" y="4251960"/>
            <a:ext cx="2707538" cy="365760"/>
          </a:xfrm>
          <a:prstGeom prst="rect">
            <a:avLst/>
          </a:prstGeom>
          <a:noFill/>
          <a:ln/>
        </p:spPr>
        <p:txBody>
          <a:bodyPr wrap="square" lIns="0" tIns="0" rIns="0" bIns="0" rtlCol="0" anchor="ctr"/>
          <a:lstStyle/>
          <a:p>
            <a:pPr indent="0" marL="0">
              <a:buNone/>
            </a:pPr>
            <a:r>
              <a:rPr lang="en-US" sz="1200" b="1" dirty="0">
                <a:solidFill>
                  <a:srgbClr val="0F2922"/>
                </a:solidFill>
                <a:latin typeface="Plus Jakarta Sans" pitchFamily="34" charset="0"/>
                <a:ea typeface="Plus Jakarta Sans" pitchFamily="34" charset="-122"/>
                <a:cs typeface="Plus Jakarta Sans" pitchFamily="34" charset="-120"/>
              </a:rPr>
              <a:t>Ecosystem Integrations</a:t>
            </a:r>
            <a:endParaRPr lang="en-US" sz="1200" dirty="0"/>
          </a:p>
        </p:txBody>
      </p:sp>
      <p:sp>
        <p:nvSpPr>
          <p:cNvPr id="37" name="Text 35"/>
          <p:cNvSpPr txBox="1"/>
          <p:nvPr/>
        </p:nvSpPr>
        <p:spPr>
          <a:xfrm>
            <a:off x="4490618" y="4782312"/>
            <a:ext cx="3210458" cy="502920"/>
          </a:xfrm>
          <a:prstGeom prst="rect">
            <a:avLst/>
          </a:prstGeom>
          <a:noFill/>
          <a:ln/>
        </p:spPr>
        <p:txBody>
          <a:bodyPr wrap="square" lIns="0" tIns="0" rIns="0" bIns="0" rtlCol="0" anchor="ctr"/>
          <a:lstStyle/>
          <a:p>
            <a:pPr indent="0" marL="0">
              <a:lnSpc>
                <a:spcPct val="120000"/>
              </a:lnSpc>
              <a:buNone/>
            </a:pPr>
            <a:r>
              <a:rPr lang="en-US" sz="950" i="1" dirty="0">
                <a:solidFill>
                  <a:srgbClr val="475569"/>
                </a:solidFill>
                <a:latin typeface="Inter" pitchFamily="34" charset="0"/>
                <a:ea typeface="Inter" pitchFamily="34" charset="-122"/>
                <a:cs typeface="Inter" pitchFamily="34" charset="-120"/>
              </a:rPr>
              <a:t>Automated issue filing &amp; customer emails</a:t>
            </a:r>
            <a:endParaRPr lang="en-US" sz="950" dirty="0"/>
          </a:p>
        </p:txBody>
      </p:sp>
      <p:sp>
        <p:nvSpPr>
          <p:cNvPr id="38" name="Shape 36"/>
          <p:cNvSpPr/>
          <p:nvPr/>
        </p:nvSpPr>
        <p:spPr>
          <a:xfrm>
            <a:off x="4490618" y="5330952"/>
            <a:ext cx="3210458" cy="10973"/>
          </a:xfrm>
          <a:prstGeom prst="rect">
            <a:avLst/>
          </a:prstGeom>
          <a:solidFill>
            <a:srgbClr val="E2E8F0"/>
          </a:solidFill>
          <a:ln/>
        </p:spPr>
      </p:sp>
      <p:sp>
        <p:nvSpPr>
          <p:cNvPr id="39" name="Text 37"/>
          <p:cNvSpPr txBox="1"/>
          <p:nvPr/>
        </p:nvSpPr>
        <p:spPr>
          <a:xfrm>
            <a:off x="4490618" y="5458968"/>
            <a:ext cx="3210458" cy="822960"/>
          </a:xfrm>
          <a:prstGeom prst="rect">
            <a:avLst/>
          </a:prstGeom>
          <a:noFill/>
          <a:ln/>
        </p:spPr>
        <p:txBody>
          <a:bodyPr wrap="square" lIns="0" tIns="0" rIns="0" bIns="0" rtlCol="0" anchor="ctr"/>
          <a:lstStyle/>
          <a:p>
            <a:pPr indent="0" marL="0">
              <a:lnSpc>
                <a:spcPct val="125000"/>
              </a:lnSpc>
              <a:buNone/>
            </a:pPr>
            <a:r>
              <a:rPr lang="en-US" sz="1000" dirty="0">
                <a:solidFill>
                  <a:srgbClr val="0F2922"/>
                </a:solidFill>
                <a:latin typeface="Inter" pitchFamily="34" charset="0"/>
                <a:ea typeface="Inter" pitchFamily="34" charset="-122"/>
                <a:cs typeface="Inter" pitchFamily="34" charset="-120"/>
              </a:rPr>
              <a:t>Jira REST API v3 Sync, SMTP Email Automation Framework</a:t>
            </a:r>
            <a:endParaRPr lang="en-US" sz="1000" dirty="0"/>
          </a:p>
        </p:txBody>
      </p:sp>
      <p:sp>
        <p:nvSpPr>
          <p:cNvPr id="40" name="Shape 38"/>
          <p:cNvSpPr/>
          <p:nvPr/>
        </p:nvSpPr>
        <p:spPr>
          <a:xfrm>
            <a:off x="8158277" y="4069080"/>
            <a:ext cx="3576218" cy="2331720"/>
          </a:xfrm>
          <a:prstGeom prst="roundRect">
            <a:avLst>
              <a:gd name="adj" fmla="val 3137"/>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41" name="Shape 39"/>
          <p:cNvSpPr/>
          <p:nvPr/>
        </p:nvSpPr>
        <p:spPr>
          <a:xfrm>
            <a:off x="8341157" y="4251960"/>
            <a:ext cx="365760" cy="365760"/>
          </a:xfrm>
          <a:prstGeom prst="ellipse">
            <a:avLst/>
          </a:prstGeom>
          <a:solidFill>
            <a:srgbClr val="0D9488"/>
          </a:solidFill>
          <a:ln/>
        </p:spPr>
      </p:sp>
      <p:sp>
        <p:nvSpPr>
          <p:cNvPr id="42" name="Text 40"/>
          <p:cNvSpPr txBox="1"/>
          <p:nvPr/>
        </p:nvSpPr>
        <p:spPr>
          <a:xfrm>
            <a:off x="8341157" y="42519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Plus Jakarta Sans" pitchFamily="34" charset="-122"/>
                <a:cs typeface="Plus Jakarta Sans" pitchFamily="34" charset="-120"/>
              </a:rPr>
              <a:t>6</a:t>
            </a:r>
            <a:endParaRPr lang="en-US" sz="1200" dirty="0"/>
          </a:p>
        </p:txBody>
      </p:sp>
      <p:sp>
        <p:nvSpPr>
          <p:cNvPr id="43" name="Text 41"/>
          <p:cNvSpPr txBox="1"/>
          <p:nvPr/>
        </p:nvSpPr>
        <p:spPr>
          <a:xfrm>
            <a:off x="8844077" y="4251960"/>
            <a:ext cx="2707538" cy="365760"/>
          </a:xfrm>
          <a:prstGeom prst="rect">
            <a:avLst/>
          </a:prstGeom>
          <a:noFill/>
          <a:ln/>
        </p:spPr>
        <p:txBody>
          <a:bodyPr wrap="square" lIns="0" tIns="0" rIns="0" bIns="0" rtlCol="0" anchor="ctr"/>
          <a:lstStyle/>
          <a:p>
            <a:pPr indent="0" marL="0">
              <a:buNone/>
            </a:pPr>
            <a:r>
              <a:rPr lang="en-US" sz="1200" b="1" dirty="0">
                <a:solidFill>
                  <a:srgbClr val="0F2922"/>
                </a:solidFill>
                <a:latin typeface="Plus Jakarta Sans" pitchFamily="34" charset="0"/>
                <a:ea typeface="Plus Jakarta Sans" pitchFamily="34" charset="-122"/>
                <a:cs typeface="Plus Jakarta Sans" pitchFamily="34" charset="-120"/>
              </a:rPr>
              <a:t>Cloud Deployment</a:t>
            </a:r>
            <a:endParaRPr lang="en-US" sz="1200" dirty="0"/>
          </a:p>
        </p:txBody>
      </p:sp>
      <p:sp>
        <p:nvSpPr>
          <p:cNvPr id="44" name="Text 42"/>
          <p:cNvSpPr txBox="1"/>
          <p:nvPr/>
        </p:nvSpPr>
        <p:spPr>
          <a:xfrm>
            <a:off x="8341157" y="4782312"/>
            <a:ext cx="3210458" cy="502920"/>
          </a:xfrm>
          <a:prstGeom prst="rect">
            <a:avLst/>
          </a:prstGeom>
          <a:noFill/>
          <a:ln/>
        </p:spPr>
        <p:txBody>
          <a:bodyPr wrap="square" lIns="0" tIns="0" rIns="0" bIns="0" rtlCol="0" anchor="ctr"/>
          <a:lstStyle/>
          <a:p>
            <a:pPr indent="0" marL="0">
              <a:lnSpc>
                <a:spcPct val="120000"/>
              </a:lnSpc>
              <a:buNone/>
            </a:pPr>
            <a:r>
              <a:rPr lang="en-US" sz="950" i="1" dirty="0">
                <a:solidFill>
                  <a:srgbClr val="475569"/>
                </a:solidFill>
                <a:latin typeface="Inter" pitchFamily="34" charset="0"/>
                <a:ea typeface="Inter" pitchFamily="34" charset="-122"/>
                <a:cs typeface="Inter" pitchFamily="34" charset="-120"/>
              </a:rPr>
              <a:t>Continuous delivery via Git &amp; GitHub</a:t>
            </a:r>
            <a:endParaRPr lang="en-US" sz="950" dirty="0"/>
          </a:p>
        </p:txBody>
      </p:sp>
      <p:sp>
        <p:nvSpPr>
          <p:cNvPr id="45" name="Shape 43"/>
          <p:cNvSpPr/>
          <p:nvPr/>
        </p:nvSpPr>
        <p:spPr>
          <a:xfrm>
            <a:off x="8341157" y="5330952"/>
            <a:ext cx="3210458" cy="10973"/>
          </a:xfrm>
          <a:prstGeom prst="rect">
            <a:avLst/>
          </a:prstGeom>
          <a:solidFill>
            <a:srgbClr val="E2E8F0"/>
          </a:solidFill>
          <a:ln/>
        </p:spPr>
      </p:sp>
      <p:sp>
        <p:nvSpPr>
          <p:cNvPr id="46" name="Text 44"/>
          <p:cNvSpPr txBox="1"/>
          <p:nvPr/>
        </p:nvSpPr>
        <p:spPr>
          <a:xfrm>
            <a:off x="8341157" y="5458968"/>
            <a:ext cx="3210458" cy="822960"/>
          </a:xfrm>
          <a:prstGeom prst="rect">
            <a:avLst/>
          </a:prstGeom>
          <a:noFill/>
          <a:ln/>
        </p:spPr>
        <p:txBody>
          <a:bodyPr wrap="square" lIns="0" tIns="0" rIns="0" bIns="0" rtlCol="0" anchor="ctr"/>
          <a:lstStyle/>
          <a:p>
            <a:pPr indent="0" marL="0">
              <a:lnSpc>
                <a:spcPct val="125000"/>
              </a:lnSpc>
              <a:buNone/>
            </a:pPr>
            <a:r>
              <a:rPr lang="en-US" sz="1000" dirty="0">
                <a:solidFill>
                  <a:srgbClr val="0F2922"/>
                </a:solidFill>
                <a:latin typeface="Inter" pitchFamily="34" charset="0"/>
                <a:ea typeface="Inter" pitchFamily="34" charset="-122"/>
                <a:cs typeface="Inter" pitchFamily="34" charset="-120"/>
              </a:rPr>
              <a:t>Vercel (Frontend CDN), Render Web Service (Backend)</a:t>
            </a:r>
            <a:endParaRPr lang="en-US" sz="1000" dirty="0"/>
          </a:p>
        </p:txBody>
      </p:sp>
      <p:sp>
        <p:nvSpPr>
          <p:cNvPr id="47" name="Text 45"/>
          <p:cNvSpPr txBox="1"/>
          <p:nvPr/>
        </p:nvSpPr>
        <p:spPr>
          <a:xfrm>
            <a:off x="11475720" y="6510528"/>
            <a:ext cx="365760" cy="256032"/>
          </a:xfrm>
          <a:prstGeom prst="rect">
            <a:avLst/>
          </a:prstGeom>
          <a:noFill/>
          <a:ln/>
        </p:spPr>
        <p:txBody>
          <a:bodyPr wrap="square" lIns="0" tIns="0" rIns="0" bIns="0" rtlCol="0" anchor="ctr"/>
          <a:lstStyle/>
          <a:p>
            <a:pPr algn="r" indent="0" marL="0">
              <a:buNone/>
            </a:pPr>
            <a:r>
              <a:rPr lang="en-US" sz="900" b="1" dirty="0">
                <a:solidFill>
                  <a:srgbClr val="CBD5E1"/>
                </a:solidFill>
                <a:latin typeface="Inter" pitchFamily="34" charset="0"/>
                <a:ea typeface="Inter" pitchFamily="34" charset="-122"/>
                <a:cs typeface="Inter"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9"/>
        </a:solidFill>
      </p:bgPr>
    </p:bg>
    <p:spTree>
      <p:nvGrpSpPr>
        <p:cNvPr id="1" name=""/>
        <p:cNvGrpSpPr/>
        <p:nvPr/>
      </p:nvGrpSpPr>
      <p:grpSpPr>
        <a:xfrm>
          <a:off x="0" y="0"/>
          <a:ext cx="0" cy="0"/>
          <a:chOff x="0" y="0"/>
          <a:chExt cx="0" cy="0"/>
        </a:xfrm>
      </p:grpSpPr>
      <p:sp>
        <p:nvSpPr>
          <p:cNvPr id="2" name="Text 0"/>
          <p:cNvSpPr txBox="1"/>
          <p:nvPr/>
        </p:nvSpPr>
        <p:spPr>
          <a:xfrm>
            <a:off x="457200" y="320040"/>
            <a:ext cx="10607040" cy="274320"/>
          </a:xfrm>
          <a:prstGeom prst="rect">
            <a:avLst/>
          </a:prstGeom>
          <a:noFill/>
          <a:ln/>
        </p:spPr>
        <p:txBody>
          <a:bodyPr wrap="square" lIns="0" tIns="0" rIns="0" bIns="0" rtlCol="0" anchor="ctr"/>
          <a:lstStyle/>
          <a:p>
            <a:pPr indent="0" marL="0">
              <a:buNone/>
            </a:pPr>
            <a:r>
              <a:rPr lang="en-US" sz="1100" b="1" spc="100" kern="0" dirty="0">
                <a:solidFill>
                  <a:srgbClr val="0D9488"/>
                </a:solidFill>
                <a:latin typeface="Inter" pitchFamily="34" charset="0"/>
                <a:ea typeface="Inter" pitchFamily="34" charset="-122"/>
                <a:cs typeface="Inter" pitchFamily="34" charset="-120"/>
              </a:rPr>
              <a:t>MEASURABLE VALUE</a:t>
            </a:r>
            <a:endParaRPr lang="en-US" sz="1100" dirty="0"/>
          </a:p>
        </p:txBody>
      </p:sp>
      <p:sp>
        <p:nvSpPr>
          <p:cNvPr id="3" name="Text 1"/>
          <p:cNvSpPr txBox="1"/>
          <p:nvPr/>
        </p:nvSpPr>
        <p:spPr>
          <a:xfrm>
            <a:off x="457200" y="566928"/>
            <a:ext cx="10972800" cy="566928"/>
          </a:xfrm>
          <a:prstGeom prst="rect">
            <a:avLst/>
          </a:prstGeom>
          <a:noFill/>
          <a:ln/>
        </p:spPr>
        <p:txBody>
          <a:bodyPr wrap="square" lIns="0" tIns="0" rIns="0" bIns="0" rtlCol="0" anchor="ctr"/>
          <a:lstStyle/>
          <a:p>
            <a:pPr indent="0" marL="0">
              <a:buNone/>
            </a:pPr>
            <a:r>
              <a:rPr lang="en-US" sz="2600" b="1" dirty="0">
                <a:solidFill>
                  <a:srgbClr val="0F2922"/>
                </a:solidFill>
                <a:latin typeface="Plus Jakarta Sans" pitchFamily="34" charset="0"/>
                <a:ea typeface="Plus Jakarta Sans" pitchFamily="34" charset="-122"/>
                <a:cs typeface="Plus Jakarta Sans" pitchFamily="34" charset="-120"/>
              </a:rPr>
              <a:t>Project Impact &amp; Operational Benchmarks</a:t>
            </a:r>
            <a:endParaRPr lang="en-US" sz="2600" dirty="0"/>
          </a:p>
        </p:txBody>
      </p:sp>
      <p:sp>
        <p:nvSpPr>
          <p:cNvPr id="4" name="Shape 2"/>
          <p:cNvSpPr/>
          <p:nvPr/>
        </p:nvSpPr>
        <p:spPr>
          <a:xfrm>
            <a:off x="457200" y="1207008"/>
            <a:ext cx="11277295" cy="18288"/>
          </a:xfrm>
          <a:prstGeom prst="rect">
            <a:avLst/>
          </a:prstGeom>
          <a:solidFill>
            <a:srgbClr val="E2E8F0"/>
          </a:solidFill>
          <a:ln/>
        </p:spPr>
      </p:sp>
      <p:sp>
        <p:nvSpPr>
          <p:cNvPr id="5" name="Shape 3"/>
          <p:cNvSpPr/>
          <p:nvPr/>
        </p:nvSpPr>
        <p:spPr>
          <a:xfrm>
            <a:off x="457200" y="1645920"/>
            <a:ext cx="2613584" cy="3291840"/>
          </a:xfrm>
          <a:prstGeom prst="roundRect">
            <a:avLst>
              <a:gd name="adj" fmla="val 2799"/>
            </a:avLst>
          </a:prstGeom>
          <a:solidFill>
            <a:srgbClr val="0F2922"/>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6" name="Text 4"/>
          <p:cNvSpPr txBox="1"/>
          <p:nvPr/>
        </p:nvSpPr>
        <p:spPr>
          <a:xfrm>
            <a:off x="457200" y="1920240"/>
            <a:ext cx="2613584" cy="914400"/>
          </a:xfrm>
          <a:prstGeom prst="rect">
            <a:avLst/>
          </a:prstGeom>
          <a:noFill/>
          <a:ln/>
        </p:spPr>
        <p:txBody>
          <a:bodyPr wrap="square" lIns="0" tIns="0" rIns="0" bIns="0" rtlCol="0" anchor="ctr"/>
          <a:lstStyle/>
          <a:p>
            <a:pPr algn="ctr" indent="0" marL="0">
              <a:buNone/>
            </a:pPr>
            <a:r>
              <a:rPr lang="en-US" sz="4800" b="1" dirty="0">
                <a:solidFill>
                  <a:srgbClr val="2DD4BF"/>
                </a:solidFill>
                <a:latin typeface="Plus Jakarta Sans" pitchFamily="34" charset="0"/>
                <a:ea typeface="Plus Jakarta Sans" pitchFamily="34" charset="-122"/>
                <a:cs typeface="Plus Jakarta Sans" pitchFamily="34" charset="-120"/>
              </a:rPr>
              <a:t>75%</a:t>
            </a:r>
            <a:endParaRPr lang="en-US" sz="4800" dirty="0"/>
          </a:p>
        </p:txBody>
      </p:sp>
      <p:sp>
        <p:nvSpPr>
          <p:cNvPr id="7" name="Text 5"/>
          <p:cNvSpPr txBox="1"/>
          <p:nvPr/>
        </p:nvSpPr>
        <p:spPr>
          <a:xfrm>
            <a:off x="640080" y="2880360"/>
            <a:ext cx="2247824"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Repetitive Work Cut</a:t>
            </a:r>
            <a:endParaRPr lang="en-US" sz="1300" dirty="0"/>
          </a:p>
        </p:txBody>
      </p:sp>
      <p:sp>
        <p:nvSpPr>
          <p:cNvPr id="8" name="Shape 6"/>
          <p:cNvSpPr/>
          <p:nvPr/>
        </p:nvSpPr>
        <p:spPr>
          <a:xfrm>
            <a:off x="914400" y="3456432"/>
            <a:ext cx="1699184" cy="10973"/>
          </a:xfrm>
          <a:prstGeom prst="rect">
            <a:avLst/>
          </a:prstGeom>
          <a:solidFill>
            <a:srgbClr val="1E4A3F"/>
          </a:solidFill>
          <a:ln/>
        </p:spPr>
      </p:sp>
      <p:sp>
        <p:nvSpPr>
          <p:cNvPr id="9" name="Text 7"/>
          <p:cNvSpPr txBox="1"/>
          <p:nvPr/>
        </p:nvSpPr>
        <p:spPr>
          <a:xfrm>
            <a:off x="685800" y="3611880"/>
            <a:ext cx="2156384" cy="1188720"/>
          </a:xfrm>
          <a:prstGeom prst="rect">
            <a:avLst/>
          </a:prstGeom>
          <a:noFill/>
          <a:ln/>
        </p:spPr>
        <p:txBody>
          <a:bodyPr wrap="square" lIns="0" tIns="0" rIns="0" bIns="0" rtlCol="0" anchor="ctr"/>
          <a:lstStyle/>
          <a:p>
            <a:pPr algn="ctr" indent="0" marL="0">
              <a:lnSpc>
                <a:spcPct val="125000"/>
              </a:lnSpc>
              <a:buNone/>
            </a:pPr>
            <a:r>
              <a:rPr lang="en-US" sz="1000" dirty="0">
                <a:solidFill>
                  <a:srgbClr val="94A3B8"/>
                </a:solidFill>
                <a:latin typeface="Inter" pitchFamily="34" charset="0"/>
                <a:ea typeface="Inter" pitchFamily="34" charset="-122"/>
                <a:cs typeface="Inter" pitchFamily="34" charset="-120"/>
              </a:rPr>
              <a:t>Automating L1 query response handling and standard troubleshooting steps.</a:t>
            </a:r>
            <a:endParaRPr lang="en-US" sz="1000" dirty="0"/>
          </a:p>
        </p:txBody>
      </p:sp>
      <p:sp>
        <p:nvSpPr>
          <p:cNvPr id="10" name="Shape 8"/>
          <p:cNvSpPr/>
          <p:nvPr/>
        </p:nvSpPr>
        <p:spPr>
          <a:xfrm>
            <a:off x="3345104" y="1645920"/>
            <a:ext cx="2613584" cy="3291840"/>
          </a:xfrm>
          <a:prstGeom prst="roundRect">
            <a:avLst>
              <a:gd name="adj" fmla="val 2799"/>
            </a:avLst>
          </a:prstGeom>
          <a:solidFill>
            <a:srgbClr val="0F2922"/>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11" name="Text 9"/>
          <p:cNvSpPr txBox="1"/>
          <p:nvPr/>
        </p:nvSpPr>
        <p:spPr>
          <a:xfrm>
            <a:off x="3345104" y="1920240"/>
            <a:ext cx="2613584" cy="914400"/>
          </a:xfrm>
          <a:prstGeom prst="rect">
            <a:avLst/>
          </a:prstGeom>
          <a:noFill/>
          <a:ln/>
        </p:spPr>
        <p:txBody>
          <a:bodyPr wrap="square" lIns="0" tIns="0" rIns="0" bIns="0" rtlCol="0" anchor="ctr"/>
          <a:lstStyle/>
          <a:p>
            <a:pPr algn="ctr" indent="0" marL="0">
              <a:buNone/>
            </a:pPr>
            <a:r>
              <a:rPr lang="en-US" sz="4800" b="1" dirty="0">
                <a:solidFill>
                  <a:srgbClr val="2DD4BF"/>
                </a:solidFill>
                <a:latin typeface="Plus Jakarta Sans" pitchFamily="34" charset="0"/>
                <a:ea typeface="Plus Jakarta Sans" pitchFamily="34" charset="-122"/>
                <a:cs typeface="Plus Jakarta Sans" pitchFamily="34" charset="-120"/>
              </a:rPr>
              <a:t>10x</a:t>
            </a:r>
            <a:endParaRPr lang="en-US" sz="4800" dirty="0"/>
          </a:p>
        </p:txBody>
      </p:sp>
      <p:sp>
        <p:nvSpPr>
          <p:cNvPr id="12" name="Text 10"/>
          <p:cNvSpPr txBox="1"/>
          <p:nvPr/>
        </p:nvSpPr>
        <p:spPr>
          <a:xfrm>
            <a:off x="3527984" y="2880360"/>
            <a:ext cx="2247824"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Faster Triage Speed</a:t>
            </a:r>
            <a:endParaRPr lang="en-US" sz="1300" dirty="0"/>
          </a:p>
        </p:txBody>
      </p:sp>
      <p:sp>
        <p:nvSpPr>
          <p:cNvPr id="13" name="Shape 11"/>
          <p:cNvSpPr/>
          <p:nvPr/>
        </p:nvSpPr>
        <p:spPr>
          <a:xfrm>
            <a:off x="3802304" y="3456432"/>
            <a:ext cx="1699184" cy="10973"/>
          </a:xfrm>
          <a:prstGeom prst="rect">
            <a:avLst/>
          </a:prstGeom>
          <a:solidFill>
            <a:srgbClr val="1E4A3F"/>
          </a:solidFill>
          <a:ln/>
        </p:spPr>
      </p:sp>
      <p:sp>
        <p:nvSpPr>
          <p:cNvPr id="14" name="Text 12"/>
          <p:cNvSpPr txBox="1"/>
          <p:nvPr/>
        </p:nvSpPr>
        <p:spPr>
          <a:xfrm>
            <a:off x="3573704" y="3611880"/>
            <a:ext cx="2156384" cy="1188720"/>
          </a:xfrm>
          <a:prstGeom prst="rect">
            <a:avLst/>
          </a:prstGeom>
          <a:noFill/>
          <a:ln/>
        </p:spPr>
        <p:txBody>
          <a:bodyPr wrap="square" lIns="0" tIns="0" rIns="0" bIns="0" rtlCol="0" anchor="ctr"/>
          <a:lstStyle/>
          <a:p>
            <a:pPr algn="ctr" indent="0" marL="0">
              <a:lnSpc>
                <a:spcPct val="125000"/>
              </a:lnSpc>
              <a:buNone/>
            </a:pPr>
            <a:r>
              <a:rPr lang="en-US" sz="1000" dirty="0">
                <a:solidFill>
                  <a:srgbClr val="94A3B8"/>
                </a:solidFill>
                <a:latin typeface="Inter" pitchFamily="34" charset="0"/>
                <a:ea typeface="Inter" pitchFamily="34" charset="-122"/>
                <a:cs typeface="Inter" pitchFamily="34" charset="-120"/>
              </a:rPr>
              <a:t>Instant category, severity, and customer sentiment classification upon submission.</a:t>
            </a:r>
            <a:endParaRPr lang="en-US" sz="1000" dirty="0"/>
          </a:p>
        </p:txBody>
      </p:sp>
      <p:sp>
        <p:nvSpPr>
          <p:cNvPr id="15" name="Shape 13"/>
          <p:cNvSpPr/>
          <p:nvPr/>
        </p:nvSpPr>
        <p:spPr>
          <a:xfrm>
            <a:off x="6233008" y="1645920"/>
            <a:ext cx="2613584" cy="3291840"/>
          </a:xfrm>
          <a:prstGeom prst="roundRect">
            <a:avLst>
              <a:gd name="adj" fmla="val 2799"/>
            </a:avLst>
          </a:prstGeom>
          <a:solidFill>
            <a:srgbClr val="0F2922"/>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16" name="Text 14"/>
          <p:cNvSpPr txBox="1"/>
          <p:nvPr/>
        </p:nvSpPr>
        <p:spPr>
          <a:xfrm>
            <a:off x="6233008" y="1920240"/>
            <a:ext cx="2613584" cy="914400"/>
          </a:xfrm>
          <a:prstGeom prst="rect">
            <a:avLst/>
          </a:prstGeom>
          <a:noFill/>
          <a:ln/>
        </p:spPr>
        <p:txBody>
          <a:bodyPr wrap="square" lIns="0" tIns="0" rIns="0" bIns="0" rtlCol="0" anchor="ctr"/>
          <a:lstStyle/>
          <a:p>
            <a:pPr algn="ctr" indent="0" marL="0">
              <a:buNone/>
            </a:pPr>
            <a:r>
              <a:rPr lang="en-US" sz="4800" b="1" dirty="0">
                <a:solidFill>
                  <a:srgbClr val="2DD4BF"/>
                </a:solidFill>
                <a:latin typeface="Plus Jakarta Sans" pitchFamily="34" charset="0"/>
                <a:ea typeface="Plus Jakarta Sans" pitchFamily="34" charset="-122"/>
                <a:cs typeface="Plus Jakarta Sans" pitchFamily="34" charset="-120"/>
              </a:rPr>
              <a:t>&lt;1s</a:t>
            </a:r>
            <a:endParaRPr lang="en-US" sz="4800" dirty="0"/>
          </a:p>
        </p:txBody>
      </p:sp>
      <p:sp>
        <p:nvSpPr>
          <p:cNvPr id="17" name="Text 15"/>
          <p:cNvSpPr txBox="1"/>
          <p:nvPr/>
        </p:nvSpPr>
        <p:spPr>
          <a:xfrm>
            <a:off x="6415888" y="2880360"/>
            <a:ext cx="2247824"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Knowledge Retrieval</a:t>
            </a:r>
            <a:endParaRPr lang="en-US" sz="1300" dirty="0"/>
          </a:p>
        </p:txBody>
      </p:sp>
      <p:sp>
        <p:nvSpPr>
          <p:cNvPr id="18" name="Shape 16"/>
          <p:cNvSpPr/>
          <p:nvPr/>
        </p:nvSpPr>
        <p:spPr>
          <a:xfrm>
            <a:off x="6690208" y="3456432"/>
            <a:ext cx="1699184" cy="10973"/>
          </a:xfrm>
          <a:prstGeom prst="rect">
            <a:avLst/>
          </a:prstGeom>
          <a:solidFill>
            <a:srgbClr val="1E4A3F"/>
          </a:solidFill>
          <a:ln/>
        </p:spPr>
      </p:sp>
      <p:sp>
        <p:nvSpPr>
          <p:cNvPr id="19" name="Text 17"/>
          <p:cNvSpPr txBox="1"/>
          <p:nvPr/>
        </p:nvSpPr>
        <p:spPr>
          <a:xfrm>
            <a:off x="6461608" y="3611880"/>
            <a:ext cx="2156384" cy="1188720"/>
          </a:xfrm>
          <a:prstGeom prst="rect">
            <a:avLst/>
          </a:prstGeom>
          <a:noFill/>
          <a:ln/>
        </p:spPr>
        <p:txBody>
          <a:bodyPr wrap="square" lIns="0" tIns="0" rIns="0" bIns="0" rtlCol="0" anchor="ctr"/>
          <a:lstStyle/>
          <a:p>
            <a:pPr algn="ctr" indent="0" marL="0">
              <a:lnSpc>
                <a:spcPct val="125000"/>
              </a:lnSpc>
              <a:buNone/>
            </a:pPr>
            <a:r>
              <a:rPr lang="en-US" sz="1000" dirty="0">
                <a:solidFill>
                  <a:srgbClr val="94A3B8"/>
                </a:solidFill>
                <a:latin typeface="Inter" pitchFamily="34" charset="0"/>
                <a:ea typeface="Inter" pitchFamily="34" charset="-122"/>
                <a:cs typeface="Inter" pitchFamily="34" charset="-120"/>
              </a:rPr>
              <a:t>Vector similarity search pinpointing exact documentation across large corpora.</a:t>
            </a:r>
            <a:endParaRPr lang="en-US" sz="1000" dirty="0"/>
          </a:p>
        </p:txBody>
      </p:sp>
      <p:sp>
        <p:nvSpPr>
          <p:cNvPr id="20" name="Shape 18"/>
          <p:cNvSpPr/>
          <p:nvPr/>
        </p:nvSpPr>
        <p:spPr>
          <a:xfrm>
            <a:off x="9120911" y="1645920"/>
            <a:ext cx="2613584" cy="3291840"/>
          </a:xfrm>
          <a:prstGeom prst="roundRect">
            <a:avLst>
              <a:gd name="adj" fmla="val 2799"/>
            </a:avLst>
          </a:prstGeom>
          <a:solidFill>
            <a:srgbClr val="0F2922"/>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21" name="Text 19"/>
          <p:cNvSpPr txBox="1"/>
          <p:nvPr/>
        </p:nvSpPr>
        <p:spPr>
          <a:xfrm>
            <a:off x="9120911" y="1920240"/>
            <a:ext cx="2613584" cy="914400"/>
          </a:xfrm>
          <a:prstGeom prst="rect">
            <a:avLst/>
          </a:prstGeom>
          <a:noFill/>
          <a:ln/>
        </p:spPr>
        <p:txBody>
          <a:bodyPr wrap="square" lIns="0" tIns="0" rIns="0" bIns="0" rtlCol="0" anchor="ctr"/>
          <a:lstStyle/>
          <a:p>
            <a:pPr algn="ctr" indent="0" marL="0">
              <a:buNone/>
            </a:pPr>
            <a:r>
              <a:rPr lang="en-US" sz="4800" b="1" dirty="0">
                <a:solidFill>
                  <a:srgbClr val="2DD4BF"/>
                </a:solidFill>
                <a:latin typeface="Plus Jakarta Sans" pitchFamily="34" charset="0"/>
                <a:ea typeface="Plus Jakarta Sans" pitchFamily="34" charset="-122"/>
                <a:cs typeface="Plus Jakarta Sans" pitchFamily="34" charset="-120"/>
              </a:rPr>
              <a:t>100%</a:t>
            </a:r>
            <a:endParaRPr lang="en-US" sz="4800" dirty="0"/>
          </a:p>
        </p:txBody>
      </p:sp>
      <p:sp>
        <p:nvSpPr>
          <p:cNvPr id="22" name="Text 20"/>
          <p:cNvSpPr txBox="1"/>
          <p:nvPr/>
        </p:nvSpPr>
        <p:spPr>
          <a:xfrm>
            <a:off x="9303791" y="2880360"/>
            <a:ext cx="2247824"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Plus Jakarta Sans" pitchFamily="34" charset="-122"/>
                <a:cs typeface="Plus Jakarta Sans" pitchFamily="34" charset="-120"/>
              </a:rPr>
              <a:t>SLA Audit Visibility</a:t>
            </a:r>
            <a:endParaRPr lang="en-US" sz="1300" dirty="0"/>
          </a:p>
        </p:txBody>
      </p:sp>
      <p:sp>
        <p:nvSpPr>
          <p:cNvPr id="23" name="Shape 21"/>
          <p:cNvSpPr/>
          <p:nvPr/>
        </p:nvSpPr>
        <p:spPr>
          <a:xfrm>
            <a:off x="9578111" y="3456432"/>
            <a:ext cx="1699184" cy="10973"/>
          </a:xfrm>
          <a:prstGeom prst="rect">
            <a:avLst/>
          </a:prstGeom>
          <a:solidFill>
            <a:srgbClr val="1E4A3F"/>
          </a:solidFill>
          <a:ln/>
        </p:spPr>
      </p:sp>
      <p:sp>
        <p:nvSpPr>
          <p:cNvPr id="24" name="Text 22"/>
          <p:cNvSpPr txBox="1"/>
          <p:nvPr/>
        </p:nvSpPr>
        <p:spPr>
          <a:xfrm>
            <a:off x="9349511" y="3611880"/>
            <a:ext cx="2156384" cy="1188720"/>
          </a:xfrm>
          <a:prstGeom prst="rect">
            <a:avLst/>
          </a:prstGeom>
          <a:noFill/>
          <a:ln/>
        </p:spPr>
        <p:txBody>
          <a:bodyPr wrap="square" lIns="0" tIns="0" rIns="0" bIns="0" rtlCol="0" anchor="ctr"/>
          <a:lstStyle/>
          <a:p>
            <a:pPr algn="ctr" indent="0" marL="0">
              <a:lnSpc>
                <a:spcPct val="125000"/>
              </a:lnSpc>
              <a:buNone/>
            </a:pPr>
            <a:r>
              <a:rPr lang="en-US" sz="1000" dirty="0">
                <a:solidFill>
                  <a:srgbClr val="94A3B8"/>
                </a:solidFill>
                <a:latin typeface="Inter" pitchFamily="34" charset="0"/>
                <a:ea typeface="Inter" pitchFamily="34" charset="-122"/>
                <a:cs typeface="Inter" pitchFamily="34" charset="-120"/>
              </a:rPr>
              <a:t>Proactive countdown monitoring, breach prevention, and manager alerts.</a:t>
            </a:r>
            <a:endParaRPr lang="en-US" sz="1000" dirty="0"/>
          </a:p>
        </p:txBody>
      </p:sp>
      <p:sp>
        <p:nvSpPr>
          <p:cNvPr id="25" name="Text 23"/>
          <p:cNvSpPr txBox="1"/>
          <p:nvPr/>
        </p:nvSpPr>
        <p:spPr>
          <a:xfrm>
            <a:off x="11475720" y="6510528"/>
            <a:ext cx="365760" cy="256032"/>
          </a:xfrm>
          <a:prstGeom prst="rect">
            <a:avLst/>
          </a:prstGeom>
          <a:noFill/>
          <a:ln/>
        </p:spPr>
        <p:txBody>
          <a:bodyPr wrap="square" lIns="0" tIns="0" rIns="0" bIns="0" rtlCol="0" anchor="ctr"/>
          <a:lstStyle/>
          <a:p>
            <a:pPr algn="r" indent="0" marL="0">
              <a:buNone/>
            </a:pPr>
            <a:r>
              <a:rPr lang="en-US" sz="900" b="1" dirty="0">
                <a:solidFill>
                  <a:srgbClr val="CBD5E1"/>
                </a:solidFill>
                <a:latin typeface="Inter" pitchFamily="34" charset="0"/>
                <a:ea typeface="Inter" pitchFamily="34" charset="-122"/>
                <a:cs typeface="Inter"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9"/>
        </a:solidFill>
      </p:bgPr>
    </p:bg>
    <p:spTree>
      <p:nvGrpSpPr>
        <p:cNvPr id="1" name=""/>
        <p:cNvGrpSpPr/>
        <p:nvPr/>
      </p:nvGrpSpPr>
      <p:grpSpPr>
        <a:xfrm>
          <a:off x="0" y="0"/>
          <a:ext cx="0" cy="0"/>
          <a:chOff x="0" y="0"/>
          <a:chExt cx="0" cy="0"/>
        </a:xfrm>
      </p:grpSpPr>
      <p:sp>
        <p:nvSpPr>
          <p:cNvPr id="2" name="Text 0"/>
          <p:cNvSpPr txBox="1"/>
          <p:nvPr/>
        </p:nvSpPr>
        <p:spPr>
          <a:xfrm>
            <a:off x="457200" y="320040"/>
            <a:ext cx="10607040" cy="274320"/>
          </a:xfrm>
          <a:prstGeom prst="rect">
            <a:avLst/>
          </a:prstGeom>
          <a:noFill/>
          <a:ln/>
        </p:spPr>
        <p:txBody>
          <a:bodyPr wrap="square" lIns="0" tIns="0" rIns="0" bIns="0" rtlCol="0" anchor="ctr"/>
          <a:lstStyle/>
          <a:p>
            <a:pPr indent="0" marL="0">
              <a:buNone/>
            </a:pPr>
            <a:r>
              <a:rPr lang="en-US" sz="1100" b="1" spc="100" kern="0" dirty="0">
                <a:solidFill>
                  <a:srgbClr val="0D9488"/>
                </a:solidFill>
                <a:latin typeface="Inter" pitchFamily="34" charset="0"/>
                <a:ea typeface="Inter" pitchFamily="34" charset="-122"/>
                <a:cs typeface="Inter" pitchFamily="34" charset="-120"/>
              </a:rPr>
              <a:t>8-WEEK MILESTONES</a:t>
            </a:r>
            <a:endParaRPr lang="en-US" sz="1100" dirty="0"/>
          </a:p>
        </p:txBody>
      </p:sp>
      <p:sp>
        <p:nvSpPr>
          <p:cNvPr id="3" name="Text 1"/>
          <p:cNvSpPr txBox="1"/>
          <p:nvPr/>
        </p:nvSpPr>
        <p:spPr>
          <a:xfrm>
            <a:off x="457200" y="566928"/>
            <a:ext cx="10972800" cy="566928"/>
          </a:xfrm>
          <a:prstGeom prst="rect">
            <a:avLst/>
          </a:prstGeom>
          <a:noFill/>
          <a:ln/>
        </p:spPr>
        <p:txBody>
          <a:bodyPr wrap="square" lIns="0" tIns="0" rIns="0" bIns="0" rtlCol="0" anchor="ctr"/>
          <a:lstStyle/>
          <a:p>
            <a:pPr indent="0" marL="0">
              <a:buNone/>
            </a:pPr>
            <a:r>
              <a:rPr lang="en-US" sz="2600" b="1" dirty="0">
                <a:solidFill>
                  <a:srgbClr val="0F2922"/>
                </a:solidFill>
                <a:latin typeface="Plus Jakarta Sans" pitchFamily="34" charset="0"/>
                <a:ea typeface="Plus Jakarta Sans" pitchFamily="34" charset="-122"/>
                <a:cs typeface="Plus Jakarta Sans" pitchFamily="34" charset="-120"/>
              </a:rPr>
              <a:t>Key Project Deliverables &amp; Outcomes</a:t>
            </a:r>
            <a:endParaRPr lang="en-US" sz="2600" dirty="0"/>
          </a:p>
        </p:txBody>
      </p:sp>
      <p:sp>
        <p:nvSpPr>
          <p:cNvPr id="4" name="Shape 2"/>
          <p:cNvSpPr/>
          <p:nvPr/>
        </p:nvSpPr>
        <p:spPr>
          <a:xfrm>
            <a:off x="457200" y="1207008"/>
            <a:ext cx="11277295" cy="18288"/>
          </a:xfrm>
          <a:prstGeom prst="rect">
            <a:avLst/>
          </a:prstGeom>
          <a:solidFill>
            <a:srgbClr val="E2E8F0"/>
          </a:solidFill>
          <a:ln/>
        </p:spPr>
      </p:sp>
      <p:sp>
        <p:nvSpPr>
          <p:cNvPr id="5" name="Shape 3"/>
          <p:cNvSpPr/>
          <p:nvPr/>
        </p:nvSpPr>
        <p:spPr>
          <a:xfrm>
            <a:off x="457200" y="1463040"/>
            <a:ext cx="5501488" cy="2331720"/>
          </a:xfrm>
          <a:prstGeom prst="roundRect">
            <a:avLst>
              <a:gd name="adj" fmla="val 3137"/>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6" name="Shape 4"/>
          <p:cNvSpPr/>
          <p:nvPr/>
        </p:nvSpPr>
        <p:spPr>
          <a:xfrm>
            <a:off x="685800" y="1664208"/>
            <a:ext cx="1463040" cy="292608"/>
          </a:xfrm>
          <a:prstGeom prst="roundRect">
            <a:avLst>
              <a:gd name="adj" fmla="val 50000"/>
            </a:avLst>
          </a:prstGeom>
          <a:solidFill>
            <a:srgbClr val="E6F4F1"/>
          </a:solidFill>
          <a:ln w="12700">
            <a:solidFill>
              <a:srgbClr val="0D9488"/>
            </a:solidFill>
            <a:prstDash val="solid"/>
          </a:ln>
        </p:spPr>
      </p:sp>
      <p:sp>
        <p:nvSpPr>
          <p:cNvPr id="7" name="Text 5"/>
          <p:cNvSpPr txBox="1"/>
          <p:nvPr/>
        </p:nvSpPr>
        <p:spPr>
          <a:xfrm>
            <a:off x="685800" y="1664208"/>
            <a:ext cx="1463040" cy="292608"/>
          </a:xfrm>
          <a:prstGeom prst="rect">
            <a:avLst/>
          </a:prstGeom>
          <a:noFill/>
          <a:ln/>
        </p:spPr>
        <p:txBody>
          <a:bodyPr wrap="square" lIns="0" tIns="0" rIns="0" bIns="0" rtlCol="0" anchor="ctr"/>
          <a:lstStyle/>
          <a:p>
            <a:pPr algn="ctr" indent="0" marL="0">
              <a:buNone/>
            </a:pPr>
            <a:r>
              <a:rPr lang="en-US" sz="950" b="1" dirty="0">
                <a:solidFill>
                  <a:srgbClr val="0D9488"/>
                </a:solidFill>
                <a:latin typeface="Inter" pitchFamily="34" charset="0"/>
                <a:ea typeface="Inter" pitchFamily="34" charset="-122"/>
                <a:cs typeface="Inter" pitchFamily="34" charset="-120"/>
              </a:rPr>
              <a:t>MILESTONE 1</a:t>
            </a:r>
            <a:endParaRPr lang="en-US" sz="950" dirty="0"/>
          </a:p>
        </p:txBody>
      </p:sp>
      <p:sp>
        <p:nvSpPr>
          <p:cNvPr id="8" name="Text 6"/>
          <p:cNvSpPr txBox="1"/>
          <p:nvPr/>
        </p:nvSpPr>
        <p:spPr>
          <a:xfrm>
            <a:off x="4312768" y="1664208"/>
            <a:ext cx="1417320" cy="292608"/>
          </a:xfrm>
          <a:prstGeom prst="rect">
            <a:avLst/>
          </a:prstGeom>
          <a:noFill/>
          <a:ln/>
        </p:spPr>
        <p:txBody>
          <a:bodyPr wrap="square" lIns="0" tIns="0" rIns="0" bIns="0" rtlCol="0" anchor="ctr"/>
          <a:lstStyle/>
          <a:p>
            <a:pPr algn="r" indent="0" marL="0">
              <a:buNone/>
            </a:pPr>
            <a:r>
              <a:rPr lang="en-US" sz="1000" b="1" dirty="0">
                <a:solidFill>
                  <a:srgbClr val="94A3B8"/>
                </a:solidFill>
                <a:latin typeface="Inter" pitchFamily="34" charset="0"/>
                <a:ea typeface="Inter" pitchFamily="34" charset="-122"/>
                <a:cs typeface="Inter" pitchFamily="34" charset="-120"/>
              </a:rPr>
              <a:t>Weeks 1–2</a:t>
            </a:r>
            <a:endParaRPr lang="en-US" sz="1000" dirty="0"/>
          </a:p>
        </p:txBody>
      </p:sp>
      <p:sp>
        <p:nvSpPr>
          <p:cNvPr id="9" name="Text 7"/>
          <p:cNvSpPr txBox="1"/>
          <p:nvPr/>
        </p:nvSpPr>
        <p:spPr>
          <a:xfrm>
            <a:off x="685800" y="2084832"/>
            <a:ext cx="5044288" cy="502920"/>
          </a:xfrm>
          <a:prstGeom prst="rect">
            <a:avLst/>
          </a:prstGeom>
          <a:noFill/>
          <a:ln/>
        </p:spPr>
        <p:txBody>
          <a:bodyPr wrap="square" lIns="0" tIns="0" rIns="0" bIns="0" rtlCol="0" anchor="ctr"/>
          <a:lstStyle/>
          <a:p>
            <a:pPr indent="0" marL="0">
              <a:buNone/>
            </a:pPr>
            <a:r>
              <a:rPr lang="en-US" sz="1450" b="1" dirty="0">
                <a:solidFill>
                  <a:srgbClr val="0F2922"/>
                </a:solidFill>
                <a:latin typeface="Plus Jakarta Sans" pitchFamily="34" charset="0"/>
                <a:ea typeface="Plus Jakarta Sans" pitchFamily="34" charset="-122"/>
                <a:cs typeface="Plus Jakarta Sans" pitchFamily="34" charset="-120"/>
              </a:rPr>
              <a:t>Ticket Processing &amp; Classification</a:t>
            </a:r>
            <a:endParaRPr lang="en-US" sz="1450" dirty="0"/>
          </a:p>
        </p:txBody>
      </p:sp>
      <p:sp>
        <p:nvSpPr>
          <p:cNvPr id="10" name="Text 8"/>
          <p:cNvSpPr txBox="1"/>
          <p:nvPr/>
        </p:nvSpPr>
        <p:spPr>
          <a:xfrm>
            <a:off x="685800" y="2633472"/>
            <a:ext cx="5044288" cy="1005840"/>
          </a:xfrm>
          <a:prstGeom prst="rect">
            <a:avLst/>
          </a:prstGeom>
          <a:noFill/>
          <a:ln/>
        </p:spPr>
        <p:txBody>
          <a:bodyPr wrap="square" lIns="0" tIns="0" rIns="0" bIns="0" rtlCol="0" anchor="ctr"/>
          <a:lstStyle/>
          <a:p>
            <a:pPr indent="0" marL="0">
              <a:lnSpc>
                <a:spcPct val="125000"/>
              </a:lnSpc>
              <a:buNone/>
            </a:pPr>
            <a:r>
              <a:rPr lang="en-US" sz="1050" dirty="0">
                <a:solidFill>
                  <a:srgbClr val="475569"/>
                </a:solidFill>
                <a:latin typeface="Inter" pitchFamily="34" charset="0"/>
                <a:ea typeface="Inter" pitchFamily="34" charset="-122"/>
                <a:cs typeface="Inter" pitchFamily="34" charset="-120"/>
              </a:rPr>
              <a:t>Designed MongoDB schemas, Django REST authentication, RBAC, PII-safe preprocessing, and the fast/LLM classification, severity, priority, and SLA engine.</a:t>
            </a:r>
            <a:endParaRPr lang="en-US" sz="1050" dirty="0"/>
          </a:p>
        </p:txBody>
      </p:sp>
      <p:sp>
        <p:nvSpPr>
          <p:cNvPr id="11" name="Shape 9"/>
          <p:cNvSpPr/>
          <p:nvPr/>
        </p:nvSpPr>
        <p:spPr>
          <a:xfrm>
            <a:off x="6233008" y="1463040"/>
            <a:ext cx="5501488" cy="2331720"/>
          </a:xfrm>
          <a:prstGeom prst="roundRect">
            <a:avLst>
              <a:gd name="adj" fmla="val 3137"/>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12" name="Shape 10"/>
          <p:cNvSpPr/>
          <p:nvPr/>
        </p:nvSpPr>
        <p:spPr>
          <a:xfrm>
            <a:off x="6461608" y="1664208"/>
            <a:ext cx="1463040" cy="292608"/>
          </a:xfrm>
          <a:prstGeom prst="roundRect">
            <a:avLst>
              <a:gd name="adj" fmla="val 50000"/>
            </a:avLst>
          </a:prstGeom>
          <a:solidFill>
            <a:srgbClr val="E6F4F1"/>
          </a:solidFill>
          <a:ln w="12700">
            <a:solidFill>
              <a:srgbClr val="0D9488"/>
            </a:solidFill>
            <a:prstDash val="solid"/>
          </a:ln>
        </p:spPr>
      </p:sp>
      <p:sp>
        <p:nvSpPr>
          <p:cNvPr id="13" name="Text 11"/>
          <p:cNvSpPr txBox="1"/>
          <p:nvPr/>
        </p:nvSpPr>
        <p:spPr>
          <a:xfrm>
            <a:off x="6461608" y="1664208"/>
            <a:ext cx="1463040" cy="292608"/>
          </a:xfrm>
          <a:prstGeom prst="rect">
            <a:avLst/>
          </a:prstGeom>
          <a:noFill/>
          <a:ln/>
        </p:spPr>
        <p:txBody>
          <a:bodyPr wrap="square" lIns="0" tIns="0" rIns="0" bIns="0" rtlCol="0" anchor="ctr"/>
          <a:lstStyle/>
          <a:p>
            <a:pPr algn="ctr" indent="0" marL="0">
              <a:buNone/>
            </a:pPr>
            <a:r>
              <a:rPr lang="en-US" sz="950" b="1" dirty="0">
                <a:solidFill>
                  <a:srgbClr val="0D9488"/>
                </a:solidFill>
                <a:latin typeface="Inter" pitchFamily="34" charset="0"/>
                <a:ea typeface="Inter" pitchFamily="34" charset="-122"/>
                <a:cs typeface="Inter" pitchFamily="34" charset="-120"/>
              </a:rPr>
              <a:t>MILESTONE 2</a:t>
            </a:r>
            <a:endParaRPr lang="en-US" sz="950" dirty="0"/>
          </a:p>
        </p:txBody>
      </p:sp>
      <p:sp>
        <p:nvSpPr>
          <p:cNvPr id="14" name="Text 12"/>
          <p:cNvSpPr txBox="1"/>
          <p:nvPr/>
        </p:nvSpPr>
        <p:spPr>
          <a:xfrm>
            <a:off x="10088575" y="1664208"/>
            <a:ext cx="1417320" cy="292608"/>
          </a:xfrm>
          <a:prstGeom prst="rect">
            <a:avLst/>
          </a:prstGeom>
          <a:noFill/>
          <a:ln/>
        </p:spPr>
        <p:txBody>
          <a:bodyPr wrap="square" lIns="0" tIns="0" rIns="0" bIns="0" rtlCol="0" anchor="ctr"/>
          <a:lstStyle/>
          <a:p>
            <a:pPr algn="r" indent="0" marL="0">
              <a:buNone/>
            </a:pPr>
            <a:r>
              <a:rPr lang="en-US" sz="1000" b="1" dirty="0">
                <a:solidFill>
                  <a:srgbClr val="94A3B8"/>
                </a:solidFill>
                <a:latin typeface="Inter" pitchFamily="34" charset="0"/>
                <a:ea typeface="Inter" pitchFamily="34" charset="-122"/>
                <a:cs typeface="Inter" pitchFamily="34" charset="-120"/>
              </a:rPr>
              <a:t>Weeks 3–4</a:t>
            </a:r>
            <a:endParaRPr lang="en-US" sz="1000" dirty="0"/>
          </a:p>
        </p:txBody>
      </p:sp>
      <p:sp>
        <p:nvSpPr>
          <p:cNvPr id="15" name="Text 13"/>
          <p:cNvSpPr txBox="1"/>
          <p:nvPr/>
        </p:nvSpPr>
        <p:spPr>
          <a:xfrm>
            <a:off x="6461608" y="2084832"/>
            <a:ext cx="5044288" cy="502920"/>
          </a:xfrm>
          <a:prstGeom prst="rect">
            <a:avLst/>
          </a:prstGeom>
          <a:noFill/>
          <a:ln/>
        </p:spPr>
        <p:txBody>
          <a:bodyPr wrap="square" lIns="0" tIns="0" rIns="0" bIns="0" rtlCol="0" anchor="ctr"/>
          <a:lstStyle/>
          <a:p>
            <a:pPr indent="0" marL="0">
              <a:buNone/>
            </a:pPr>
            <a:r>
              <a:rPr lang="en-US" sz="1450" b="1" dirty="0">
                <a:solidFill>
                  <a:srgbClr val="0F2922"/>
                </a:solidFill>
                <a:latin typeface="Plus Jakarta Sans" pitchFamily="34" charset="0"/>
                <a:ea typeface="Plus Jakarta Sans" pitchFamily="34" charset="-122"/>
                <a:cs typeface="Plus Jakarta Sans" pitchFamily="34" charset="-120"/>
              </a:rPr>
              <a:t>Knowledge Retrieval &amp; Resolution Generation</a:t>
            </a:r>
            <a:endParaRPr lang="en-US" sz="1450" dirty="0"/>
          </a:p>
        </p:txBody>
      </p:sp>
      <p:sp>
        <p:nvSpPr>
          <p:cNvPr id="16" name="Text 14"/>
          <p:cNvSpPr txBox="1"/>
          <p:nvPr/>
        </p:nvSpPr>
        <p:spPr>
          <a:xfrm>
            <a:off x="6461608" y="2633472"/>
            <a:ext cx="5044288" cy="1005840"/>
          </a:xfrm>
          <a:prstGeom prst="rect">
            <a:avLst/>
          </a:prstGeom>
          <a:noFill/>
          <a:ln/>
        </p:spPr>
        <p:txBody>
          <a:bodyPr wrap="square" lIns="0" tIns="0" rIns="0" bIns="0" rtlCol="0" anchor="ctr"/>
          <a:lstStyle/>
          <a:p>
            <a:pPr indent="0" marL="0">
              <a:lnSpc>
                <a:spcPct val="125000"/>
              </a:lnSpc>
              <a:buNone/>
            </a:pPr>
            <a:r>
              <a:rPr lang="en-US" sz="1050" dirty="0">
                <a:solidFill>
                  <a:srgbClr val="475569"/>
                </a:solidFill>
                <a:latin typeface="Inter" pitchFamily="34" charset="0"/>
                <a:ea typeface="Inter" pitchFamily="34" charset="-122"/>
                <a:cs typeface="Inter" pitchFamily="34" charset="-120"/>
              </a:rPr>
              <a:t>Built the knowledge base ingestion pipeline, hybrid vector + keyword RAG retrieval with reranking, and citation-enforced AI-drafted resolutions.</a:t>
            </a:r>
            <a:endParaRPr lang="en-US" sz="1050" dirty="0"/>
          </a:p>
        </p:txBody>
      </p:sp>
      <p:sp>
        <p:nvSpPr>
          <p:cNvPr id="17" name="Shape 15"/>
          <p:cNvSpPr/>
          <p:nvPr/>
        </p:nvSpPr>
        <p:spPr>
          <a:xfrm>
            <a:off x="457200" y="4069080"/>
            <a:ext cx="5501488" cy="2331720"/>
          </a:xfrm>
          <a:prstGeom prst="roundRect">
            <a:avLst>
              <a:gd name="adj" fmla="val 3137"/>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18" name="Shape 16"/>
          <p:cNvSpPr/>
          <p:nvPr/>
        </p:nvSpPr>
        <p:spPr>
          <a:xfrm>
            <a:off x="685800" y="4270248"/>
            <a:ext cx="1463040" cy="292608"/>
          </a:xfrm>
          <a:prstGeom prst="roundRect">
            <a:avLst>
              <a:gd name="adj" fmla="val 50000"/>
            </a:avLst>
          </a:prstGeom>
          <a:solidFill>
            <a:srgbClr val="E6F4F1"/>
          </a:solidFill>
          <a:ln w="12700">
            <a:solidFill>
              <a:srgbClr val="0D9488"/>
            </a:solidFill>
            <a:prstDash val="solid"/>
          </a:ln>
        </p:spPr>
      </p:sp>
      <p:sp>
        <p:nvSpPr>
          <p:cNvPr id="19" name="Text 17"/>
          <p:cNvSpPr txBox="1"/>
          <p:nvPr/>
        </p:nvSpPr>
        <p:spPr>
          <a:xfrm>
            <a:off x="685800" y="4270248"/>
            <a:ext cx="1463040" cy="292608"/>
          </a:xfrm>
          <a:prstGeom prst="rect">
            <a:avLst/>
          </a:prstGeom>
          <a:noFill/>
          <a:ln/>
        </p:spPr>
        <p:txBody>
          <a:bodyPr wrap="square" lIns="0" tIns="0" rIns="0" bIns="0" rtlCol="0" anchor="ctr"/>
          <a:lstStyle/>
          <a:p>
            <a:pPr algn="ctr" indent="0" marL="0">
              <a:buNone/>
            </a:pPr>
            <a:r>
              <a:rPr lang="en-US" sz="950" b="1" dirty="0">
                <a:solidFill>
                  <a:srgbClr val="0D9488"/>
                </a:solidFill>
                <a:latin typeface="Inter" pitchFamily="34" charset="0"/>
                <a:ea typeface="Inter" pitchFamily="34" charset="-122"/>
                <a:cs typeface="Inter" pitchFamily="34" charset="-120"/>
              </a:rPr>
              <a:t>MILESTONE 3</a:t>
            </a:r>
            <a:endParaRPr lang="en-US" sz="950" dirty="0"/>
          </a:p>
        </p:txBody>
      </p:sp>
      <p:sp>
        <p:nvSpPr>
          <p:cNvPr id="20" name="Text 18"/>
          <p:cNvSpPr txBox="1"/>
          <p:nvPr/>
        </p:nvSpPr>
        <p:spPr>
          <a:xfrm>
            <a:off x="4312768" y="4270248"/>
            <a:ext cx="1417320" cy="292608"/>
          </a:xfrm>
          <a:prstGeom prst="rect">
            <a:avLst/>
          </a:prstGeom>
          <a:noFill/>
          <a:ln/>
        </p:spPr>
        <p:txBody>
          <a:bodyPr wrap="square" lIns="0" tIns="0" rIns="0" bIns="0" rtlCol="0" anchor="ctr"/>
          <a:lstStyle/>
          <a:p>
            <a:pPr algn="r" indent="0" marL="0">
              <a:buNone/>
            </a:pPr>
            <a:r>
              <a:rPr lang="en-US" sz="1000" b="1" dirty="0">
                <a:solidFill>
                  <a:srgbClr val="94A3B8"/>
                </a:solidFill>
                <a:latin typeface="Inter" pitchFamily="34" charset="0"/>
                <a:ea typeface="Inter" pitchFamily="34" charset="-122"/>
                <a:cs typeface="Inter" pitchFamily="34" charset="-120"/>
              </a:rPr>
              <a:t>Weeks 5–6</a:t>
            </a:r>
            <a:endParaRPr lang="en-US" sz="1000" dirty="0"/>
          </a:p>
        </p:txBody>
      </p:sp>
      <p:sp>
        <p:nvSpPr>
          <p:cNvPr id="21" name="Text 19"/>
          <p:cNvSpPr txBox="1"/>
          <p:nvPr/>
        </p:nvSpPr>
        <p:spPr>
          <a:xfrm>
            <a:off x="685800" y="4690872"/>
            <a:ext cx="5044288" cy="502920"/>
          </a:xfrm>
          <a:prstGeom prst="rect">
            <a:avLst/>
          </a:prstGeom>
          <a:noFill/>
          <a:ln/>
        </p:spPr>
        <p:txBody>
          <a:bodyPr wrap="square" lIns="0" tIns="0" rIns="0" bIns="0" rtlCol="0" anchor="ctr"/>
          <a:lstStyle/>
          <a:p>
            <a:pPr indent="0" marL="0">
              <a:buNone/>
            </a:pPr>
            <a:r>
              <a:rPr lang="en-US" sz="1450" b="1" dirty="0">
                <a:solidFill>
                  <a:srgbClr val="0F2922"/>
                </a:solidFill>
                <a:latin typeface="Plus Jakarta Sans" pitchFamily="34" charset="0"/>
                <a:ea typeface="Plus Jakarta Sans" pitchFamily="34" charset="-122"/>
                <a:cs typeface="Plus Jakarta Sans" pitchFamily="34" charset="-120"/>
              </a:rPr>
              <a:t>Multi-Agent Workflows &amp; Integrations</a:t>
            </a:r>
            <a:endParaRPr lang="en-US" sz="1450" dirty="0"/>
          </a:p>
        </p:txBody>
      </p:sp>
      <p:sp>
        <p:nvSpPr>
          <p:cNvPr id="22" name="Text 20"/>
          <p:cNvSpPr txBox="1"/>
          <p:nvPr/>
        </p:nvSpPr>
        <p:spPr>
          <a:xfrm>
            <a:off x="685800" y="5239512"/>
            <a:ext cx="5044288" cy="1005840"/>
          </a:xfrm>
          <a:prstGeom prst="rect">
            <a:avLst/>
          </a:prstGeom>
          <a:noFill/>
          <a:ln/>
        </p:spPr>
        <p:txBody>
          <a:bodyPr wrap="square" lIns="0" tIns="0" rIns="0" bIns="0" rtlCol="0" anchor="ctr"/>
          <a:lstStyle/>
          <a:p>
            <a:pPr indent="0" marL="0">
              <a:lnSpc>
                <a:spcPct val="125000"/>
              </a:lnSpc>
              <a:buNone/>
            </a:pPr>
            <a:r>
              <a:rPr lang="en-US" sz="1050" dirty="0">
                <a:solidFill>
                  <a:srgbClr val="475569"/>
                </a:solidFill>
                <a:latin typeface="Inter" pitchFamily="34" charset="0"/>
                <a:ea typeface="Inter" pitchFamily="34" charset="-122"/>
                <a:cs typeface="Inter" pitchFamily="34" charset="-120"/>
              </a:rPr>
              <a:t>Implemented the Diagnosis → Retrieval → Resolution → Escalation agent orchestrator, two-way Jira sync, and automated SMTP notifications.</a:t>
            </a:r>
            <a:endParaRPr lang="en-US" sz="1050" dirty="0"/>
          </a:p>
        </p:txBody>
      </p:sp>
      <p:sp>
        <p:nvSpPr>
          <p:cNvPr id="23" name="Shape 21"/>
          <p:cNvSpPr/>
          <p:nvPr/>
        </p:nvSpPr>
        <p:spPr>
          <a:xfrm>
            <a:off x="6233008" y="4069080"/>
            <a:ext cx="5501488" cy="2331720"/>
          </a:xfrm>
          <a:prstGeom prst="roundRect">
            <a:avLst>
              <a:gd name="adj" fmla="val 3137"/>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24" name="Shape 22"/>
          <p:cNvSpPr/>
          <p:nvPr/>
        </p:nvSpPr>
        <p:spPr>
          <a:xfrm>
            <a:off x="6461608" y="4270248"/>
            <a:ext cx="1463040" cy="292608"/>
          </a:xfrm>
          <a:prstGeom prst="roundRect">
            <a:avLst>
              <a:gd name="adj" fmla="val 50000"/>
            </a:avLst>
          </a:prstGeom>
          <a:solidFill>
            <a:srgbClr val="E6F4F1"/>
          </a:solidFill>
          <a:ln w="12700">
            <a:solidFill>
              <a:srgbClr val="0D9488"/>
            </a:solidFill>
            <a:prstDash val="solid"/>
          </a:ln>
        </p:spPr>
      </p:sp>
      <p:sp>
        <p:nvSpPr>
          <p:cNvPr id="25" name="Text 23"/>
          <p:cNvSpPr txBox="1"/>
          <p:nvPr/>
        </p:nvSpPr>
        <p:spPr>
          <a:xfrm>
            <a:off x="6461608" y="4270248"/>
            <a:ext cx="1463040" cy="292608"/>
          </a:xfrm>
          <a:prstGeom prst="rect">
            <a:avLst/>
          </a:prstGeom>
          <a:noFill/>
          <a:ln/>
        </p:spPr>
        <p:txBody>
          <a:bodyPr wrap="square" lIns="0" tIns="0" rIns="0" bIns="0" rtlCol="0" anchor="ctr"/>
          <a:lstStyle/>
          <a:p>
            <a:pPr algn="ctr" indent="0" marL="0">
              <a:buNone/>
            </a:pPr>
            <a:r>
              <a:rPr lang="en-US" sz="950" b="1" dirty="0">
                <a:solidFill>
                  <a:srgbClr val="0D9488"/>
                </a:solidFill>
                <a:latin typeface="Inter" pitchFamily="34" charset="0"/>
                <a:ea typeface="Inter" pitchFamily="34" charset="-122"/>
                <a:cs typeface="Inter" pitchFamily="34" charset="-120"/>
              </a:rPr>
              <a:t>MILESTONE 4</a:t>
            </a:r>
            <a:endParaRPr lang="en-US" sz="950" dirty="0"/>
          </a:p>
        </p:txBody>
      </p:sp>
      <p:sp>
        <p:nvSpPr>
          <p:cNvPr id="26" name="Text 24"/>
          <p:cNvSpPr txBox="1"/>
          <p:nvPr/>
        </p:nvSpPr>
        <p:spPr>
          <a:xfrm>
            <a:off x="10088575" y="4270248"/>
            <a:ext cx="1417320" cy="292608"/>
          </a:xfrm>
          <a:prstGeom prst="rect">
            <a:avLst/>
          </a:prstGeom>
          <a:noFill/>
          <a:ln/>
        </p:spPr>
        <p:txBody>
          <a:bodyPr wrap="square" lIns="0" tIns="0" rIns="0" bIns="0" rtlCol="0" anchor="ctr"/>
          <a:lstStyle/>
          <a:p>
            <a:pPr algn="r" indent="0" marL="0">
              <a:buNone/>
            </a:pPr>
            <a:r>
              <a:rPr lang="en-US" sz="1000" b="1" dirty="0">
                <a:solidFill>
                  <a:srgbClr val="94A3B8"/>
                </a:solidFill>
                <a:latin typeface="Inter" pitchFamily="34" charset="0"/>
                <a:ea typeface="Inter" pitchFamily="34" charset="-122"/>
                <a:cs typeface="Inter" pitchFamily="34" charset="-120"/>
              </a:rPr>
              <a:t>Weeks 7–8</a:t>
            </a:r>
            <a:endParaRPr lang="en-US" sz="1000" dirty="0"/>
          </a:p>
        </p:txBody>
      </p:sp>
      <p:sp>
        <p:nvSpPr>
          <p:cNvPr id="27" name="Text 25"/>
          <p:cNvSpPr txBox="1"/>
          <p:nvPr/>
        </p:nvSpPr>
        <p:spPr>
          <a:xfrm>
            <a:off x="6461608" y="4690872"/>
            <a:ext cx="5044288" cy="502920"/>
          </a:xfrm>
          <a:prstGeom prst="rect">
            <a:avLst/>
          </a:prstGeom>
          <a:noFill/>
          <a:ln/>
        </p:spPr>
        <p:txBody>
          <a:bodyPr wrap="square" lIns="0" tIns="0" rIns="0" bIns="0" rtlCol="0" anchor="ctr"/>
          <a:lstStyle/>
          <a:p>
            <a:pPr indent="0" marL="0">
              <a:buNone/>
            </a:pPr>
            <a:r>
              <a:rPr lang="en-US" sz="1450" b="1" dirty="0">
                <a:solidFill>
                  <a:srgbClr val="0F2922"/>
                </a:solidFill>
                <a:latin typeface="Plus Jakarta Sans" pitchFamily="34" charset="0"/>
                <a:ea typeface="Plus Jakarta Sans" pitchFamily="34" charset="-122"/>
                <a:cs typeface="Plus Jakarta Sans" pitchFamily="34" charset="-120"/>
              </a:rPr>
              <a:t>AI Validation, Agent Collaboration &amp; Closure</a:t>
            </a:r>
            <a:endParaRPr lang="en-US" sz="1450" dirty="0"/>
          </a:p>
        </p:txBody>
      </p:sp>
      <p:sp>
        <p:nvSpPr>
          <p:cNvPr id="28" name="Text 26"/>
          <p:cNvSpPr txBox="1"/>
          <p:nvPr/>
        </p:nvSpPr>
        <p:spPr>
          <a:xfrm>
            <a:off x="6461608" y="5239512"/>
            <a:ext cx="5044288" cy="1005840"/>
          </a:xfrm>
          <a:prstGeom prst="rect">
            <a:avLst/>
          </a:prstGeom>
          <a:noFill/>
          <a:ln/>
        </p:spPr>
        <p:txBody>
          <a:bodyPr wrap="square" lIns="0" tIns="0" rIns="0" bIns="0" rtlCol="0" anchor="ctr"/>
          <a:lstStyle/>
          <a:p>
            <a:pPr indent="0" marL="0">
              <a:lnSpc>
                <a:spcPct val="125000"/>
              </a:lnSpc>
              <a:buNone/>
            </a:pPr>
            <a:r>
              <a:rPr lang="en-US" sz="1050" dirty="0">
                <a:solidFill>
                  <a:srgbClr val="475569"/>
                </a:solidFill>
                <a:latin typeface="Inter" pitchFamily="34" charset="0"/>
                <a:ea typeface="Inter" pitchFamily="34" charset="-122"/>
                <a:cs typeface="Inter" pitchFamily="34" charset="-120"/>
              </a:rPr>
              <a:t>Delivered confidence-based routing, the agent review queue, customer confirmation/reopen flow, controlled closure, and live analytics dashboards.</a:t>
            </a:r>
            <a:endParaRPr lang="en-US" sz="1050" dirty="0"/>
          </a:p>
        </p:txBody>
      </p:sp>
      <p:sp>
        <p:nvSpPr>
          <p:cNvPr id="29" name="Text 27"/>
          <p:cNvSpPr txBox="1"/>
          <p:nvPr/>
        </p:nvSpPr>
        <p:spPr>
          <a:xfrm>
            <a:off x="11475720" y="6510528"/>
            <a:ext cx="365760" cy="256032"/>
          </a:xfrm>
          <a:prstGeom prst="rect">
            <a:avLst/>
          </a:prstGeom>
          <a:noFill/>
          <a:ln/>
        </p:spPr>
        <p:txBody>
          <a:bodyPr wrap="square" lIns="0" tIns="0" rIns="0" bIns="0" rtlCol="0" anchor="ctr"/>
          <a:lstStyle/>
          <a:p>
            <a:pPr algn="r" indent="0" marL="0">
              <a:buNone/>
            </a:pPr>
            <a:r>
              <a:rPr lang="en-US" sz="900" b="1" dirty="0">
                <a:solidFill>
                  <a:srgbClr val="CBD5E1"/>
                </a:solidFill>
                <a:latin typeface="Inter" pitchFamily="34" charset="0"/>
                <a:ea typeface="Inter" pitchFamily="34" charset="-122"/>
                <a:cs typeface="Inter"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9"/>
        </a:solidFill>
      </p:bgPr>
    </p:bg>
    <p:spTree>
      <p:nvGrpSpPr>
        <p:cNvPr id="1" name=""/>
        <p:cNvGrpSpPr/>
        <p:nvPr/>
      </p:nvGrpSpPr>
      <p:grpSpPr>
        <a:xfrm>
          <a:off x="0" y="0"/>
          <a:ext cx="0" cy="0"/>
          <a:chOff x="0" y="0"/>
          <a:chExt cx="0" cy="0"/>
        </a:xfrm>
      </p:grpSpPr>
      <p:sp>
        <p:nvSpPr>
          <p:cNvPr id="2" name="Text 0"/>
          <p:cNvSpPr txBox="1"/>
          <p:nvPr/>
        </p:nvSpPr>
        <p:spPr>
          <a:xfrm>
            <a:off x="457200" y="320040"/>
            <a:ext cx="10607040" cy="274320"/>
          </a:xfrm>
          <a:prstGeom prst="rect">
            <a:avLst/>
          </a:prstGeom>
          <a:noFill/>
          <a:ln/>
        </p:spPr>
        <p:txBody>
          <a:bodyPr wrap="square" lIns="0" tIns="0" rIns="0" bIns="0" rtlCol="0" anchor="ctr"/>
          <a:lstStyle/>
          <a:p>
            <a:pPr indent="0" marL="0">
              <a:buNone/>
            </a:pPr>
            <a:r>
              <a:rPr lang="en-US" sz="1100" b="1" spc="100" kern="0" dirty="0">
                <a:solidFill>
                  <a:srgbClr val="0D9488"/>
                </a:solidFill>
                <a:latin typeface="Inter" pitchFamily="34" charset="0"/>
                <a:ea typeface="Inter" pitchFamily="34" charset="-122"/>
                <a:cs typeface="Inter" pitchFamily="34" charset="-120"/>
              </a:rPr>
              <a:t>STAKEHOLDER VALUE MATRIX</a:t>
            </a:r>
            <a:endParaRPr lang="en-US" sz="1100" dirty="0"/>
          </a:p>
        </p:txBody>
      </p:sp>
      <p:sp>
        <p:nvSpPr>
          <p:cNvPr id="3" name="Text 1"/>
          <p:cNvSpPr txBox="1"/>
          <p:nvPr/>
        </p:nvSpPr>
        <p:spPr>
          <a:xfrm>
            <a:off x="457200" y="566928"/>
            <a:ext cx="10972800" cy="566928"/>
          </a:xfrm>
          <a:prstGeom prst="rect">
            <a:avLst/>
          </a:prstGeom>
          <a:noFill/>
          <a:ln/>
        </p:spPr>
        <p:txBody>
          <a:bodyPr wrap="square" lIns="0" tIns="0" rIns="0" bIns="0" rtlCol="0" anchor="ctr"/>
          <a:lstStyle/>
          <a:p>
            <a:pPr indent="0" marL="0">
              <a:buNone/>
            </a:pPr>
            <a:r>
              <a:rPr lang="en-US" sz="2600" b="1" dirty="0">
                <a:solidFill>
                  <a:srgbClr val="0F2922"/>
                </a:solidFill>
                <a:latin typeface="Plus Jakarta Sans" pitchFamily="34" charset="0"/>
                <a:ea typeface="Plus Jakarta Sans" pitchFamily="34" charset="-122"/>
                <a:cs typeface="Plus Jakarta Sans" pitchFamily="34" charset="-120"/>
              </a:rPr>
              <a:t>Comprehensive Stakeholder Benefits</a:t>
            </a:r>
            <a:endParaRPr lang="en-US" sz="2600" dirty="0"/>
          </a:p>
        </p:txBody>
      </p:sp>
      <p:sp>
        <p:nvSpPr>
          <p:cNvPr id="4" name="Shape 2"/>
          <p:cNvSpPr/>
          <p:nvPr/>
        </p:nvSpPr>
        <p:spPr>
          <a:xfrm>
            <a:off x="457200" y="1207008"/>
            <a:ext cx="11277295" cy="18288"/>
          </a:xfrm>
          <a:prstGeom prst="rect">
            <a:avLst/>
          </a:prstGeom>
          <a:solidFill>
            <a:srgbClr val="E2E8F0"/>
          </a:solidFill>
          <a:ln/>
        </p:spPr>
      </p:sp>
      <p:sp>
        <p:nvSpPr>
          <p:cNvPr id="5" name="Shape 3"/>
          <p:cNvSpPr/>
          <p:nvPr/>
        </p:nvSpPr>
        <p:spPr>
          <a:xfrm>
            <a:off x="457200" y="1463040"/>
            <a:ext cx="5501488" cy="2331720"/>
          </a:xfrm>
          <a:prstGeom prst="roundRect">
            <a:avLst>
              <a:gd name="adj" fmla="val 3137"/>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6" name="Shape 4"/>
          <p:cNvSpPr/>
          <p:nvPr/>
        </p:nvSpPr>
        <p:spPr>
          <a:xfrm>
            <a:off x="685800" y="1691640"/>
            <a:ext cx="411480" cy="411480"/>
          </a:xfrm>
          <a:prstGeom prst="ellipse">
            <a:avLst/>
          </a:prstGeom>
          <a:solidFill>
            <a:srgbClr val="0D9488"/>
          </a:solidFill>
          <a:ln/>
        </p:spPr>
      </p:sp>
      <p:sp>
        <p:nvSpPr>
          <p:cNvPr id="7" name="Text 5"/>
          <p:cNvSpPr txBox="1"/>
          <p:nvPr/>
        </p:nvSpPr>
        <p:spPr>
          <a:xfrm>
            <a:off x="685800" y="16916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Plus Jakarta Sans" pitchFamily="34" charset="0"/>
                <a:ea typeface="Plus Jakarta Sans" pitchFamily="34" charset="-122"/>
                <a:cs typeface="Plus Jakarta Sans" pitchFamily="34" charset="-120"/>
              </a:rPr>
              <a:t>1</a:t>
            </a:r>
            <a:endParaRPr lang="en-US" sz="1400" dirty="0"/>
          </a:p>
        </p:txBody>
      </p:sp>
      <p:sp>
        <p:nvSpPr>
          <p:cNvPr id="8" name="Text 6"/>
          <p:cNvSpPr txBox="1"/>
          <p:nvPr/>
        </p:nvSpPr>
        <p:spPr>
          <a:xfrm>
            <a:off x="1280160" y="1691640"/>
            <a:ext cx="4495648" cy="411480"/>
          </a:xfrm>
          <a:prstGeom prst="rect">
            <a:avLst/>
          </a:prstGeom>
          <a:noFill/>
          <a:ln/>
        </p:spPr>
        <p:txBody>
          <a:bodyPr wrap="square" lIns="0" tIns="0" rIns="0" bIns="0" rtlCol="0" anchor="ctr"/>
          <a:lstStyle/>
          <a:p>
            <a:pPr indent="0" marL="0">
              <a:buNone/>
            </a:pPr>
            <a:r>
              <a:rPr lang="en-US" sz="1400" b="1" dirty="0">
                <a:solidFill>
                  <a:srgbClr val="0F2922"/>
                </a:solidFill>
                <a:latin typeface="Plus Jakarta Sans" pitchFamily="34" charset="0"/>
                <a:ea typeface="Plus Jakarta Sans" pitchFamily="34" charset="-122"/>
                <a:cs typeface="Plus Jakarta Sans" pitchFamily="34" charset="-120"/>
              </a:rPr>
              <a:t>For Customers</a:t>
            </a:r>
            <a:endParaRPr lang="en-US" sz="1400" dirty="0"/>
          </a:p>
        </p:txBody>
      </p:sp>
      <p:sp>
        <p:nvSpPr>
          <p:cNvPr id="9" name="Text 7"/>
          <p:cNvSpPr txBox="1"/>
          <p:nvPr/>
        </p:nvSpPr>
        <p:spPr>
          <a:xfrm>
            <a:off x="685800" y="2331720"/>
            <a:ext cx="5044288" cy="1280160"/>
          </a:xfrm>
          <a:prstGeom prst="rect">
            <a:avLst/>
          </a:prstGeom>
          <a:noFill/>
          <a:ln/>
        </p:spPr>
        <p:txBody>
          <a:bodyPr wrap="square" lIns="0" tIns="0" rIns="0" bIns="0" rtlCol="0" anchor="ctr"/>
          <a:lstStyle/>
          <a:p>
            <a:pPr indent="0" marL="0">
              <a:lnSpc>
                <a:spcPct val="130000"/>
              </a:lnSpc>
              <a:buNone/>
            </a:pPr>
            <a:r>
              <a:rPr lang="en-US" sz="1050" dirty="0">
                <a:solidFill>
                  <a:srgbClr val="475569"/>
                </a:solidFill>
                <a:latin typeface="Inter" pitchFamily="34" charset="0"/>
                <a:ea typeface="Inter" pitchFamily="34" charset="-122"/>
                <a:cs typeface="Inter" pitchFamily="34" charset="-120"/>
              </a:rPr>
              <a:t>Near-instant answers to routine queries, 24/7 self-service accuracy, transparent stage tracking, and seamless single-click ticket reopening if solutions require further clarification.</a:t>
            </a:r>
            <a:endParaRPr lang="en-US" sz="1050" dirty="0"/>
          </a:p>
        </p:txBody>
      </p:sp>
      <p:sp>
        <p:nvSpPr>
          <p:cNvPr id="10" name="Shape 8"/>
          <p:cNvSpPr/>
          <p:nvPr/>
        </p:nvSpPr>
        <p:spPr>
          <a:xfrm>
            <a:off x="6233008" y="1463040"/>
            <a:ext cx="5501488" cy="2331720"/>
          </a:xfrm>
          <a:prstGeom prst="roundRect">
            <a:avLst>
              <a:gd name="adj" fmla="val 3137"/>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11" name="Shape 9"/>
          <p:cNvSpPr/>
          <p:nvPr/>
        </p:nvSpPr>
        <p:spPr>
          <a:xfrm>
            <a:off x="6461608" y="1691640"/>
            <a:ext cx="411480" cy="411480"/>
          </a:xfrm>
          <a:prstGeom prst="ellipse">
            <a:avLst/>
          </a:prstGeom>
          <a:solidFill>
            <a:srgbClr val="0D9488"/>
          </a:solidFill>
          <a:ln/>
        </p:spPr>
      </p:sp>
      <p:sp>
        <p:nvSpPr>
          <p:cNvPr id="12" name="Text 10"/>
          <p:cNvSpPr txBox="1"/>
          <p:nvPr/>
        </p:nvSpPr>
        <p:spPr>
          <a:xfrm>
            <a:off x="6461608" y="16916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Plus Jakarta Sans" pitchFamily="34" charset="0"/>
                <a:ea typeface="Plus Jakarta Sans" pitchFamily="34" charset="-122"/>
                <a:cs typeface="Plus Jakarta Sans" pitchFamily="34" charset="-120"/>
              </a:rPr>
              <a:t>2</a:t>
            </a:r>
            <a:endParaRPr lang="en-US" sz="1400" dirty="0"/>
          </a:p>
        </p:txBody>
      </p:sp>
      <p:sp>
        <p:nvSpPr>
          <p:cNvPr id="13" name="Text 11"/>
          <p:cNvSpPr txBox="1"/>
          <p:nvPr/>
        </p:nvSpPr>
        <p:spPr>
          <a:xfrm>
            <a:off x="7055968" y="1691640"/>
            <a:ext cx="4495648" cy="411480"/>
          </a:xfrm>
          <a:prstGeom prst="rect">
            <a:avLst/>
          </a:prstGeom>
          <a:noFill/>
          <a:ln/>
        </p:spPr>
        <p:txBody>
          <a:bodyPr wrap="square" lIns="0" tIns="0" rIns="0" bIns="0" rtlCol="0" anchor="ctr"/>
          <a:lstStyle/>
          <a:p>
            <a:pPr indent="0" marL="0">
              <a:buNone/>
            </a:pPr>
            <a:r>
              <a:rPr lang="en-US" sz="1400" b="1" dirty="0">
                <a:solidFill>
                  <a:srgbClr val="0F2922"/>
                </a:solidFill>
                <a:latin typeface="Plus Jakarta Sans" pitchFamily="34" charset="0"/>
                <a:ea typeface="Plus Jakarta Sans" pitchFamily="34" charset="-122"/>
                <a:cs typeface="Plus Jakarta Sans" pitchFamily="34" charset="-120"/>
              </a:rPr>
              <a:t>For Support Agents</a:t>
            </a:r>
            <a:endParaRPr lang="en-US" sz="1400" dirty="0"/>
          </a:p>
        </p:txBody>
      </p:sp>
      <p:sp>
        <p:nvSpPr>
          <p:cNvPr id="14" name="Text 12"/>
          <p:cNvSpPr txBox="1"/>
          <p:nvPr/>
        </p:nvSpPr>
        <p:spPr>
          <a:xfrm>
            <a:off x="6461608" y="2331720"/>
            <a:ext cx="5044288" cy="1280160"/>
          </a:xfrm>
          <a:prstGeom prst="rect">
            <a:avLst/>
          </a:prstGeom>
          <a:noFill/>
          <a:ln/>
        </p:spPr>
        <p:txBody>
          <a:bodyPr wrap="square" lIns="0" tIns="0" rIns="0" bIns="0" rtlCol="0" anchor="ctr"/>
          <a:lstStyle/>
          <a:p>
            <a:pPr indent="0" marL="0">
              <a:lnSpc>
                <a:spcPct val="130000"/>
              </a:lnSpc>
              <a:buNone/>
            </a:pPr>
            <a:r>
              <a:rPr lang="en-US" sz="1050" dirty="0">
                <a:solidFill>
                  <a:srgbClr val="475569"/>
                </a:solidFill>
                <a:latin typeface="Inter" pitchFamily="34" charset="0"/>
                <a:ea typeface="Inter" pitchFamily="34" charset="-122"/>
                <a:cs typeface="Inter" pitchFamily="34" charset="-120"/>
              </a:rPr>
              <a:t>Elimination of manual repetitive responses, instant AI-drafted context &amp; step-by-step documentation, automatic Jira issue creation, and focus on high-value complex tasks.</a:t>
            </a:r>
            <a:endParaRPr lang="en-US" sz="1050" dirty="0"/>
          </a:p>
        </p:txBody>
      </p:sp>
      <p:sp>
        <p:nvSpPr>
          <p:cNvPr id="15" name="Shape 13"/>
          <p:cNvSpPr/>
          <p:nvPr/>
        </p:nvSpPr>
        <p:spPr>
          <a:xfrm>
            <a:off x="457200" y="4069080"/>
            <a:ext cx="5501488" cy="2331720"/>
          </a:xfrm>
          <a:prstGeom prst="roundRect">
            <a:avLst>
              <a:gd name="adj" fmla="val 3137"/>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16" name="Shape 14"/>
          <p:cNvSpPr/>
          <p:nvPr/>
        </p:nvSpPr>
        <p:spPr>
          <a:xfrm>
            <a:off x="685800" y="4297680"/>
            <a:ext cx="411480" cy="411480"/>
          </a:xfrm>
          <a:prstGeom prst="ellipse">
            <a:avLst/>
          </a:prstGeom>
          <a:solidFill>
            <a:srgbClr val="0D9488"/>
          </a:solidFill>
          <a:ln/>
        </p:spPr>
      </p:sp>
      <p:sp>
        <p:nvSpPr>
          <p:cNvPr id="17" name="Text 15"/>
          <p:cNvSpPr txBox="1"/>
          <p:nvPr/>
        </p:nvSpPr>
        <p:spPr>
          <a:xfrm>
            <a:off x="685800" y="42976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Plus Jakarta Sans" pitchFamily="34" charset="0"/>
                <a:ea typeface="Plus Jakarta Sans" pitchFamily="34" charset="-122"/>
                <a:cs typeface="Plus Jakarta Sans" pitchFamily="34" charset="-120"/>
              </a:rPr>
              <a:t>3</a:t>
            </a:r>
            <a:endParaRPr lang="en-US" sz="1400" dirty="0"/>
          </a:p>
        </p:txBody>
      </p:sp>
      <p:sp>
        <p:nvSpPr>
          <p:cNvPr id="18" name="Text 16"/>
          <p:cNvSpPr txBox="1"/>
          <p:nvPr/>
        </p:nvSpPr>
        <p:spPr>
          <a:xfrm>
            <a:off x="1280160" y="4297680"/>
            <a:ext cx="4495648" cy="411480"/>
          </a:xfrm>
          <a:prstGeom prst="rect">
            <a:avLst/>
          </a:prstGeom>
          <a:noFill/>
          <a:ln/>
        </p:spPr>
        <p:txBody>
          <a:bodyPr wrap="square" lIns="0" tIns="0" rIns="0" bIns="0" rtlCol="0" anchor="ctr"/>
          <a:lstStyle/>
          <a:p>
            <a:pPr indent="0" marL="0">
              <a:buNone/>
            </a:pPr>
            <a:r>
              <a:rPr lang="en-US" sz="1400" b="1" dirty="0">
                <a:solidFill>
                  <a:srgbClr val="0F2922"/>
                </a:solidFill>
                <a:latin typeface="Plus Jakarta Sans" pitchFamily="34" charset="0"/>
                <a:ea typeface="Plus Jakarta Sans" pitchFamily="34" charset="-122"/>
                <a:cs typeface="Plus Jakarta Sans" pitchFamily="34" charset="-120"/>
              </a:rPr>
              <a:t>For Support Managers</a:t>
            </a:r>
            <a:endParaRPr lang="en-US" sz="1400" dirty="0"/>
          </a:p>
        </p:txBody>
      </p:sp>
      <p:sp>
        <p:nvSpPr>
          <p:cNvPr id="19" name="Text 17"/>
          <p:cNvSpPr txBox="1"/>
          <p:nvPr/>
        </p:nvSpPr>
        <p:spPr>
          <a:xfrm>
            <a:off x="685800" y="4937760"/>
            <a:ext cx="5044288" cy="1280160"/>
          </a:xfrm>
          <a:prstGeom prst="rect">
            <a:avLst/>
          </a:prstGeom>
          <a:noFill/>
          <a:ln/>
        </p:spPr>
        <p:txBody>
          <a:bodyPr wrap="square" lIns="0" tIns="0" rIns="0" bIns="0" rtlCol="0" anchor="ctr"/>
          <a:lstStyle/>
          <a:p>
            <a:pPr indent="0" marL="0">
              <a:lnSpc>
                <a:spcPct val="130000"/>
              </a:lnSpc>
              <a:buNone/>
            </a:pPr>
            <a:r>
              <a:rPr lang="en-US" sz="1050" dirty="0">
                <a:solidFill>
                  <a:srgbClr val="475569"/>
                </a:solidFill>
                <a:latin typeface="Inter" pitchFamily="34" charset="0"/>
                <a:ea typeface="Inter" pitchFamily="34" charset="-122"/>
                <a:cs typeface="Inter" pitchFamily="34" charset="-120"/>
              </a:rPr>
              <a:t>Real-time visibility into queue backlogs, automatic team workload balancing, instant SLA breach alerts, and quantitative insights into team resolution performance.</a:t>
            </a:r>
            <a:endParaRPr lang="en-US" sz="1050" dirty="0"/>
          </a:p>
        </p:txBody>
      </p:sp>
      <p:sp>
        <p:nvSpPr>
          <p:cNvPr id="20" name="Shape 18"/>
          <p:cNvSpPr/>
          <p:nvPr/>
        </p:nvSpPr>
        <p:spPr>
          <a:xfrm>
            <a:off x="6233008" y="4069080"/>
            <a:ext cx="5501488" cy="2331720"/>
          </a:xfrm>
          <a:prstGeom prst="roundRect">
            <a:avLst>
              <a:gd name="adj" fmla="val 3137"/>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21" name="Shape 19"/>
          <p:cNvSpPr/>
          <p:nvPr/>
        </p:nvSpPr>
        <p:spPr>
          <a:xfrm>
            <a:off x="6461608" y="4297680"/>
            <a:ext cx="411480" cy="411480"/>
          </a:xfrm>
          <a:prstGeom prst="ellipse">
            <a:avLst/>
          </a:prstGeom>
          <a:solidFill>
            <a:srgbClr val="0D9488"/>
          </a:solidFill>
          <a:ln/>
        </p:spPr>
      </p:sp>
      <p:sp>
        <p:nvSpPr>
          <p:cNvPr id="22" name="Text 20"/>
          <p:cNvSpPr txBox="1"/>
          <p:nvPr/>
        </p:nvSpPr>
        <p:spPr>
          <a:xfrm>
            <a:off x="6461608" y="42976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Plus Jakarta Sans" pitchFamily="34" charset="0"/>
                <a:ea typeface="Plus Jakarta Sans" pitchFamily="34" charset="-122"/>
                <a:cs typeface="Plus Jakarta Sans" pitchFamily="34" charset="-120"/>
              </a:rPr>
              <a:t>4</a:t>
            </a:r>
            <a:endParaRPr lang="en-US" sz="1400" dirty="0"/>
          </a:p>
        </p:txBody>
      </p:sp>
      <p:sp>
        <p:nvSpPr>
          <p:cNvPr id="23" name="Text 21"/>
          <p:cNvSpPr txBox="1"/>
          <p:nvPr/>
        </p:nvSpPr>
        <p:spPr>
          <a:xfrm>
            <a:off x="7055968" y="4297680"/>
            <a:ext cx="4495648" cy="411480"/>
          </a:xfrm>
          <a:prstGeom prst="rect">
            <a:avLst/>
          </a:prstGeom>
          <a:noFill/>
          <a:ln/>
        </p:spPr>
        <p:txBody>
          <a:bodyPr wrap="square" lIns="0" tIns="0" rIns="0" bIns="0" rtlCol="0" anchor="ctr"/>
          <a:lstStyle/>
          <a:p>
            <a:pPr indent="0" marL="0">
              <a:buNone/>
            </a:pPr>
            <a:r>
              <a:rPr lang="en-US" sz="1400" b="1" dirty="0">
                <a:solidFill>
                  <a:srgbClr val="0F2922"/>
                </a:solidFill>
                <a:latin typeface="Plus Jakarta Sans" pitchFamily="34" charset="0"/>
                <a:ea typeface="Plus Jakarta Sans" pitchFamily="34" charset="-122"/>
                <a:cs typeface="Plus Jakarta Sans" pitchFamily="34" charset="-120"/>
              </a:rPr>
              <a:t>For Enterprise Organization</a:t>
            </a:r>
            <a:endParaRPr lang="en-US" sz="1400" dirty="0"/>
          </a:p>
        </p:txBody>
      </p:sp>
      <p:sp>
        <p:nvSpPr>
          <p:cNvPr id="24" name="Text 22"/>
          <p:cNvSpPr txBox="1"/>
          <p:nvPr/>
        </p:nvSpPr>
        <p:spPr>
          <a:xfrm>
            <a:off x="6461608" y="4937760"/>
            <a:ext cx="5044288" cy="1280160"/>
          </a:xfrm>
          <a:prstGeom prst="rect">
            <a:avLst/>
          </a:prstGeom>
          <a:noFill/>
          <a:ln/>
        </p:spPr>
        <p:txBody>
          <a:bodyPr wrap="square" lIns="0" tIns="0" rIns="0" bIns="0" rtlCol="0" anchor="ctr"/>
          <a:lstStyle/>
          <a:p>
            <a:pPr indent="0" marL="0">
              <a:lnSpc>
                <a:spcPct val="130000"/>
              </a:lnSpc>
              <a:buNone/>
            </a:pPr>
            <a:r>
              <a:rPr lang="en-US" sz="1050" dirty="0">
                <a:solidFill>
                  <a:srgbClr val="475569"/>
                </a:solidFill>
                <a:latin typeface="Inter" pitchFamily="34" charset="0"/>
                <a:ea typeface="Inter" pitchFamily="34" charset="-122"/>
                <a:cs typeface="Inter" pitchFamily="34" charset="-120"/>
              </a:rPr>
              <a:t>Dramatically lowered operational cost per ticket, scalable support architecture without linear headcount growth, and improved customer satisfaction (CSAT) scores.</a:t>
            </a:r>
            <a:endParaRPr lang="en-US" sz="1050" dirty="0"/>
          </a:p>
        </p:txBody>
      </p:sp>
      <p:sp>
        <p:nvSpPr>
          <p:cNvPr id="25" name="Text 23"/>
          <p:cNvSpPr txBox="1"/>
          <p:nvPr/>
        </p:nvSpPr>
        <p:spPr>
          <a:xfrm>
            <a:off x="11475720" y="6510528"/>
            <a:ext cx="365760" cy="256032"/>
          </a:xfrm>
          <a:prstGeom prst="rect">
            <a:avLst/>
          </a:prstGeom>
          <a:noFill/>
          <a:ln/>
        </p:spPr>
        <p:txBody>
          <a:bodyPr wrap="square" lIns="0" tIns="0" rIns="0" bIns="0" rtlCol="0" anchor="ctr"/>
          <a:lstStyle/>
          <a:p>
            <a:pPr algn="r" indent="0" marL="0">
              <a:buNone/>
            </a:pPr>
            <a:r>
              <a:rPr lang="en-US" sz="900" b="1" dirty="0">
                <a:solidFill>
                  <a:srgbClr val="CBD5E1"/>
                </a:solidFill>
                <a:latin typeface="Inter" pitchFamily="34" charset="0"/>
                <a:ea typeface="Inter" pitchFamily="34" charset="-122"/>
                <a:cs typeface="Inter"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9"/>
        </a:solidFill>
      </p:bgPr>
    </p:bg>
    <p:spTree>
      <p:nvGrpSpPr>
        <p:cNvPr id="1" name=""/>
        <p:cNvGrpSpPr/>
        <p:nvPr/>
      </p:nvGrpSpPr>
      <p:grpSpPr>
        <a:xfrm>
          <a:off x="0" y="0"/>
          <a:ext cx="0" cy="0"/>
          <a:chOff x="0" y="0"/>
          <a:chExt cx="0" cy="0"/>
        </a:xfrm>
      </p:grpSpPr>
      <p:sp>
        <p:nvSpPr>
          <p:cNvPr id="2" name="Text 0"/>
          <p:cNvSpPr txBox="1"/>
          <p:nvPr/>
        </p:nvSpPr>
        <p:spPr>
          <a:xfrm>
            <a:off x="457200" y="320040"/>
            <a:ext cx="10607040" cy="274320"/>
          </a:xfrm>
          <a:prstGeom prst="rect">
            <a:avLst/>
          </a:prstGeom>
          <a:noFill/>
          <a:ln/>
        </p:spPr>
        <p:txBody>
          <a:bodyPr wrap="square" lIns="0" tIns="0" rIns="0" bIns="0" rtlCol="0" anchor="ctr"/>
          <a:lstStyle/>
          <a:p>
            <a:pPr indent="0" marL="0">
              <a:buNone/>
            </a:pPr>
            <a:r>
              <a:rPr lang="en-US" sz="1100" b="1" spc="100" kern="0" dirty="0">
                <a:solidFill>
                  <a:srgbClr val="0D9488"/>
                </a:solidFill>
                <a:latin typeface="Inter" pitchFamily="34" charset="0"/>
                <a:ea typeface="Inter" pitchFamily="34" charset="-122"/>
                <a:cs typeface="Inter" pitchFamily="34" charset="-120"/>
              </a:rPr>
              <a:t>VISION &amp; SCALE</a:t>
            </a:r>
            <a:endParaRPr lang="en-US" sz="1100" dirty="0"/>
          </a:p>
        </p:txBody>
      </p:sp>
      <p:sp>
        <p:nvSpPr>
          <p:cNvPr id="3" name="Text 1"/>
          <p:cNvSpPr txBox="1"/>
          <p:nvPr/>
        </p:nvSpPr>
        <p:spPr>
          <a:xfrm>
            <a:off x="457200" y="566928"/>
            <a:ext cx="10972800" cy="566928"/>
          </a:xfrm>
          <a:prstGeom prst="rect">
            <a:avLst/>
          </a:prstGeom>
          <a:noFill/>
          <a:ln/>
        </p:spPr>
        <p:txBody>
          <a:bodyPr wrap="square" lIns="0" tIns="0" rIns="0" bIns="0" rtlCol="0" anchor="ctr"/>
          <a:lstStyle/>
          <a:p>
            <a:pPr indent="0" marL="0">
              <a:buNone/>
            </a:pPr>
            <a:r>
              <a:rPr lang="en-US" sz="2600" b="1" dirty="0">
                <a:solidFill>
                  <a:srgbClr val="0F2922"/>
                </a:solidFill>
                <a:latin typeface="Plus Jakarta Sans" pitchFamily="34" charset="0"/>
                <a:ea typeface="Plus Jakarta Sans" pitchFamily="34" charset="-122"/>
                <a:cs typeface="Plus Jakarta Sans" pitchFamily="34" charset="-120"/>
              </a:rPr>
              <a:t>Real-World Enterprise Impact &amp; Future Roadmap</a:t>
            </a:r>
            <a:endParaRPr lang="en-US" sz="2600" dirty="0"/>
          </a:p>
        </p:txBody>
      </p:sp>
      <p:sp>
        <p:nvSpPr>
          <p:cNvPr id="4" name="Shape 2"/>
          <p:cNvSpPr/>
          <p:nvPr/>
        </p:nvSpPr>
        <p:spPr>
          <a:xfrm>
            <a:off x="457200" y="1207008"/>
            <a:ext cx="11277295" cy="18288"/>
          </a:xfrm>
          <a:prstGeom prst="rect">
            <a:avLst/>
          </a:prstGeom>
          <a:solidFill>
            <a:srgbClr val="E2E8F0"/>
          </a:solidFill>
          <a:ln/>
        </p:spPr>
      </p:sp>
      <p:sp>
        <p:nvSpPr>
          <p:cNvPr id="5" name="Shape 3"/>
          <p:cNvSpPr/>
          <p:nvPr/>
        </p:nvSpPr>
        <p:spPr>
          <a:xfrm>
            <a:off x="457200" y="1463040"/>
            <a:ext cx="5349240" cy="4572000"/>
          </a:xfrm>
          <a:prstGeom prst="roundRect">
            <a:avLst>
              <a:gd name="adj" fmla="val 1600"/>
            </a:avLst>
          </a:prstGeom>
          <a:solidFill>
            <a:srgbClr val="FFFFFF"/>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6" name="Text 4"/>
          <p:cNvSpPr txBox="1"/>
          <p:nvPr/>
        </p:nvSpPr>
        <p:spPr>
          <a:xfrm>
            <a:off x="731520" y="1691640"/>
            <a:ext cx="4800600" cy="411480"/>
          </a:xfrm>
          <a:prstGeom prst="rect">
            <a:avLst/>
          </a:prstGeom>
          <a:noFill/>
          <a:ln/>
        </p:spPr>
        <p:txBody>
          <a:bodyPr wrap="square" lIns="0" tIns="0" rIns="0" bIns="0" rtlCol="0" anchor="ctr"/>
          <a:lstStyle/>
          <a:p>
            <a:pPr indent="0" marL="0">
              <a:buNone/>
            </a:pPr>
            <a:r>
              <a:rPr lang="en-US" sz="1500" b="1" dirty="0">
                <a:solidFill>
                  <a:srgbClr val="0F2922"/>
                </a:solidFill>
                <a:latin typeface="Plus Jakarta Sans" pitchFamily="34" charset="0"/>
                <a:ea typeface="Plus Jakarta Sans" pitchFamily="34" charset="-122"/>
                <a:cs typeface="Plus Jakarta Sans" pitchFamily="34" charset="-120"/>
              </a:rPr>
              <a:t>Real-World Enterprise Impact</a:t>
            </a:r>
            <a:endParaRPr lang="en-US" sz="1500" dirty="0"/>
          </a:p>
        </p:txBody>
      </p:sp>
      <p:sp>
        <p:nvSpPr>
          <p:cNvPr id="7" name="Text 5"/>
          <p:cNvSpPr txBox="1"/>
          <p:nvPr/>
        </p:nvSpPr>
        <p:spPr>
          <a:xfrm>
            <a:off x="731520" y="2194560"/>
            <a:ext cx="4800600" cy="3566160"/>
          </a:xfrm>
          <a:prstGeom prst="rect">
            <a:avLst/>
          </a:prstGeom>
          <a:noFill/>
          <a:ln/>
        </p:spPr>
        <p:txBody>
          <a:bodyPr wrap="square" lIns="0" tIns="0" rIns="0" bIns="0" rtlCol="0" anchor="ctr"/>
          <a:lstStyle/>
          <a:p>
            <a:pPr indent="0" marL="0">
              <a:lnSpc>
                <a:spcPct val="135000"/>
              </a:lnSpc>
              <a:buNone/>
            </a:pPr>
            <a:r>
              <a:rPr lang="en-US" sz="1200" dirty="0">
                <a:solidFill>
                  <a:srgbClr val="475569"/>
                </a:solidFill>
                <a:latin typeface="Inter" pitchFamily="34" charset="0"/>
                <a:ea typeface="Inter" pitchFamily="34" charset="-122"/>
                <a:cs typeface="Inter" pitchFamily="34" charset="-120"/>
              </a:rPr>
              <a:t>SupportPilot equips IT service desks, SaaS platforms, and enterprise support centers to process thousands of daily support queries smoothly. By resolving standard L1 queries autonomously and elevating human agents into specialized problem solvers, organizations achieve rapid resolution times and predictable support SLAs.</a:t>
            </a:r>
            <a:endParaRPr lang="en-US" sz="1200" dirty="0"/>
          </a:p>
        </p:txBody>
      </p:sp>
      <p:sp>
        <p:nvSpPr>
          <p:cNvPr id="8" name="Shape 6"/>
          <p:cNvSpPr/>
          <p:nvPr/>
        </p:nvSpPr>
        <p:spPr>
          <a:xfrm>
            <a:off x="6382512" y="1463040"/>
            <a:ext cx="5349240" cy="4572000"/>
          </a:xfrm>
          <a:prstGeom prst="roundRect">
            <a:avLst>
              <a:gd name="adj" fmla="val 1600"/>
            </a:avLst>
          </a:prstGeom>
          <a:solidFill>
            <a:srgbClr val="0F2922"/>
          </a:solidFill>
          <a:ln w="12700">
            <a:solidFill>
              <a:srgbClr val="E2E8F0"/>
            </a:solidFill>
            <a:prstDash val="solid"/>
          </a:ln>
          <a:effectLst>
            <a:outerShdw sx="100000" sy="100000" kx="0" ky="0" algn="bl" rotWithShape="0" blurRad="101600" dist="25400" dir="5400000">
              <a:srgbClr val="0F2922">
                <a:alpha val="8000"/>
              </a:srgbClr>
            </a:outerShdw>
          </a:effectLst>
        </p:spPr>
      </p:sp>
      <p:sp>
        <p:nvSpPr>
          <p:cNvPr id="9" name="Text 7"/>
          <p:cNvSpPr txBox="1"/>
          <p:nvPr/>
        </p:nvSpPr>
        <p:spPr>
          <a:xfrm>
            <a:off x="6656832" y="1691640"/>
            <a:ext cx="4800600" cy="411480"/>
          </a:xfrm>
          <a:prstGeom prst="rect">
            <a:avLst/>
          </a:prstGeom>
          <a:noFill/>
          <a:ln/>
        </p:spPr>
        <p:txBody>
          <a:bodyPr wrap="square" lIns="0" tIns="0" rIns="0" bIns="0" rtlCol="0" anchor="ctr"/>
          <a:lstStyle/>
          <a:p>
            <a:pPr indent="0" marL="0">
              <a:buNone/>
            </a:pPr>
            <a:r>
              <a:rPr lang="en-US" sz="1500" b="1" dirty="0">
                <a:solidFill>
                  <a:srgbClr val="FFFFFF"/>
                </a:solidFill>
                <a:latin typeface="Plus Jakarta Sans" pitchFamily="34" charset="0"/>
                <a:ea typeface="Plus Jakarta Sans" pitchFamily="34" charset="-122"/>
                <a:cs typeface="Plus Jakarta Sans" pitchFamily="34" charset="-120"/>
              </a:rPr>
              <a:t>Future Technology Roadmap</a:t>
            </a:r>
            <a:endParaRPr lang="en-US" sz="1500" dirty="0"/>
          </a:p>
        </p:txBody>
      </p:sp>
      <p:sp>
        <p:nvSpPr>
          <p:cNvPr id="10" name="Shape 8"/>
          <p:cNvSpPr/>
          <p:nvPr/>
        </p:nvSpPr>
        <p:spPr>
          <a:xfrm>
            <a:off x="6656832" y="2350008"/>
            <a:ext cx="256032" cy="256032"/>
          </a:xfrm>
          <a:prstGeom prst="roundRect">
            <a:avLst>
              <a:gd name="adj" fmla="val 21429"/>
            </a:avLst>
          </a:prstGeom>
          <a:solidFill>
            <a:srgbClr val="0D9488"/>
          </a:solidFill>
          <a:ln/>
        </p:spPr>
      </p:sp>
      <p:sp>
        <p:nvSpPr>
          <p:cNvPr id="11" name="Text 9"/>
          <p:cNvSpPr txBox="1"/>
          <p:nvPr/>
        </p:nvSpPr>
        <p:spPr>
          <a:xfrm>
            <a:off x="6656832" y="2350008"/>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12" name="Text 10"/>
          <p:cNvSpPr txBox="1"/>
          <p:nvPr/>
        </p:nvSpPr>
        <p:spPr>
          <a:xfrm>
            <a:off x="7022592" y="2331720"/>
            <a:ext cx="4069080" cy="457200"/>
          </a:xfrm>
          <a:prstGeom prst="rect">
            <a:avLst/>
          </a:prstGeom>
          <a:noFill/>
          <a:ln/>
        </p:spPr>
        <p:txBody>
          <a:bodyPr wrap="square" lIns="0" tIns="0" rIns="0" bIns="0" rtlCol="0" anchor="ctr"/>
          <a:lstStyle/>
          <a:p>
            <a:pPr indent="0" marL="0">
              <a:buNone/>
            </a:pPr>
            <a:r>
              <a:rPr lang="en-US" sz="1150" dirty="0">
                <a:solidFill>
                  <a:srgbClr val="F8FAF9"/>
                </a:solidFill>
                <a:latin typeface="Inter" pitchFamily="34" charset="0"/>
                <a:ea typeface="Inter" pitchFamily="34" charset="-122"/>
                <a:cs typeface="Inter" pitchFamily="34" charset="-120"/>
              </a:rPr>
              <a:t>MS Teams &amp; Slack Support Bots</a:t>
            </a:r>
            <a:endParaRPr lang="en-US" sz="1150" dirty="0"/>
          </a:p>
        </p:txBody>
      </p:sp>
      <p:sp>
        <p:nvSpPr>
          <p:cNvPr id="13" name="Shape 11"/>
          <p:cNvSpPr/>
          <p:nvPr/>
        </p:nvSpPr>
        <p:spPr>
          <a:xfrm>
            <a:off x="6656832" y="2916936"/>
            <a:ext cx="256032" cy="256032"/>
          </a:xfrm>
          <a:prstGeom prst="roundRect">
            <a:avLst>
              <a:gd name="adj" fmla="val 21429"/>
            </a:avLst>
          </a:prstGeom>
          <a:solidFill>
            <a:srgbClr val="0D9488"/>
          </a:solidFill>
          <a:ln/>
        </p:spPr>
      </p:sp>
      <p:sp>
        <p:nvSpPr>
          <p:cNvPr id="14" name="Text 12"/>
          <p:cNvSpPr txBox="1"/>
          <p:nvPr/>
        </p:nvSpPr>
        <p:spPr>
          <a:xfrm>
            <a:off x="6656832" y="291693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15" name="Text 13"/>
          <p:cNvSpPr txBox="1"/>
          <p:nvPr/>
        </p:nvSpPr>
        <p:spPr>
          <a:xfrm>
            <a:off x="7022592" y="2898648"/>
            <a:ext cx="4069080" cy="457200"/>
          </a:xfrm>
          <a:prstGeom prst="rect">
            <a:avLst/>
          </a:prstGeom>
          <a:noFill/>
          <a:ln/>
        </p:spPr>
        <p:txBody>
          <a:bodyPr wrap="square" lIns="0" tIns="0" rIns="0" bIns="0" rtlCol="0" anchor="ctr"/>
          <a:lstStyle/>
          <a:p>
            <a:pPr indent="0" marL="0">
              <a:buNone/>
            </a:pPr>
            <a:r>
              <a:rPr lang="en-US" sz="1150" dirty="0">
                <a:solidFill>
                  <a:srgbClr val="F8FAF9"/>
                </a:solidFill>
                <a:latin typeface="Inter" pitchFamily="34" charset="0"/>
                <a:ea typeface="Inter" pitchFamily="34" charset="-122"/>
                <a:cs typeface="Inter" pitchFamily="34" charset="-120"/>
              </a:rPr>
              <a:t>Predictive AI SLA Breach Alerts</a:t>
            </a:r>
            <a:endParaRPr lang="en-US" sz="1150" dirty="0"/>
          </a:p>
        </p:txBody>
      </p:sp>
      <p:sp>
        <p:nvSpPr>
          <p:cNvPr id="16" name="Shape 14"/>
          <p:cNvSpPr/>
          <p:nvPr/>
        </p:nvSpPr>
        <p:spPr>
          <a:xfrm>
            <a:off x="6656832" y="3483864"/>
            <a:ext cx="256032" cy="256032"/>
          </a:xfrm>
          <a:prstGeom prst="roundRect">
            <a:avLst>
              <a:gd name="adj" fmla="val 21429"/>
            </a:avLst>
          </a:prstGeom>
          <a:solidFill>
            <a:srgbClr val="0D9488"/>
          </a:solidFill>
          <a:ln/>
        </p:spPr>
      </p:sp>
      <p:sp>
        <p:nvSpPr>
          <p:cNvPr id="17" name="Text 15"/>
          <p:cNvSpPr txBox="1"/>
          <p:nvPr/>
        </p:nvSpPr>
        <p:spPr>
          <a:xfrm>
            <a:off x="6656832" y="348386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18" name="Text 16"/>
          <p:cNvSpPr txBox="1"/>
          <p:nvPr/>
        </p:nvSpPr>
        <p:spPr>
          <a:xfrm>
            <a:off x="7022592" y="3465576"/>
            <a:ext cx="4069080" cy="457200"/>
          </a:xfrm>
          <a:prstGeom prst="rect">
            <a:avLst/>
          </a:prstGeom>
          <a:noFill/>
          <a:ln/>
        </p:spPr>
        <p:txBody>
          <a:bodyPr wrap="square" lIns="0" tIns="0" rIns="0" bIns="0" rtlCol="0" anchor="ctr"/>
          <a:lstStyle/>
          <a:p>
            <a:pPr indent="0" marL="0">
              <a:buNone/>
            </a:pPr>
            <a:r>
              <a:rPr lang="en-US" sz="1150" dirty="0">
                <a:solidFill>
                  <a:srgbClr val="F8FAF9"/>
                </a:solidFill>
                <a:latin typeface="Inter" pitchFamily="34" charset="0"/>
                <a:ea typeface="Inter" pitchFamily="34" charset="-122"/>
                <a:cs typeface="Inter" pitchFamily="34" charset="-120"/>
              </a:rPr>
              <a:t>Multilingual Generative Translation</a:t>
            </a:r>
            <a:endParaRPr lang="en-US" sz="1150" dirty="0"/>
          </a:p>
        </p:txBody>
      </p:sp>
      <p:sp>
        <p:nvSpPr>
          <p:cNvPr id="19" name="Shape 17"/>
          <p:cNvSpPr/>
          <p:nvPr/>
        </p:nvSpPr>
        <p:spPr>
          <a:xfrm>
            <a:off x="6656832" y="4050792"/>
            <a:ext cx="256032" cy="256032"/>
          </a:xfrm>
          <a:prstGeom prst="roundRect">
            <a:avLst>
              <a:gd name="adj" fmla="val 21429"/>
            </a:avLst>
          </a:prstGeom>
          <a:solidFill>
            <a:srgbClr val="0D9488"/>
          </a:solidFill>
          <a:ln/>
        </p:spPr>
      </p:sp>
      <p:sp>
        <p:nvSpPr>
          <p:cNvPr id="20" name="Text 18"/>
          <p:cNvSpPr txBox="1"/>
          <p:nvPr/>
        </p:nvSpPr>
        <p:spPr>
          <a:xfrm>
            <a:off x="6656832" y="405079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21" name="Text 19"/>
          <p:cNvSpPr txBox="1"/>
          <p:nvPr/>
        </p:nvSpPr>
        <p:spPr>
          <a:xfrm>
            <a:off x="7022592" y="4032504"/>
            <a:ext cx="4069080" cy="457200"/>
          </a:xfrm>
          <a:prstGeom prst="rect">
            <a:avLst/>
          </a:prstGeom>
          <a:noFill/>
          <a:ln/>
        </p:spPr>
        <p:txBody>
          <a:bodyPr wrap="square" lIns="0" tIns="0" rIns="0" bIns="0" rtlCol="0" anchor="ctr"/>
          <a:lstStyle/>
          <a:p>
            <a:pPr indent="0" marL="0">
              <a:buNone/>
            </a:pPr>
            <a:r>
              <a:rPr lang="en-US" sz="1150" dirty="0">
                <a:solidFill>
                  <a:srgbClr val="F8FAF9"/>
                </a:solidFill>
                <a:latin typeface="Inter" pitchFamily="34" charset="0"/>
                <a:ea typeface="Inter" pitchFamily="34" charset="-122"/>
                <a:cs typeface="Inter" pitchFamily="34" charset="-120"/>
              </a:rPr>
              <a:t>Automated KB Gap Detection</a:t>
            </a:r>
            <a:endParaRPr lang="en-US" sz="1150" dirty="0"/>
          </a:p>
        </p:txBody>
      </p:sp>
      <p:sp>
        <p:nvSpPr>
          <p:cNvPr id="22" name="Shape 20"/>
          <p:cNvSpPr/>
          <p:nvPr/>
        </p:nvSpPr>
        <p:spPr>
          <a:xfrm>
            <a:off x="6656832" y="4617720"/>
            <a:ext cx="256032" cy="256032"/>
          </a:xfrm>
          <a:prstGeom prst="roundRect">
            <a:avLst>
              <a:gd name="adj" fmla="val 21429"/>
            </a:avLst>
          </a:prstGeom>
          <a:solidFill>
            <a:srgbClr val="0D9488"/>
          </a:solidFill>
          <a:ln/>
        </p:spPr>
      </p:sp>
      <p:sp>
        <p:nvSpPr>
          <p:cNvPr id="23" name="Text 21"/>
          <p:cNvSpPr txBox="1"/>
          <p:nvPr/>
        </p:nvSpPr>
        <p:spPr>
          <a:xfrm>
            <a:off x="6656832" y="461772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24" name="Text 22"/>
          <p:cNvSpPr txBox="1"/>
          <p:nvPr/>
        </p:nvSpPr>
        <p:spPr>
          <a:xfrm>
            <a:off x="7022592" y="4599432"/>
            <a:ext cx="4069080" cy="457200"/>
          </a:xfrm>
          <a:prstGeom prst="rect">
            <a:avLst/>
          </a:prstGeom>
          <a:noFill/>
          <a:ln/>
        </p:spPr>
        <p:txBody>
          <a:bodyPr wrap="square" lIns="0" tIns="0" rIns="0" bIns="0" rtlCol="0" anchor="ctr"/>
          <a:lstStyle/>
          <a:p>
            <a:pPr indent="0" marL="0">
              <a:buNone/>
            </a:pPr>
            <a:r>
              <a:rPr lang="en-US" sz="1150" dirty="0">
                <a:solidFill>
                  <a:srgbClr val="F8FAF9"/>
                </a:solidFill>
                <a:latin typeface="Inter" pitchFamily="34" charset="0"/>
                <a:ea typeface="Inter" pitchFamily="34" charset="-122"/>
                <a:cs typeface="Inter" pitchFamily="34" charset="-120"/>
              </a:rPr>
              <a:t>Conversational Voice AI Agent</a:t>
            </a:r>
            <a:endParaRPr lang="en-US" sz="1150" dirty="0"/>
          </a:p>
        </p:txBody>
      </p:sp>
      <p:sp>
        <p:nvSpPr>
          <p:cNvPr id="25" name="Shape 23"/>
          <p:cNvSpPr/>
          <p:nvPr/>
        </p:nvSpPr>
        <p:spPr>
          <a:xfrm>
            <a:off x="6656832" y="5184648"/>
            <a:ext cx="256032" cy="256032"/>
          </a:xfrm>
          <a:prstGeom prst="roundRect">
            <a:avLst>
              <a:gd name="adj" fmla="val 21429"/>
            </a:avLst>
          </a:prstGeom>
          <a:solidFill>
            <a:srgbClr val="0D9488"/>
          </a:solidFill>
          <a:ln/>
        </p:spPr>
      </p:sp>
      <p:sp>
        <p:nvSpPr>
          <p:cNvPr id="26" name="Text 24"/>
          <p:cNvSpPr txBox="1"/>
          <p:nvPr/>
        </p:nvSpPr>
        <p:spPr>
          <a:xfrm>
            <a:off x="6656832" y="5184648"/>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27" name="Text 25"/>
          <p:cNvSpPr txBox="1"/>
          <p:nvPr/>
        </p:nvSpPr>
        <p:spPr>
          <a:xfrm>
            <a:off x="7022592" y="5166360"/>
            <a:ext cx="4069080" cy="457200"/>
          </a:xfrm>
          <a:prstGeom prst="rect">
            <a:avLst/>
          </a:prstGeom>
          <a:noFill/>
          <a:ln/>
        </p:spPr>
        <p:txBody>
          <a:bodyPr wrap="square" lIns="0" tIns="0" rIns="0" bIns="0" rtlCol="0" anchor="ctr"/>
          <a:lstStyle/>
          <a:p>
            <a:pPr indent="0" marL="0">
              <a:buNone/>
            </a:pPr>
            <a:r>
              <a:rPr lang="en-US" sz="1150" dirty="0">
                <a:solidFill>
                  <a:srgbClr val="F8FAF9"/>
                </a:solidFill>
                <a:latin typeface="Inter" pitchFamily="34" charset="0"/>
                <a:ea typeface="Inter" pitchFamily="34" charset="-122"/>
                <a:cs typeface="Inter" pitchFamily="34" charset="-120"/>
              </a:rPr>
              <a:t>Automated System API Remediation</a:t>
            </a:r>
            <a:endParaRPr lang="en-US" sz="1150" dirty="0"/>
          </a:p>
        </p:txBody>
      </p:sp>
      <p:sp>
        <p:nvSpPr>
          <p:cNvPr id="28" name="Text 26"/>
          <p:cNvSpPr txBox="1"/>
          <p:nvPr/>
        </p:nvSpPr>
        <p:spPr>
          <a:xfrm>
            <a:off x="11475720" y="6510528"/>
            <a:ext cx="365760" cy="256032"/>
          </a:xfrm>
          <a:prstGeom prst="rect">
            <a:avLst/>
          </a:prstGeom>
          <a:noFill/>
          <a:ln/>
        </p:spPr>
        <p:txBody>
          <a:bodyPr wrap="square" lIns="0" tIns="0" rIns="0" bIns="0" rtlCol="0" anchor="ctr"/>
          <a:lstStyle/>
          <a:p>
            <a:pPr algn="r" indent="0" marL="0">
              <a:buNone/>
            </a:pPr>
            <a:r>
              <a:rPr lang="en-US" sz="900" b="1" dirty="0">
                <a:solidFill>
                  <a:srgbClr val="CBD5E1"/>
                </a:solidFill>
                <a:latin typeface="Inter" pitchFamily="34" charset="0"/>
                <a:ea typeface="Inter" pitchFamily="34" charset="-122"/>
                <a:cs typeface="Inter"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2922"/>
        </a:solidFill>
      </p:bgPr>
    </p:bg>
    <p:spTree>
      <p:nvGrpSpPr>
        <p:cNvPr id="1" name=""/>
        <p:cNvGrpSpPr/>
        <p:nvPr/>
      </p:nvGrpSpPr>
      <p:grpSpPr>
        <a:xfrm>
          <a:off x="0" y="0"/>
          <a:ext cx="0" cy="0"/>
          <a:chOff x="0" y="0"/>
          <a:chExt cx="0" cy="0"/>
        </a:xfrm>
      </p:grpSpPr>
      <p:sp>
        <p:nvSpPr>
          <p:cNvPr id="2" name="Shape 0"/>
          <p:cNvSpPr/>
          <p:nvPr/>
        </p:nvSpPr>
        <p:spPr>
          <a:xfrm>
            <a:off x="-1371600" y="4114800"/>
            <a:ext cx="5029200" cy="5029200"/>
          </a:xfrm>
          <a:prstGeom prst="roundRect">
            <a:avLst>
              <a:gd name="adj" fmla="val 50000"/>
            </a:avLst>
          </a:prstGeom>
          <a:solidFill>
            <a:srgbClr val="0E312A"/>
          </a:solidFill>
          <a:ln/>
        </p:spPr>
      </p:sp>
      <p:sp>
        <p:nvSpPr>
          <p:cNvPr id="3" name="Shape 1"/>
          <p:cNvSpPr/>
          <p:nvPr/>
        </p:nvSpPr>
        <p:spPr>
          <a:xfrm>
            <a:off x="9875520" y="-1828800"/>
            <a:ext cx="5029200" cy="5029200"/>
          </a:xfrm>
          <a:prstGeom prst="roundRect">
            <a:avLst>
              <a:gd name="adj" fmla="val 50000"/>
            </a:avLst>
          </a:prstGeom>
          <a:solidFill>
            <a:srgbClr val="0A1F19"/>
          </a:solidFill>
          <a:ln/>
        </p:spPr>
      </p:sp>
      <p:sp>
        <p:nvSpPr>
          <p:cNvPr id="4" name="Text 2"/>
          <p:cNvSpPr txBox="1"/>
          <p:nvPr/>
        </p:nvSpPr>
        <p:spPr>
          <a:xfrm>
            <a:off x="822960" y="914400"/>
            <a:ext cx="10515600" cy="274320"/>
          </a:xfrm>
          <a:prstGeom prst="rect">
            <a:avLst/>
          </a:prstGeom>
          <a:noFill/>
          <a:ln/>
        </p:spPr>
        <p:txBody>
          <a:bodyPr wrap="square" lIns="0" tIns="0" rIns="0" bIns="0" rtlCol="0" anchor="ctr"/>
          <a:lstStyle/>
          <a:p>
            <a:pPr algn="ctr" indent="0" marL="0">
              <a:buNone/>
            </a:pPr>
            <a:r>
              <a:rPr lang="en-US" sz="1100" b="1" spc="100" kern="0" dirty="0">
                <a:solidFill>
                  <a:srgbClr val="2DD4BF"/>
                </a:solidFill>
                <a:latin typeface="Inter" pitchFamily="34" charset="0"/>
                <a:ea typeface="Inter" pitchFamily="34" charset="-122"/>
                <a:cs typeface="Inter" pitchFamily="34" charset="-120"/>
              </a:rPr>
              <a:t>INFOSYS SPRINGBOARD VIRTUAL INTERNSHIP 7.0  •  FINAL REVIEW</a:t>
            </a:r>
            <a:endParaRPr lang="en-US" sz="1100" dirty="0"/>
          </a:p>
        </p:txBody>
      </p:sp>
      <p:sp>
        <p:nvSpPr>
          <p:cNvPr id="5" name="Text 3"/>
          <p:cNvSpPr txBox="1"/>
          <p:nvPr/>
        </p:nvSpPr>
        <p:spPr>
          <a:xfrm>
            <a:off x="822960" y="1371600"/>
            <a:ext cx="10515600"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Plus Jakarta Sans" pitchFamily="34" charset="0"/>
                <a:ea typeface="Plus Jakarta Sans" pitchFamily="34" charset="-122"/>
                <a:cs typeface="Plus Jakarta Sans" pitchFamily="34" charset="-120"/>
              </a:rPr>
              <a:t>SupportPilot</a:t>
            </a:r>
            <a:endParaRPr lang="en-US" sz="4000" dirty="0"/>
          </a:p>
        </p:txBody>
      </p:sp>
      <p:sp>
        <p:nvSpPr>
          <p:cNvPr id="6" name="Text 4"/>
          <p:cNvSpPr txBox="1"/>
          <p:nvPr/>
        </p:nvSpPr>
        <p:spPr>
          <a:xfrm>
            <a:off x="822960" y="2240280"/>
            <a:ext cx="10515600" cy="457200"/>
          </a:xfrm>
          <a:prstGeom prst="rect">
            <a:avLst/>
          </a:prstGeom>
          <a:noFill/>
          <a:ln/>
        </p:spPr>
        <p:txBody>
          <a:bodyPr wrap="square" lIns="0" tIns="0" rIns="0" bIns="0" rtlCol="0" anchor="ctr"/>
          <a:lstStyle/>
          <a:p>
            <a:pPr algn="ctr" indent="0" marL="0">
              <a:buNone/>
            </a:pPr>
            <a:r>
              <a:rPr lang="en-US" sz="1500" i="1" dirty="0">
                <a:solidFill>
                  <a:srgbClr val="2DD4BF"/>
                </a:solidFill>
                <a:latin typeface="Inter" pitchFamily="34" charset="0"/>
                <a:ea typeface="Inter" pitchFamily="34" charset="-122"/>
                <a:cs typeface="Inter" pitchFamily="34" charset="-120"/>
              </a:rPr>
              <a:t>“Smarter Support. Faster Resolution. Superior Customer Experience.”</a:t>
            </a:r>
            <a:endParaRPr lang="en-US" sz="1500" dirty="0"/>
          </a:p>
        </p:txBody>
      </p:sp>
      <p:sp>
        <p:nvSpPr>
          <p:cNvPr id="7" name="Shape 5"/>
          <p:cNvSpPr/>
          <p:nvPr/>
        </p:nvSpPr>
        <p:spPr>
          <a:xfrm>
            <a:off x="1737360" y="2971800"/>
            <a:ext cx="8686800" cy="1554480"/>
          </a:xfrm>
          <a:prstGeom prst="roundRect">
            <a:avLst>
              <a:gd name="adj" fmla="val 4706"/>
            </a:avLst>
          </a:prstGeom>
          <a:solidFill>
            <a:srgbClr val="0A1F19"/>
          </a:solidFill>
          <a:ln w="12700">
            <a:solidFill>
              <a:srgbClr val="1E4A3F"/>
            </a:solidFill>
            <a:prstDash val="solid"/>
          </a:ln>
          <a:effectLst>
            <a:outerShdw sx="100000" sy="100000" kx="0" ky="0" algn="bl" rotWithShape="0" blurRad="101600" dist="25400" dir="5400000">
              <a:srgbClr val="0F2922">
                <a:alpha val="8000"/>
              </a:srgbClr>
            </a:outerShdw>
          </a:effectLst>
        </p:spPr>
      </p:sp>
      <p:sp>
        <p:nvSpPr>
          <p:cNvPr id="8" name="Text 6"/>
          <p:cNvSpPr txBox="1"/>
          <p:nvPr/>
        </p:nvSpPr>
        <p:spPr>
          <a:xfrm>
            <a:off x="2057400" y="3154680"/>
            <a:ext cx="8046720" cy="1188720"/>
          </a:xfrm>
          <a:prstGeom prst="rect">
            <a:avLst/>
          </a:prstGeom>
          <a:noFill/>
          <a:ln/>
        </p:spPr>
        <p:txBody>
          <a:bodyPr wrap="square" lIns="0" tIns="0" rIns="0" bIns="0" rtlCol="0" anchor="ctr"/>
          <a:lstStyle/>
          <a:p>
            <a:pPr algn="ctr" indent="0" marL="0">
              <a:lnSpc>
                <a:spcPct val="130000"/>
              </a:lnSpc>
              <a:buNone/>
            </a:pPr>
            <a:r>
              <a:rPr lang="en-US" sz="1200" dirty="0">
                <a:solidFill>
                  <a:srgbClr val="F8FAF9"/>
                </a:solidFill>
                <a:latin typeface="Inter" pitchFamily="34" charset="0"/>
                <a:ea typeface="Inter" pitchFamily="34" charset="-122"/>
                <a:cs typeface="Inter" pitchFamily="34" charset="-120"/>
              </a:rPr>
              <a:t>SupportPilot successfully delivers an end-to-end AI-assisted customer support platform featuring automated triage, RAG knowledge retrieval, confidence-gated escalation, multi-agent orchestration, Jira integration, and executive SLA analytics — developed, tested, and deployed live across four milestones during the 8-week Infosys Springboard Virtual Internship 7.0.</a:t>
            </a:r>
            <a:endParaRPr lang="en-US" sz="1200" dirty="0"/>
          </a:p>
        </p:txBody>
      </p:sp>
      <p:sp>
        <p:nvSpPr>
          <p:cNvPr id="9" name="Shape 7"/>
          <p:cNvSpPr/>
          <p:nvPr/>
        </p:nvSpPr>
        <p:spPr>
          <a:xfrm>
            <a:off x="5367528" y="4754880"/>
            <a:ext cx="1463040" cy="329184"/>
          </a:xfrm>
          <a:prstGeom prst="roundRect">
            <a:avLst>
              <a:gd name="adj" fmla="val 44444"/>
            </a:avLst>
          </a:prstGeom>
          <a:solidFill>
            <a:srgbClr val="15554B"/>
          </a:solidFill>
          <a:ln w="12700">
            <a:solidFill>
              <a:srgbClr val="1E6B5C"/>
            </a:solidFill>
            <a:prstDash val="solid"/>
          </a:ln>
        </p:spPr>
      </p:sp>
      <p:sp>
        <p:nvSpPr>
          <p:cNvPr id="10" name="Text 8"/>
          <p:cNvSpPr txBox="1"/>
          <p:nvPr/>
        </p:nvSpPr>
        <p:spPr>
          <a:xfrm>
            <a:off x="5367528" y="4754880"/>
            <a:ext cx="1463040" cy="329184"/>
          </a:xfrm>
          <a:prstGeom prst="rect">
            <a:avLst/>
          </a:prstGeom>
          <a:noFill/>
          <a:ln/>
        </p:spPr>
        <p:txBody>
          <a:bodyPr wrap="square" lIns="0" tIns="0" rIns="0" bIns="0" rtlCol="0" anchor="ctr"/>
          <a:lstStyle/>
          <a:p>
            <a:pPr algn="ctr" indent="0" marL="0">
              <a:buNone/>
            </a:pPr>
            <a:r>
              <a:rPr lang="en-US" sz="1100" b="1" dirty="0">
                <a:solidFill>
                  <a:srgbClr val="2DD4BF"/>
                </a:solidFill>
                <a:latin typeface="Inter" pitchFamily="34" charset="0"/>
                <a:ea typeface="Inter" pitchFamily="34" charset="-122"/>
                <a:cs typeface="Inter" pitchFamily="34" charset="-120"/>
              </a:rPr>
              <a:t>TEAM 1</a:t>
            </a:r>
            <a:endParaRPr lang="en-US" sz="1100" dirty="0"/>
          </a:p>
        </p:txBody>
      </p:sp>
      <p:sp>
        <p:nvSpPr>
          <p:cNvPr id="11" name="Shape 9"/>
          <p:cNvSpPr/>
          <p:nvPr/>
        </p:nvSpPr>
        <p:spPr>
          <a:xfrm>
            <a:off x="1737360" y="5440680"/>
            <a:ext cx="8686800" cy="10973"/>
          </a:xfrm>
          <a:prstGeom prst="rect">
            <a:avLst/>
          </a:prstGeom>
          <a:solidFill>
            <a:srgbClr val="1E4A3F"/>
          </a:solidFill>
          <a:ln/>
        </p:spPr>
      </p:sp>
      <p:sp>
        <p:nvSpPr>
          <p:cNvPr id="12" name="Text 10"/>
          <p:cNvSpPr txBox="1"/>
          <p:nvPr/>
        </p:nvSpPr>
        <p:spPr>
          <a:xfrm>
            <a:off x="1737360" y="5669280"/>
            <a:ext cx="8686800" cy="201168"/>
          </a:xfrm>
          <a:prstGeom prst="rect">
            <a:avLst/>
          </a:prstGeom>
          <a:noFill/>
          <a:ln/>
        </p:spPr>
        <p:txBody>
          <a:bodyPr wrap="square" lIns="0" tIns="0" rIns="0" bIns="0" rtlCol="0" anchor="ctr"/>
          <a:lstStyle/>
          <a:p>
            <a:pPr algn="ctr" indent="0" marL="0">
              <a:buNone/>
            </a:pPr>
            <a:r>
              <a:rPr lang="en-US" sz="950" b="1" spc="100" kern="0" dirty="0">
                <a:solidFill>
                  <a:srgbClr val="2DD4BF"/>
                </a:solidFill>
                <a:latin typeface="Inter" pitchFamily="34" charset="0"/>
                <a:ea typeface="Inter" pitchFamily="34" charset="-122"/>
                <a:cs typeface="Inter" pitchFamily="34" charset="-120"/>
              </a:rPr>
              <a:t>SOURCE CODE REPOSITORY</a:t>
            </a:r>
            <a:endParaRPr lang="en-US" sz="950" dirty="0"/>
          </a:p>
        </p:txBody>
      </p:sp>
      <p:sp>
        <p:nvSpPr>
          <p:cNvPr id="13" name="Text 11"/>
          <p:cNvSpPr txBox="1"/>
          <p:nvPr/>
        </p:nvSpPr>
        <p:spPr>
          <a:xfrm>
            <a:off x="1737360" y="5870448"/>
            <a:ext cx="8686800" cy="274320"/>
          </a:xfrm>
          <a:prstGeom prst="rect">
            <a:avLst/>
          </a:prstGeom>
          <a:noFill/>
          <a:ln/>
        </p:spPr>
        <p:txBody>
          <a:bodyPr wrap="square" lIns="0" tIns="0" rIns="0" bIns="0" rtlCol="0" anchor="ctr"/>
          <a:lstStyle/>
          <a:p>
            <a:pPr algn="ctr" indent="0" marL="0">
              <a:buNone/>
            </a:pPr>
            <a:r>
              <a:rPr lang="en-US" sz="1100" b="1" dirty="0">
                <a:solidFill>
                  <a:srgbClr val="F8FAF9"/>
                </a:solidFill>
                <a:latin typeface="Inter" pitchFamily="34" charset="0"/>
                <a:ea typeface="Inter" pitchFamily="34" charset="-122"/>
                <a:cs typeface="Inter" pitchFamily="34" charset="-120"/>
              </a:rPr>
              <a:t>github.com/ananyaravikumar548/Infosys_Support-AI-Ticket-Management-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2026-09-19T05:51:12Z</dcterms:created>
  <dcterms:modified xsi:type="dcterms:W3CDTF">2026-09-19T05:51:12Z</dcterms:modified>
</cp:coreProperties>
</file>