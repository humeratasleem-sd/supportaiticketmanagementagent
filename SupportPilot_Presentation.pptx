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Inter"/>
      <p:italic r:id="rId20"/>
    </p:embeddedFont>
    <p:embeddedFont>
      <p:font typeface="Plus Jakarta Sans"/>
      <p:bold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F19"/>
        </a:solidFill>
        <a:effectLst/>
      </p:bgPr>
    </p:bg>
    <p:spTree>
      <p:nvGrpSpPr>
        <p:cNvPr id="1" name=""/>
        <p:cNvGrpSpPr/>
        <p:nvPr/>
      </p:nvGrpSpPr>
      <p:grpSpPr>
        <a:xfrm>
          <a:off x="0" y="0"/>
          <a:ext cx="0" cy="0"/>
          <a:chOff x="0" y="0"/>
          <a:chExt cx="0" cy="0"/>
        </a:xfrm>
      </p:grpSpPr>
      <p:sp>
        <p:nvSpPr>
          <p:cNvPr id="2" name="Rounded Rectangle 1"/>
          <p:cNvSpPr/>
          <p:nvPr/>
        </p:nvSpPr>
        <p:spPr>
          <a:xfrm>
            <a:off x="609600" y="5638651"/>
            <a:ext cx="10972800" cy="762000"/>
          </a:xfrm>
          <a:prstGeom prst="roundRect">
            <a:avLst>
              <a:gd name="adj" fmla="val 15000"/>
            </a:avLst>
          </a:prstGeom>
          <a:solidFill>
            <a:srgbClr val="162A25"/>
          </a:solidFill>
          <a:ln w="9525">
            <a:solidFill>
              <a:srgbClr val="2335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457200"/>
            <a:ext cx="4162425" cy="295275"/>
          </a:xfrm>
          <a:prstGeom prst="roundRect">
            <a:avLst>
              <a:gd name="adj" fmla="val 50000"/>
            </a:avLst>
          </a:prstGeom>
          <a:solidFill>
            <a:srgbClr val="0E312A"/>
          </a:solidFill>
          <a:ln w="9525">
            <a:solidFill>
              <a:srgbClr val="1555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609600" y="2339280"/>
            <a:ext cx="495300" cy="495300"/>
          </a:xfrm>
          <a:prstGeom prst="rect">
            <a:avLst/>
          </a:prstGeom>
        </p:spPr>
      </p:pic>
      <p:pic>
        <p:nvPicPr>
          <p:cNvPr id="6" name="Picture 5" descr="image.png"/>
          <p:cNvPicPr>
            <a:picLocks noChangeAspect="1"/>
          </p:cNvPicPr>
          <p:nvPr/>
        </p:nvPicPr>
        <p:blipFill>
          <a:blip r:embed="rId3"/>
          <a:stretch>
            <a:fillRect/>
          </a:stretch>
        </p:blipFill>
        <p:spPr>
          <a:xfrm>
            <a:off x="733425" y="2463105"/>
            <a:ext cx="247650" cy="247650"/>
          </a:xfrm>
          <a:prstGeom prst="rect">
            <a:avLst/>
          </a:prstGeom>
        </p:spPr>
      </p:pic>
      <p:sp>
        <p:nvSpPr>
          <p:cNvPr id="7" name="TextBox 6"/>
          <p:cNvSpPr txBox="1"/>
          <p:nvPr/>
        </p:nvSpPr>
        <p:spPr>
          <a:xfrm>
            <a:off x="762000" y="514350"/>
            <a:ext cx="3952875" cy="180975"/>
          </a:xfrm>
          <a:prstGeom prst="rect">
            <a:avLst/>
          </a:prstGeom>
          <a:noFill/>
        </p:spPr>
        <p:txBody>
          <a:bodyPr wrap="square" lIns="0" tIns="0" rIns="0" bIns="0" anchor="t">
            <a:spAutoFit/>
          </a:bodyPr>
          <a:lstStyle/>
          <a:p>
            <a:pPr algn="l"/>
            <a:r>
              <a:rPr sz="1050" b="1" i="0" u="none">
                <a:solidFill>
                  <a:srgbClr val="2DD4BF"/>
                </a:solidFill>
                <a:latin typeface="Inter"/>
              </a:rPr>
              <a:t>INFOSYS SPRINGBOARD VIRTUAL INTERNSHIP 7.0</a:t>
            </a:r>
          </a:p>
        </p:txBody>
      </p:sp>
      <p:sp>
        <p:nvSpPr>
          <p:cNvPr id="9" name="TextBox 8"/>
          <p:cNvSpPr txBox="1"/>
          <p:nvPr/>
        </p:nvSpPr>
        <p:spPr>
          <a:xfrm>
            <a:off x="609600" y="3006030"/>
            <a:ext cx="10626328" cy="321915"/>
          </a:xfrm>
          <a:prstGeom prst="rect">
            <a:avLst/>
          </a:prstGeom>
          <a:noFill/>
        </p:spPr>
        <p:txBody>
          <a:bodyPr wrap="none" lIns="0" tIns="0" rIns="0" bIns="0" anchor="t">
            <a:spAutoFit/>
          </a:bodyPr>
          <a:lstStyle/>
          <a:p>
            <a:pPr algn="l">
              <a:lnSpc>
                <a:spcPts val="2535"/>
              </a:lnSpc>
            </a:pPr>
            <a:r>
              <a:rPr sz="1950" b="0" i="0" u="none">
                <a:solidFill>
                  <a:srgbClr val="2DD4BF"/>
                </a:solidFill>
                <a:latin typeface="Plus Jakarta Sans"/>
              </a:rPr>
              <a:t>AI-Powered Customer Support &amp; Ticket Resolution Platform</a:t>
            </a:r>
          </a:p>
        </p:txBody>
      </p:sp>
      <p:sp>
        <p:nvSpPr>
          <p:cNvPr id="10" name="TextBox 9"/>
          <p:cNvSpPr txBox="1"/>
          <p:nvPr/>
        </p:nvSpPr>
        <p:spPr>
          <a:xfrm>
            <a:off x="609600" y="3556545"/>
            <a:ext cx="7239000" cy="514350"/>
          </a:xfrm>
          <a:prstGeom prst="rect">
            <a:avLst/>
          </a:prstGeom>
          <a:noFill/>
        </p:spPr>
        <p:txBody>
          <a:bodyPr wrap="square" lIns="0" tIns="0" rIns="0" bIns="0" anchor="t">
            <a:spAutoFit/>
          </a:bodyPr>
          <a:lstStyle/>
          <a:p>
            <a:pPr algn="l">
              <a:lnSpc>
                <a:spcPts val="2025"/>
              </a:lnSpc>
            </a:pPr>
            <a:r>
              <a:rPr sz="1350" b="0" i="0" u="none">
                <a:solidFill>
                  <a:srgbClr val="94A3B8"/>
                </a:solidFill>
                <a:latin typeface="Inter"/>
              </a:rPr>
              <a:t>Automating ticket intake, RAG knowledge retrieval, confidence-based triage, and enterprise workflow management.</a:t>
            </a:r>
          </a:p>
        </p:txBody>
      </p:sp>
      <p:sp>
        <p:nvSpPr>
          <p:cNvPr id="12" name="TextBox 11"/>
          <p:cNvSpPr txBox="1"/>
          <p:nvPr/>
        </p:nvSpPr>
        <p:spPr>
          <a:xfrm>
            <a:off x="1257300" y="2320230"/>
            <a:ext cx="4275534" cy="533400"/>
          </a:xfrm>
          <a:prstGeom prst="rect">
            <a:avLst/>
          </a:prstGeom>
          <a:noFill/>
        </p:spPr>
        <p:txBody>
          <a:bodyPr wrap="none" lIns="0" tIns="0" rIns="0" bIns="0" anchor="t">
            <a:spAutoFit/>
          </a:bodyPr>
          <a:lstStyle/>
          <a:p>
            <a:pPr algn="l">
              <a:lnSpc>
                <a:spcPts val="4200"/>
              </a:lnSpc>
            </a:pPr>
            <a:r>
              <a:rPr sz="4200" b="1" i="0" u="none">
                <a:solidFill>
                  <a:srgbClr val="FFFFFF"/>
                </a:solidFill>
                <a:latin typeface="Plus Jakarta Sans"/>
              </a:rPr>
              <a:t>SupportPilot</a:t>
            </a:r>
          </a:p>
        </p:txBody>
      </p:sp>
      <p:sp>
        <p:nvSpPr>
          <p:cNvPr id="13" name="TextBox 12"/>
          <p:cNvSpPr txBox="1"/>
          <p:nvPr/>
        </p:nvSpPr>
        <p:spPr>
          <a:xfrm>
            <a:off x="885825" y="5838676"/>
            <a:ext cx="2012156" cy="142875"/>
          </a:xfrm>
          <a:prstGeom prst="rect">
            <a:avLst/>
          </a:prstGeom>
          <a:noFill/>
        </p:spPr>
        <p:txBody>
          <a:bodyPr wrap="none" lIns="0" tIns="0" rIns="0" bIns="0" anchor="t">
            <a:spAutoFit/>
          </a:bodyPr>
          <a:lstStyle/>
          <a:p>
            <a:pPr algn="l"/>
            <a:r>
              <a:rPr sz="900" b="1" i="0" u="none">
                <a:solidFill>
                  <a:srgbClr val="2DD4BF"/>
                </a:solidFill>
                <a:latin typeface="Inter"/>
              </a:rPr>
              <a:t>LIVE DEPLOYMENT</a:t>
            </a:r>
          </a:p>
        </p:txBody>
      </p:sp>
      <p:sp>
        <p:nvSpPr>
          <p:cNvPr id="14" name="TextBox 13"/>
          <p:cNvSpPr txBox="1"/>
          <p:nvPr/>
        </p:nvSpPr>
        <p:spPr>
          <a:xfrm>
            <a:off x="885825" y="6019651"/>
            <a:ext cx="2012156" cy="180975"/>
          </a:xfrm>
          <a:prstGeom prst="rect">
            <a:avLst/>
          </a:prstGeom>
          <a:noFill/>
        </p:spPr>
        <p:txBody>
          <a:bodyPr wrap="none" lIns="0" tIns="0" rIns="0" bIns="0" anchor="t">
            <a:spAutoFit/>
          </a:bodyPr>
          <a:lstStyle/>
          <a:p>
            <a:pPr algn="l"/>
            <a:r>
              <a:rPr sz="1125" b="1" i="0" u="none">
                <a:solidFill>
                  <a:srgbClr val="F8FAFC"/>
                </a:solidFill>
                <a:latin typeface="Inter"/>
              </a:rPr>
              <a:t>sitm-deploy.vercel.app</a:t>
            </a:r>
          </a:p>
        </p:txBody>
      </p:sp>
      <p:sp>
        <p:nvSpPr>
          <p:cNvPr id="15" name="TextBox 14"/>
          <p:cNvSpPr txBox="1"/>
          <p:nvPr/>
        </p:nvSpPr>
        <p:spPr>
          <a:xfrm>
            <a:off x="2800350" y="5838676"/>
            <a:ext cx="6572250" cy="142875"/>
          </a:xfrm>
          <a:prstGeom prst="rect">
            <a:avLst/>
          </a:prstGeom>
          <a:noFill/>
        </p:spPr>
        <p:txBody>
          <a:bodyPr wrap="none" lIns="0" tIns="0" rIns="0" bIns="0" anchor="t">
            <a:spAutoFit/>
          </a:bodyPr>
          <a:lstStyle/>
          <a:p>
            <a:pPr algn="l"/>
            <a:r>
              <a:rPr sz="900" b="1" i="0" u="none">
                <a:solidFill>
                  <a:srgbClr val="2DD4BF"/>
                </a:solidFill>
                <a:latin typeface="Inter"/>
              </a:rPr>
              <a:t>SOURCE REPOSITORY</a:t>
            </a:r>
          </a:p>
        </p:txBody>
      </p:sp>
      <p:sp>
        <p:nvSpPr>
          <p:cNvPr id="16" name="TextBox 15"/>
          <p:cNvSpPr txBox="1"/>
          <p:nvPr/>
        </p:nvSpPr>
        <p:spPr>
          <a:xfrm>
            <a:off x="2800350" y="6019651"/>
            <a:ext cx="6572250" cy="180975"/>
          </a:xfrm>
          <a:prstGeom prst="rect">
            <a:avLst/>
          </a:prstGeom>
          <a:noFill/>
        </p:spPr>
        <p:txBody>
          <a:bodyPr wrap="none" lIns="0" tIns="0" rIns="0" bIns="0" anchor="t">
            <a:spAutoFit/>
          </a:bodyPr>
          <a:lstStyle/>
          <a:p>
            <a:pPr algn="l"/>
            <a:r>
              <a:rPr sz="1125" b="1" i="0" u="none">
                <a:solidFill>
                  <a:srgbClr val="F8FAFC"/>
                </a:solidFill>
                <a:latin typeface="Inter"/>
              </a:rPr>
              <a:t>github.com/ananyaravikumar548/Infosys_Support-AI-Ticket-Management-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9"/>
        </a:solidFill>
        <a:effectLst/>
      </p:bgPr>
    </p:bg>
    <p:spTree>
      <p:nvGrpSpPr>
        <p:cNvPr id="1" name=""/>
        <p:cNvGrpSpPr/>
        <p:nvPr/>
      </p:nvGrpSpPr>
      <p:grpSpPr>
        <a:xfrm>
          <a:off x="0" y="0"/>
          <a:ext cx="0" cy="0"/>
          <a:chOff x="0" y="0"/>
          <a:chExt cx="0" cy="0"/>
        </a:xfrm>
      </p:grpSpPr>
      <p:sp>
        <p:nvSpPr>
          <p:cNvPr id="2" name="Rounded Rectangle 1"/>
          <p:cNvSpPr/>
          <p:nvPr/>
        </p:nvSpPr>
        <p:spPr>
          <a:xfrm>
            <a:off x="457200" y="1628179"/>
            <a:ext cx="11277600" cy="1562100"/>
          </a:xfrm>
          <a:prstGeom prst="roundRect">
            <a:avLst>
              <a:gd name="adj" fmla="val 487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180754"/>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628179"/>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628179"/>
            <a:ext cx="47625" cy="1562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725275" y="1628179"/>
            <a:ext cx="9525" cy="15621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3418879"/>
            <a:ext cx="3632150" cy="2601515"/>
          </a:xfrm>
          <a:prstGeom prst="roundRect">
            <a:avLst>
              <a:gd name="adj" fmla="val 29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79850" y="3418879"/>
            <a:ext cx="3632150" cy="2601515"/>
          </a:xfrm>
          <a:prstGeom prst="roundRect">
            <a:avLst>
              <a:gd name="adj" fmla="val 29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102500" y="3418879"/>
            <a:ext cx="3632150" cy="2601515"/>
          </a:xfrm>
          <a:prstGeom prst="roundRect">
            <a:avLst>
              <a:gd name="adj" fmla="val 29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695325" y="3676054"/>
            <a:ext cx="285750" cy="228600"/>
          </a:xfrm>
          <a:prstGeom prst="rect">
            <a:avLst/>
          </a:prstGeom>
        </p:spPr>
      </p:pic>
      <p:pic>
        <p:nvPicPr>
          <p:cNvPr id="11" name="Picture 10" descr="image.png"/>
          <p:cNvPicPr>
            <a:picLocks noChangeAspect="1"/>
          </p:cNvPicPr>
          <p:nvPr/>
        </p:nvPicPr>
        <p:blipFill>
          <a:blip r:embed="rId3"/>
          <a:stretch>
            <a:fillRect/>
          </a:stretch>
        </p:blipFill>
        <p:spPr>
          <a:xfrm>
            <a:off x="4517975" y="3676054"/>
            <a:ext cx="200025" cy="228600"/>
          </a:xfrm>
          <a:prstGeom prst="rect">
            <a:avLst/>
          </a:prstGeom>
        </p:spPr>
      </p:pic>
      <p:pic>
        <p:nvPicPr>
          <p:cNvPr id="12" name="Picture 11" descr="image.png"/>
          <p:cNvPicPr>
            <a:picLocks noChangeAspect="1"/>
          </p:cNvPicPr>
          <p:nvPr/>
        </p:nvPicPr>
        <p:blipFill>
          <a:blip r:embed="rId4"/>
          <a:stretch>
            <a:fillRect/>
          </a:stretch>
        </p:blipFill>
        <p:spPr>
          <a:xfrm>
            <a:off x="8340625" y="3676054"/>
            <a:ext cx="228600" cy="228600"/>
          </a:xfrm>
          <a:prstGeom prst="rect">
            <a:avLst/>
          </a:prstGeom>
        </p:spPr>
      </p:pic>
      <p:sp>
        <p:nvSpPr>
          <p:cNvPr id="13" name="TextBox 12"/>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EXECUTIVE OVERVIEW</a:t>
            </a:r>
          </a:p>
        </p:txBody>
      </p:sp>
      <p:sp>
        <p:nvSpPr>
          <p:cNvPr id="14" name="TextBox 13"/>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Introduction to SupportPilot</a:t>
            </a:r>
          </a:p>
        </p:txBody>
      </p:sp>
      <p:sp>
        <p:nvSpPr>
          <p:cNvPr id="15" name="TextBox 14"/>
          <p:cNvSpPr txBox="1"/>
          <p:nvPr/>
        </p:nvSpPr>
        <p:spPr>
          <a:xfrm>
            <a:off x="733425" y="1866304"/>
            <a:ext cx="11458575" cy="238125"/>
          </a:xfrm>
          <a:prstGeom prst="rect">
            <a:avLst/>
          </a:prstGeom>
          <a:noFill/>
        </p:spPr>
        <p:txBody>
          <a:bodyPr wrap="none" lIns="0" tIns="0" rIns="0" bIns="0" anchor="t">
            <a:spAutoFit/>
          </a:bodyPr>
          <a:lstStyle/>
          <a:p>
            <a:pPr algn="l"/>
            <a:r>
              <a:rPr sz="1500" b="1" i="0" u="none">
                <a:solidFill>
                  <a:srgbClr val="0F2922"/>
                </a:solidFill>
                <a:latin typeface="Plus Jakarta Sans"/>
              </a:rPr>
              <a:t>Platform Purpose</a:t>
            </a:r>
          </a:p>
        </p:txBody>
      </p:sp>
      <p:sp>
        <p:nvSpPr>
          <p:cNvPr id="16" name="TextBox 15"/>
          <p:cNvSpPr txBox="1"/>
          <p:nvPr/>
        </p:nvSpPr>
        <p:spPr>
          <a:xfrm>
            <a:off x="733425" y="2180629"/>
            <a:ext cx="10858500" cy="771525"/>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SupportPilot is an enterprise-grade AI customer support platform engineered to automate ticket intake, intelligent triage, vector knowledge retrieval (RAG), and confidence-gated human escalation. Built for high-volume enterprise environments, it unifies customer interaction, agent resolution workflows, and executive analytics.</a:t>
            </a:r>
          </a:p>
        </p:txBody>
      </p:sp>
      <p:sp>
        <p:nvSpPr>
          <p:cNvPr id="17" name="TextBox 16"/>
          <p:cNvSpPr txBox="1"/>
          <p:nvPr/>
        </p:nvSpPr>
        <p:spPr>
          <a:xfrm>
            <a:off x="695325" y="4047529"/>
            <a:ext cx="4142119" cy="219075"/>
          </a:xfrm>
          <a:prstGeom prst="rect">
            <a:avLst/>
          </a:prstGeom>
          <a:noFill/>
        </p:spPr>
        <p:txBody>
          <a:bodyPr wrap="none" lIns="0" tIns="0" rIns="0" bIns="0" anchor="t">
            <a:spAutoFit/>
          </a:bodyPr>
          <a:lstStyle/>
          <a:p>
            <a:pPr algn="l"/>
            <a:r>
              <a:rPr sz="1350" b="1" i="0" u="none">
                <a:solidFill>
                  <a:srgbClr val="0F2922"/>
                </a:solidFill>
                <a:latin typeface="Plus Jakarta Sans"/>
              </a:rPr>
              <a:t>Multi-Persona Ecosystem</a:t>
            </a:r>
          </a:p>
        </p:txBody>
      </p:sp>
      <p:sp>
        <p:nvSpPr>
          <p:cNvPr id="18" name="TextBox 17"/>
          <p:cNvSpPr txBox="1"/>
          <p:nvPr/>
        </p:nvSpPr>
        <p:spPr>
          <a:xfrm>
            <a:off x="695325" y="4342804"/>
            <a:ext cx="3251150" cy="1439465"/>
          </a:xfrm>
          <a:prstGeom prst="rect">
            <a:avLst/>
          </a:prstGeom>
          <a:noFill/>
        </p:spPr>
        <p:txBody>
          <a:bodyPr wrap="square" lIns="0" tIns="0" rIns="0" bIns="0" anchor="t">
            <a:spAutoFit/>
          </a:bodyPr>
          <a:lstStyle/>
          <a:p>
            <a:pPr algn="l">
              <a:lnSpc>
                <a:spcPts val="1889"/>
              </a:lnSpc>
            </a:pPr>
            <a:r>
              <a:rPr sz="1350" b="0" i="0" u="none">
                <a:solidFill>
                  <a:srgbClr val="475569"/>
                </a:solidFill>
                <a:latin typeface="Inter"/>
              </a:rPr>
              <a:t>Customized portals for </a:t>
            </a:r>
            <a:r>
              <a:rPr sz="1350" b="1" i="0" u="none">
                <a:solidFill>
                  <a:srgbClr val="475569"/>
                </a:solidFill>
                <a:latin typeface="Inter"/>
              </a:rPr>
              <a:t>Customers</a:t>
            </a:r>
            <a:r>
              <a:rPr sz="1350" b="0" i="0" u="none">
                <a:solidFill>
                  <a:srgbClr val="475569"/>
                </a:solidFill>
                <a:latin typeface="Inter"/>
              </a:rPr>
              <a:t> (intake &amp; tracking), </a:t>
            </a:r>
            <a:r>
              <a:rPr sz="1350" b="1" i="0" u="none">
                <a:solidFill>
                  <a:srgbClr val="475569"/>
                </a:solidFill>
                <a:latin typeface="Inter"/>
              </a:rPr>
              <a:t>Agents</a:t>
            </a:r>
            <a:r>
              <a:rPr sz="1350" b="0" i="0" u="none">
                <a:solidFill>
                  <a:srgbClr val="475569"/>
                </a:solidFill>
                <a:latin typeface="Inter"/>
              </a:rPr>
              <a:t> (AI-assisted workspace), </a:t>
            </a:r>
            <a:r>
              <a:rPr sz="1350" b="1" i="0" u="none">
                <a:solidFill>
                  <a:srgbClr val="475569"/>
                </a:solidFill>
                <a:latin typeface="Inter"/>
              </a:rPr>
              <a:t>Managers</a:t>
            </a:r>
            <a:r>
              <a:rPr sz="1350" b="0" i="0" u="none">
                <a:solidFill>
                  <a:srgbClr val="475569"/>
                </a:solidFill>
                <a:latin typeface="Inter"/>
              </a:rPr>
              <a:t> (workload &amp; SLA queue), and </a:t>
            </a:r>
            <a:r>
              <a:rPr sz="1350" b="1" i="0" u="none">
                <a:solidFill>
                  <a:srgbClr val="475569"/>
                </a:solidFill>
                <a:latin typeface="Inter"/>
              </a:rPr>
              <a:t>Admins</a:t>
            </a:r>
            <a:r>
              <a:rPr sz="1350" b="0" i="0" u="none">
                <a:solidFill>
                  <a:srgbClr val="475569"/>
                </a:solidFill>
                <a:latin typeface="Inter"/>
              </a:rPr>
              <a:t> (AI confidence thresholds &amp; user RBAC).</a:t>
            </a:r>
          </a:p>
        </p:txBody>
      </p:sp>
      <p:sp>
        <p:nvSpPr>
          <p:cNvPr id="19" name="TextBox 18"/>
          <p:cNvSpPr txBox="1"/>
          <p:nvPr/>
        </p:nvSpPr>
        <p:spPr>
          <a:xfrm>
            <a:off x="4517975" y="4047529"/>
            <a:ext cx="4142119" cy="219075"/>
          </a:xfrm>
          <a:prstGeom prst="rect">
            <a:avLst/>
          </a:prstGeom>
          <a:noFill/>
        </p:spPr>
        <p:txBody>
          <a:bodyPr wrap="none" lIns="0" tIns="0" rIns="0" bIns="0" anchor="t">
            <a:spAutoFit/>
          </a:bodyPr>
          <a:lstStyle/>
          <a:p>
            <a:pPr algn="l"/>
            <a:r>
              <a:rPr sz="1350" b="1" i="0" u="none">
                <a:solidFill>
                  <a:srgbClr val="0F2922"/>
                </a:solidFill>
                <a:latin typeface="Plus Jakarta Sans"/>
              </a:rPr>
              <a:t>Lifecycle Automation</a:t>
            </a:r>
          </a:p>
        </p:txBody>
      </p:sp>
      <p:sp>
        <p:nvSpPr>
          <p:cNvPr id="20" name="TextBox 19"/>
          <p:cNvSpPr txBox="1"/>
          <p:nvPr/>
        </p:nvSpPr>
        <p:spPr>
          <a:xfrm>
            <a:off x="4517975" y="4342804"/>
            <a:ext cx="3251150" cy="1199554"/>
          </a:xfrm>
          <a:prstGeom prst="rect">
            <a:avLst/>
          </a:prstGeom>
          <a:noFill/>
        </p:spPr>
        <p:txBody>
          <a:bodyPr wrap="square" lIns="0" tIns="0" rIns="0" bIns="0" anchor="t">
            <a:spAutoFit/>
          </a:bodyPr>
          <a:lstStyle/>
          <a:p>
            <a:pPr algn="l">
              <a:lnSpc>
                <a:spcPts val="1889"/>
              </a:lnSpc>
            </a:pPr>
            <a:r>
              <a:rPr sz="1350" b="0" i="0" u="none">
                <a:solidFill>
                  <a:srgbClr val="475569"/>
                </a:solidFill>
                <a:latin typeface="Inter"/>
              </a:rPr>
              <a:t>End-to-end automation from intent detection, sentiment analysis, RAG document search, auto-drafting, SLA tracking, to seamless Jira issue syncing.</a:t>
            </a:r>
          </a:p>
        </p:txBody>
      </p:sp>
      <p:sp>
        <p:nvSpPr>
          <p:cNvPr id="21" name="TextBox 20"/>
          <p:cNvSpPr txBox="1"/>
          <p:nvPr/>
        </p:nvSpPr>
        <p:spPr>
          <a:xfrm>
            <a:off x="8340625" y="4047529"/>
            <a:ext cx="3851374" cy="219075"/>
          </a:xfrm>
          <a:prstGeom prst="rect">
            <a:avLst/>
          </a:prstGeom>
          <a:noFill/>
        </p:spPr>
        <p:txBody>
          <a:bodyPr wrap="none" lIns="0" tIns="0" rIns="0" bIns="0" anchor="t">
            <a:spAutoFit/>
          </a:bodyPr>
          <a:lstStyle/>
          <a:p>
            <a:pPr algn="l"/>
            <a:r>
              <a:rPr sz="1350" b="1" i="0" u="none">
                <a:solidFill>
                  <a:srgbClr val="0F2922"/>
                </a:solidFill>
                <a:latin typeface="Plus Jakarta Sans"/>
              </a:rPr>
              <a:t>Core Objective</a:t>
            </a:r>
          </a:p>
        </p:txBody>
      </p:sp>
      <p:sp>
        <p:nvSpPr>
          <p:cNvPr id="22" name="TextBox 21"/>
          <p:cNvSpPr txBox="1"/>
          <p:nvPr/>
        </p:nvSpPr>
        <p:spPr>
          <a:xfrm>
            <a:off x="8340625" y="4342804"/>
            <a:ext cx="3251150" cy="1199554"/>
          </a:xfrm>
          <a:prstGeom prst="rect">
            <a:avLst/>
          </a:prstGeom>
          <a:noFill/>
        </p:spPr>
        <p:txBody>
          <a:bodyPr wrap="square" lIns="0" tIns="0" rIns="0" bIns="0" anchor="t">
            <a:spAutoFit/>
          </a:bodyPr>
          <a:lstStyle/>
          <a:p>
            <a:pPr algn="l">
              <a:lnSpc>
                <a:spcPts val="1889"/>
              </a:lnSpc>
            </a:pPr>
            <a:r>
              <a:rPr sz="1350" b="0" i="0" u="none">
                <a:solidFill>
                  <a:srgbClr val="475569"/>
                </a:solidFill>
                <a:latin typeface="Inter"/>
              </a:rPr>
              <a:t>Slashing Mean Time to Resolution (MTTR) by up to 75%, eliminating agent burnout on repetitive L1 tickets, and providing 100% SLA tracking visibility.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2166937"/>
            <a:ext cx="3657600" cy="1562100"/>
          </a:xfrm>
          <a:prstGeom prst="roundRect">
            <a:avLst>
              <a:gd name="adj" fmla="val 4878"/>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267200" y="2166937"/>
            <a:ext cx="3657600" cy="1562100"/>
          </a:xfrm>
          <a:prstGeom prst="roundRect">
            <a:avLst>
              <a:gd name="adj" fmla="val 4878"/>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166937"/>
            <a:ext cx="3657600" cy="1562100"/>
          </a:xfrm>
          <a:prstGeom prst="roundRect">
            <a:avLst>
              <a:gd name="adj" fmla="val 4878"/>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3881437"/>
            <a:ext cx="3657600" cy="1562100"/>
          </a:xfrm>
          <a:prstGeom prst="roundRect">
            <a:avLst>
              <a:gd name="adj" fmla="val 4878"/>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267200" y="3881437"/>
            <a:ext cx="3657600" cy="1562100"/>
          </a:xfrm>
          <a:prstGeom prst="roundRect">
            <a:avLst>
              <a:gd name="adj" fmla="val 4878"/>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077200" y="3881437"/>
            <a:ext cx="3657600" cy="1562100"/>
          </a:xfrm>
          <a:prstGeom prst="roundRect">
            <a:avLst>
              <a:gd name="adj" fmla="val 4878"/>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657225" y="2381250"/>
            <a:ext cx="219075" cy="190500"/>
          </a:xfrm>
          <a:prstGeom prst="rect">
            <a:avLst/>
          </a:prstGeom>
        </p:spPr>
      </p:pic>
      <p:pic>
        <p:nvPicPr>
          <p:cNvPr id="9" name="Picture 8" descr="image.png"/>
          <p:cNvPicPr>
            <a:picLocks noChangeAspect="1"/>
          </p:cNvPicPr>
          <p:nvPr/>
        </p:nvPicPr>
        <p:blipFill>
          <a:blip r:embed="rId3"/>
          <a:stretch>
            <a:fillRect/>
          </a:stretch>
        </p:blipFill>
        <p:spPr>
          <a:xfrm>
            <a:off x="4467225" y="2381250"/>
            <a:ext cx="190500" cy="190500"/>
          </a:xfrm>
          <a:prstGeom prst="rect">
            <a:avLst/>
          </a:prstGeom>
        </p:spPr>
      </p:pic>
      <p:pic>
        <p:nvPicPr>
          <p:cNvPr id="10" name="Picture 9" descr="image.png"/>
          <p:cNvPicPr>
            <a:picLocks noChangeAspect="1"/>
          </p:cNvPicPr>
          <p:nvPr/>
        </p:nvPicPr>
        <p:blipFill>
          <a:blip r:embed="rId4"/>
          <a:stretch>
            <a:fillRect/>
          </a:stretch>
        </p:blipFill>
        <p:spPr>
          <a:xfrm>
            <a:off x="8277225" y="2381250"/>
            <a:ext cx="190500" cy="190500"/>
          </a:xfrm>
          <a:prstGeom prst="rect">
            <a:avLst/>
          </a:prstGeom>
        </p:spPr>
      </p:pic>
      <p:pic>
        <p:nvPicPr>
          <p:cNvPr id="11" name="Picture 10" descr="image.png"/>
          <p:cNvPicPr>
            <a:picLocks noChangeAspect="1"/>
          </p:cNvPicPr>
          <p:nvPr/>
        </p:nvPicPr>
        <p:blipFill>
          <a:blip r:embed="rId5"/>
          <a:stretch>
            <a:fillRect/>
          </a:stretch>
        </p:blipFill>
        <p:spPr>
          <a:xfrm>
            <a:off x="657225" y="4095750"/>
            <a:ext cx="142875" cy="190500"/>
          </a:xfrm>
          <a:prstGeom prst="rect">
            <a:avLst/>
          </a:prstGeom>
        </p:spPr>
      </p:pic>
      <p:pic>
        <p:nvPicPr>
          <p:cNvPr id="12" name="Picture 11" descr="image.png"/>
          <p:cNvPicPr>
            <a:picLocks noChangeAspect="1"/>
          </p:cNvPicPr>
          <p:nvPr/>
        </p:nvPicPr>
        <p:blipFill>
          <a:blip r:embed="rId6"/>
          <a:stretch>
            <a:fillRect/>
          </a:stretch>
        </p:blipFill>
        <p:spPr>
          <a:xfrm>
            <a:off x="4467225" y="4095750"/>
            <a:ext cx="190500" cy="190500"/>
          </a:xfrm>
          <a:prstGeom prst="rect">
            <a:avLst/>
          </a:prstGeom>
        </p:spPr>
      </p:pic>
      <p:pic>
        <p:nvPicPr>
          <p:cNvPr id="13" name="Picture 12" descr="image.png"/>
          <p:cNvPicPr>
            <a:picLocks noChangeAspect="1"/>
          </p:cNvPicPr>
          <p:nvPr/>
        </p:nvPicPr>
        <p:blipFill>
          <a:blip r:embed="rId7"/>
          <a:stretch>
            <a:fillRect/>
          </a:stretch>
        </p:blipFill>
        <p:spPr>
          <a:xfrm>
            <a:off x="8277225" y="4095750"/>
            <a:ext cx="190500" cy="190500"/>
          </a:xfrm>
          <a:prstGeom prst="rect">
            <a:avLst/>
          </a:prstGeom>
        </p:spPr>
      </p:pic>
      <p:sp>
        <p:nvSpPr>
          <p:cNvPr id="14" name="TextBox 13"/>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INDUSTRY BOTTLENECKS</a:t>
            </a:r>
          </a:p>
        </p:txBody>
      </p:sp>
      <p:sp>
        <p:nvSpPr>
          <p:cNvPr id="15" name="TextBox 14"/>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Practical Challenges in Traditional Support</a:t>
            </a:r>
          </a:p>
        </p:txBody>
      </p:sp>
      <p:sp>
        <p:nvSpPr>
          <p:cNvPr id="16" name="TextBox 15"/>
          <p:cNvSpPr txBox="1"/>
          <p:nvPr/>
        </p:nvSpPr>
        <p:spPr>
          <a:xfrm>
            <a:off x="657225" y="2662237"/>
            <a:ext cx="3352800" cy="600075"/>
          </a:xfrm>
          <a:prstGeom prst="rect">
            <a:avLst/>
          </a:prstGeom>
          <a:noFill/>
        </p:spPr>
        <p:txBody>
          <a:bodyPr wrap="square" lIns="0" tIns="0" rIns="0" bIns="0" anchor="t">
            <a:spAutoFit/>
          </a:bodyPr>
          <a:lstStyle/>
          <a:p>
            <a:pPr algn="l"/>
            <a:r>
              <a:rPr sz="1350" b="0" i="0" u="none">
                <a:solidFill>
                  <a:srgbClr val="475569"/>
                </a:solidFill>
                <a:latin typeface="Inter"/>
              </a:rPr>
              <a:t>Unfiltered inbound queues cause severe backlog build-up during peak operational hours.</a:t>
            </a:r>
          </a:p>
        </p:txBody>
      </p:sp>
      <p:sp>
        <p:nvSpPr>
          <p:cNvPr id="17" name="TextBox 16"/>
          <p:cNvSpPr txBox="1"/>
          <p:nvPr/>
        </p:nvSpPr>
        <p:spPr>
          <a:xfrm>
            <a:off x="657225" y="3357562"/>
            <a:ext cx="2476500" cy="161925"/>
          </a:xfrm>
          <a:prstGeom prst="rect">
            <a:avLst/>
          </a:prstGeom>
          <a:noFill/>
        </p:spPr>
        <p:txBody>
          <a:bodyPr wrap="none" lIns="0" tIns="0" rIns="0" bIns="0" anchor="t">
            <a:spAutoFit/>
          </a:bodyPr>
          <a:lstStyle/>
          <a:p>
            <a:pPr algn="l"/>
            <a:r>
              <a:rPr sz="1050" b="1" i="0" u="none">
                <a:solidFill>
                  <a:srgbClr val="DC2626"/>
                </a:solidFill>
                <a:latin typeface="Inter"/>
              </a:rPr>
              <a:t>• Average 48h response delay</a:t>
            </a:r>
          </a:p>
        </p:txBody>
      </p:sp>
      <p:sp>
        <p:nvSpPr>
          <p:cNvPr id="18" name="TextBox 17"/>
          <p:cNvSpPr txBox="1"/>
          <p:nvPr/>
        </p:nvSpPr>
        <p:spPr>
          <a:xfrm>
            <a:off x="4467225" y="2662237"/>
            <a:ext cx="3352800" cy="600075"/>
          </a:xfrm>
          <a:prstGeom prst="rect">
            <a:avLst/>
          </a:prstGeom>
          <a:noFill/>
        </p:spPr>
        <p:txBody>
          <a:bodyPr wrap="square" lIns="0" tIns="0" rIns="0" bIns="0" anchor="t">
            <a:spAutoFit/>
          </a:bodyPr>
          <a:lstStyle/>
          <a:p>
            <a:pPr algn="l"/>
            <a:r>
              <a:rPr sz="1350" b="0" i="0" u="none">
                <a:solidFill>
                  <a:srgbClr val="475569"/>
                </a:solidFill>
                <a:latin typeface="Inter"/>
              </a:rPr>
              <a:t>Agents spend over 60% of their workday typing identical answers to standard L1 queries.</a:t>
            </a:r>
          </a:p>
        </p:txBody>
      </p:sp>
      <p:sp>
        <p:nvSpPr>
          <p:cNvPr id="19" name="TextBox 18"/>
          <p:cNvSpPr txBox="1"/>
          <p:nvPr/>
        </p:nvSpPr>
        <p:spPr>
          <a:xfrm>
            <a:off x="4467225" y="3357562"/>
            <a:ext cx="2357437" cy="161925"/>
          </a:xfrm>
          <a:prstGeom prst="rect">
            <a:avLst/>
          </a:prstGeom>
          <a:noFill/>
        </p:spPr>
        <p:txBody>
          <a:bodyPr wrap="none" lIns="0" tIns="0" rIns="0" bIns="0" anchor="t">
            <a:spAutoFit/>
          </a:bodyPr>
          <a:lstStyle/>
          <a:p>
            <a:pPr algn="l"/>
            <a:r>
              <a:rPr sz="1050" b="1" i="0" u="none">
                <a:solidFill>
                  <a:srgbClr val="DC2626"/>
                </a:solidFill>
                <a:latin typeface="Inter"/>
              </a:rPr>
              <a:t>• Wasted operational budget</a:t>
            </a:r>
          </a:p>
        </p:txBody>
      </p:sp>
      <p:sp>
        <p:nvSpPr>
          <p:cNvPr id="20" name="TextBox 19"/>
          <p:cNvSpPr txBox="1"/>
          <p:nvPr/>
        </p:nvSpPr>
        <p:spPr>
          <a:xfrm>
            <a:off x="8277225" y="2662237"/>
            <a:ext cx="3352800" cy="600075"/>
          </a:xfrm>
          <a:prstGeom prst="rect">
            <a:avLst/>
          </a:prstGeom>
          <a:noFill/>
        </p:spPr>
        <p:txBody>
          <a:bodyPr wrap="square" lIns="0" tIns="0" rIns="0" bIns="0" anchor="t">
            <a:spAutoFit/>
          </a:bodyPr>
          <a:lstStyle/>
          <a:p>
            <a:pPr algn="l"/>
            <a:r>
              <a:rPr sz="1350" b="0" i="0" u="none">
                <a:solidFill>
                  <a:srgbClr val="475569"/>
                </a:solidFill>
                <a:latin typeface="Inter"/>
              </a:rPr>
              <a:t>Human categorization errors lead to incorrect queue routing and ping-pong reassignment.</a:t>
            </a:r>
          </a:p>
        </p:txBody>
      </p:sp>
      <p:sp>
        <p:nvSpPr>
          <p:cNvPr id="21" name="TextBox 20"/>
          <p:cNvSpPr txBox="1"/>
          <p:nvPr/>
        </p:nvSpPr>
        <p:spPr>
          <a:xfrm>
            <a:off x="8277225" y="3357562"/>
            <a:ext cx="1833562" cy="161925"/>
          </a:xfrm>
          <a:prstGeom prst="rect">
            <a:avLst/>
          </a:prstGeom>
          <a:noFill/>
        </p:spPr>
        <p:txBody>
          <a:bodyPr wrap="none" lIns="0" tIns="0" rIns="0" bIns="0" anchor="t">
            <a:spAutoFit/>
          </a:bodyPr>
          <a:lstStyle/>
          <a:p>
            <a:pPr algn="l"/>
            <a:r>
              <a:rPr sz="1050" b="1" i="0" u="none">
                <a:solidFill>
                  <a:srgbClr val="DC2626"/>
                </a:solidFill>
                <a:latin typeface="Inter"/>
              </a:rPr>
              <a:t>• 25% misrouting rate</a:t>
            </a:r>
          </a:p>
        </p:txBody>
      </p:sp>
      <p:sp>
        <p:nvSpPr>
          <p:cNvPr id="22" name="TextBox 21"/>
          <p:cNvSpPr txBox="1"/>
          <p:nvPr/>
        </p:nvSpPr>
        <p:spPr>
          <a:xfrm>
            <a:off x="657225" y="4376737"/>
            <a:ext cx="3352800" cy="400050"/>
          </a:xfrm>
          <a:prstGeom prst="rect">
            <a:avLst/>
          </a:prstGeom>
          <a:noFill/>
        </p:spPr>
        <p:txBody>
          <a:bodyPr wrap="square" lIns="0" tIns="0" rIns="0" bIns="0" anchor="t">
            <a:spAutoFit/>
          </a:bodyPr>
          <a:lstStyle/>
          <a:p>
            <a:pPr algn="l"/>
            <a:r>
              <a:rPr sz="1350" b="0" i="0" u="none">
                <a:solidFill>
                  <a:srgbClr val="475569"/>
                </a:solidFill>
                <a:latin typeface="Inter"/>
              </a:rPr>
              <a:t>Critical production outages get buried under minor general inquiry tickets.</a:t>
            </a:r>
          </a:p>
        </p:txBody>
      </p:sp>
      <p:sp>
        <p:nvSpPr>
          <p:cNvPr id="23" name="TextBox 22"/>
          <p:cNvSpPr txBox="1"/>
          <p:nvPr/>
        </p:nvSpPr>
        <p:spPr>
          <a:xfrm>
            <a:off x="657225" y="4872037"/>
            <a:ext cx="2238375" cy="161925"/>
          </a:xfrm>
          <a:prstGeom prst="rect">
            <a:avLst/>
          </a:prstGeom>
          <a:noFill/>
        </p:spPr>
        <p:txBody>
          <a:bodyPr wrap="none" lIns="0" tIns="0" rIns="0" bIns="0" anchor="t">
            <a:spAutoFit/>
          </a:bodyPr>
          <a:lstStyle/>
          <a:p>
            <a:pPr algn="l"/>
            <a:r>
              <a:rPr sz="1050" b="1" i="0" u="none">
                <a:solidFill>
                  <a:srgbClr val="DC2626"/>
                </a:solidFill>
                <a:latin typeface="Inter"/>
              </a:rPr>
              <a:t>• High customer churn risk</a:t>
            </a:r>
          </a:p>
        </p:txBody>
      </p:sp>
      <p:sp>
        <p:nvSpPr>
          <p:cNvPr id="24" name="TextBox 23"/>
          <p:cNvSpPr txBox="1"/>
          <p:nvPr/>
        </p:nvSpPr>
        <p:spPr>
          <a:xfrm>
            <a:off x="4467225" y="4376737"/>
            <a:ext cx="3352800" cy="600075"/>
          </a:xfrm>
          <a:prstGeom prst="rect">
            <a:avLst/>
          </a:prstGeom>
          <a:noFill/>
        </p:spPr>
        <p:txBody>
          <a:bodyPr wrap="square" lIns="0" tIns="0" rIns="0" bIns="0" anchor="t">
            <a:spAutoFit/>
          </a:bodyPr>
          <a:lstStyle/>
          <a:p>
            <a:pPr algn="l"/>
            <a:r>
              <a:rPr sz="1350" b="0" i="0" u="none">
                <a:solidFill>
                  <a:srgbClr val="475569"/>
                </a:solidFill>
                <a:latin typeface="Inter"/>
              </a:rPr>
              <a:t>Agents context-switch across disconnected Google Docs, PDFs, and internal wikis.</a:t>
            </a:r>
          </a:p>
        </p:txBody>
      </p:sp>
      <p:sp>
        <p:nvSpPr>
          <p:cNvPr id="25" name="TextBox 24"/>
          <p:cNvSpPr txBox="1"/>
          <p:nvPr/>
        </p:nvSpPr>
        <p:spPr>
          <a:xfrm>
            <a:off x="4467225" y="5072062"/>
            <a:ext cx="2202656" cy="161925"/>
          </a:xfrm>
          <a:prstGeom prst="rect">
            <a:avLst/>
          </a:prstGeom>
          <a:noFill/>
        </p:spPr>
        <p:txBody>
          <a:bodyPr wrap="none" lIns="0" tIns="0" rIns="0" bIns="0" anchor="t">
            <a:spAutoFit/>
          </a:bodyPr>
          <a:lstStyle/>
          <a:p>
            <a:pPr algn="l"/>
            <a:r>
              <a:rPr sz="1050" b="1" i="0" u="none">
                <a:solidFill>
                  <a:srgbClr val="DC2626"/>
                </a:solidFill>
                <a:latin typeface="Inter"/>
              </a:rPr>
              <a:t>• ~15 mins spent per ticket</a:t>
            </a:r>
          </a:p>
        </p:txBody>
      </p:sp>
      <p:sp>
        <p:nvSpPr>
          <p:cNvPr id="26" name="TextBox 25"/>
          <p:cNvSpPr txBox="1"/>
          <p:nvPr/>
        </p:nvSpPr>
        <p:spPr>
          <a:xfrm>
            <a:off x="8277225" y="4376737"/>
            <a:ext cx="3352800" cy="600075"/>
          </a:xfrm>
          <a:prstGeom prst="rect">
            <a:avLst/>
          </a:prstGeom>
          <a:noFill/>
        </p:spPr>
        <p:txBody>
          <a:bodyPr wrap="square" lIns="0" tIns="0" rIns="0" bIns="0" anchor="t">
            <a:spAutoFit/>
          </a:bodyPr>
          <a:lstStyle/>
          <a:p>
            <a:pPr algn="l"/>
            <a:r>
              <a:rPr sz="1350" b="0" i="0" u="none">
                <a:solidFill>
                  <a:srgbClr val="475569"/>
                </a:solidFill>
                <a:latin typeface="Inter"/>
              </a:rPr>
              <a:t>Lack of real-time timer tracking and proactive escalation triggers causes missed SLAs.</a:t>
            </a:r>
          </a:p>
        </p:txBody>
      </p:sp>
      <p:sp>
        <p:nvSpPr>
          <p:cNvPr id="27" name="TextBox 26"/>
          <p:cNvSpPr txBox="1"/>
          <p:nvPr/>
        </p:nvSpPr>
        <p:spPr>
          <a:xfrm>
            <a:off x="8277225" y="5072062"/>
            <a:ext cx="2405062" cy="161925"/>
          </a:xfrm>
          <a:prstGeom prst="rect">
            <a:avLst/>
          </a:prstGeom>
          <a:noFill/>
        </p:spPr>
        <p:txBody>
          <a:bodyPr wrap="none" lIns="0" tIns="0" rIns="0" bIns="0" anchor="t">
            <a:spAutoFit/>
          </a:bodyPr>
          <a:lstStyle/>
          <a:p>
            <a:pPr algn="l"/>
            <a:r>
              <a:rPr sz="1050" b="1" i="0" u="none">
                <a:solidFill>
                  <a:srgbClr val="DC2626"/>
                </a:solidFill>
                <a:latin typeface="Inter"/>
              </a:rPr>
              <a:t>• Frequent contract penalties</a:t>
            </a:r>
          </a:p>
        </p:txBody>
      </p:sp>
      <p:sp>
        <p:nvSpPr>
          <p:cNvPr id="28" name="TextBox 27"/>
          <p:cNvSpPr txBox="1"/>
          <p:nvPr/>
        </p:nvSpPr>
        <p:spPr>
          <a:xfrm>
            <a:off x="990600" y="2366962"/>
            <a:ext cx="2112764" cy="219075"/>
          </a:xfrm>
          <a:prstGeom prst="rect">
            <a:avLst/>
          </a:prstGeom>
          <a:noFill/>
        </p:spPr>
        <p:txBody>
          <a:bodyPr wrap="none" lIns="0" tIns="0" rIns="0" bIns="0" anchor="t">
            <a:spAutoFit/>
          </a:bodyPr>
          <a:lstStyle/>
          <a:p>
            <a:pPr algn="l"/>
            <a:r>
              <a:rPr sz="1350" b="1" i="0" u="none">
                <a:solidFill>
                  <a:srgbClr val="0F2922"/>
                </a:solidFill>
                <a:latin typeface="Plus Jakarta Sans"/>
              </a:rPr>
              <a:t>High Ticket Volume</a:t>
            </a:r>
          </a:p>
        </p:txBody>
      </p:sp>
      <p:sp>
        <p:nvSpPr>
          <p:cNvPr id="29" name="TextBox 28"/>
          <p:cNvSpPr txBox="1"/>
          <p:nvPr/>
        </p:nvSpPr>
        <p:spPr>
          <a:xfrm>
            <a:off x="4772025" y="2366962"/>
            <a:ext cx="2175271" cy="219075"/>
          </a:xfrm>
          <a:prstGeom prst="rect">
            <a:avLst/>
          </a:prstGeom>
          <a:noFill/>
        </p:spPr>
        <p:txBody>
          <a:bodyPr wrap="none" lIns="0" tIns="0" rIns="0" bIns="0" anchor="t">
            <a:spAutoFit/>
          </a:bodyPr>
          <a:lstStyle/>
          <a:p>
            <a:pPr algn="l"/>
            <a:r>
              <a:rPr sz="1350" b="1" i="0" u="none">
                <a:solidFill>
                  <a:srgbClr val="0F2922"/>
                </a:solidFill>
                <a:latin typeface="Plus Jakarta Sans"/>
              </a:rPr>
              <a:t>Repetitive Requests</a:t>
            </a:r>
          </a:p>
        </p:txBody>
      </p:sp>
      <p:sp>
        <p:nvSpPr>
          <p:cNvPr id="30" name="TextBox 29"/>
          <p:cNvSpPr txBox="1"/>
          <p:nvPr/>
        </p:nvSpPr>
        <p:spPr>
          <a:xfrm>
            <a:off x="8582025" y="2366962"/>
            <a:ext cx="2312789" cy="219075"/>
          </a:xfrm>
          <a:prstGeom prst="rect">
            <a:avLst/>
          </a:prstGeom>
          <a:noFill/>
        </p:spPr>
        <p:txBody>
          <a:bodyPr wrap="none" lIns="0" tIns="0" rIns="0" bIns="0" anchor="t">
            <a:spAutoFit/>
          </a:bodyPr>
          <a:lstStyle/>
          <a:p>
            <a:pPr algn="l"/>
            <a:r>
              <a:rPr sz="1350" b="1" i="0" u="none">
                <a:solidFill>
                  <a:srgbClr val="0F2922"/>
                </a:solidFill>
                <a:latin typeface="Plus Jakarta Sans"/>
              </a:rPr>
              <a:t>Manual Classification</a:t>
            </a:r>
          </a:p>
        </p:txBody>
      </p:sp>
      <p:sp>
        <p:nvSpPr>
          <p:cNvPr id="31" name="TextBox 30"/>
          <p:cNvSpPr txBox="1"/>
          <p:nvPr/>
        </p:nvSpPr>
        <p:spPr>
          <a:xfrm>
            <a:off x="914400" y="4081462"/>
            <a:ext cx="2025253" cy="219075"/>
          </a:xfrm>
          <a:prstGeom prst="rect">
            <a:avLst/>
          </a:prstGeom>
          <a:noFill/>
        </p:spPr>
        <p:txBody>
          <a:bodyPr wrap="none" lIns="0" tIns="0" rIns="0" bIns="0" anchor="t">
            <a:spAutoFit/>
          </a:bodyPr>
          <a:lstStyle/>
          <a:p>
            <a:pPr algn="l"/>
            <a:r>
              <a:rPr sz="1350" b="1" i="0" u="none">
                <a:solidFill>
                  <a:srgbClr val="0F2922"/>
                </a:solidFill>
                <a:latin typeface="Plus Jakarta Sans"/>
              </a:rPr>
              <a:t>Slow Prioritization</a:t>
            </a:r>
          </a:p>
        </p:txBody>
      </p:sp>
      <p:sp>
        <p:nvSpPr>
          <p:cNvPr id="32" name="TextBox 31"/>
          <p:cNvSpPr txBox="1"/>
          <p:nvPr/>
        </p:nvSpPr>
        <p:spPr>
          <a:xfrm>
            <a:off x="4772025" y="4081462"/>
            <a:ext cx="2762845" cy="219075"/>
          </a:xfrm>
          <a:prstGeom prst="rect">
            <a:avLst/>
          </a:prstGeom>
          <a:noFill/>
        </p:spPr>
        <p:txBody>
          <a:bodyPr wrap="none" lIns="0" tIns="0" rIns="0" bIns="0" anchor="t">
            <a:spAutoFit/>
          </a:bodyPr>
          <a:lstStyle/>
          <a:p>
            <a:pPr algn="l"/>
            <a:r>
              <a:rPr sz="1350" b="1" i="0" u="none">
                <a:solidFill>
                  <a:srgbClr val="0F2922"/>
                </a:solidFill>
                <a:latin typeface="Plus Jakarta Sans"/>
              </a:rPr>
              <a:t>Knowledge Search Effort</a:t>
            </a:r>
          </a:p>
        </p:txBody>
      </p:sp>
      <p:sp>
        <p:nvSpPr>
          <p:cNvPr id="33" name="TextBox 32"/>
          <p:cNvSpPr txBox="1"/>
          <p:nvPr/>
        </p:nvSpPr>
        <p:spPr>
          <a:xfrm>
            <a:off x="8582025" y="4081462"/>
            <a:ext cx="1850231" cy="219075"/>
          </a:xfrm>
          <a:prstGeom prst="rect">
            <a:avLst/>
          </a:prstGeom>
          <a:noFill/>
        </p:spPr>
        <p:txBody>
          <a:bodyPr wrap="none" lIns="0" tIns="0" rIns="0" bIns="0" anchor="t">
            <a:spAutoFit/>
          </a:bodyPr>
          <a:lstStyle/>
          <a:p>
            <a:pPr algn="l"/>
            <a:r>
              <a:rPr sz="1350" b="1" i="0" u="none">
                <a:solidFill>
                  <a:srgbClr val="0F2922"/>
                </a:solidFill>
                <a:latin typeface="Plus Jakarta Sans"/>
              </a:rPr>
              <a:t>SLA Breach Risks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2633662"/>
            <a:ext cx="3657600" cy="1095375"/>
          </a:xfrm>
          <a:prstGeom prst="roundRect">
            <a:avLst>
              <a:gd name="adj" fmla="val 6956"/>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267200" y="2633662"/>
            <a:ext cx="3657600" cy="1095375"/>
          </a:xfrm>
          <a:prstGeom prst="roundRect">
            <a:avLst>
              <a:gd name="adj" fmla="val 6956"/>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633662"/>
            <a:ext cx="3657600" cy="1095375"/>
          </a:xfrm>
          <a:prstGeom prst="roundRect">
            <a:avLst>
              <a:gd name="adj" fmla="val 6956"/>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3881437"/>
            <a:ext cx="3657600" cy="1095375"/>
          </a:xfrm>
          <a:prstGeom prst="roundRect">
            <a:avLst>
              <a:gd name="adj" fmla="val 6956"/>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267200" y="3881437"/>
            <a:ext cx="3657600" cy="1095375"/>
          </a:xfrm>
          <a:prstGeom prst="roundRect">
            <a:avLst>
              <a:gd name="adj" fmla="val 6956"/>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077200" y="3881437"/>
            <a:ext cx="3657600" cy="1095375"/>
          </a:xfrm>
          <a:prstGeom prst="roundRect">
            <a:avLst>
              <a:gd name="adj" fmla="val 6956"/>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657225" y="2847975"/>
            <a:ext cx="219075" cy="190500"/>
          </a:xfrm>
          <a:prstGeom prst="rect">
            <a:avLst/>
          </a:prstGeom>
        </p:spPr>
      </p:pic>
      <p:pic>
        <p:nvPicPr>
          <p:cNvPr id="9" name="Picture 8" descr="image.png"/>
          <p:cNvPicPr>
            <a:picLocks noChangeAspect="1"/>
          </p:cNvPicPr>
          <p:nvPr/>
        </p:nvPicPr>
        <p:blipFill>
          <a:blip r:embed="rId3"/>
          <a:stretch>
            <a:fillRect/>
          </a:stretch>
        </p:blipFill>
        <p:spPr>
          <a:xfrm>
            <a:off x="4467225" y="2847975"/>
            <a:ext cx="190500" cy="190500"/>
          </a:xfrm>
          <a:prstGeom prst="rect">
            <a:avLst/>
          </a:prstGeom>
        </p:spPr>
      </p:pic>
      <p:pic>
        <p:nvPicPr>
          <p:cNvPr id="10" name="Picture 9" descr="image.png"/>
          <p:cNvPicPr>
            <a:picLocks noChangeAspect="1"/>
          </p:cNvPicPr>
          <p:nvPr/>
        </p:nvPicPr>
        <p:blipFill>
          <a:blip r:embed="rId4"/>
          <a:stretch>
            <a:fillRect/>
          </a:stretch>
        </p:blipFill>
        <p:spPr>
          <a:xfrm>
            <a:off x="8277225" y="2847975"/>
            <a:ext cx="190500" cy="190500"/>
          </a:xfrm>
          <a:prstGeom prst="rect">
            <a:avLst/>
          </a:prstGeom>
        </p:spPr>
      </p:pic>
      <p:pic>
        <p:nvPicPr>
          <p:cNvPr id="11" name="Picture 10" descr="image.png"/>
          <p:cNvPicPr>
            <a:picLocks noChangeAspect="1"/>
          </p:cNvPicPr>
          <p:nvPr/>
        </p:nvPicPr>
        <p:blipFill>
          <a:blip r:embed="rId5"/>
          <a:stretch>
            <a:fillRect/>
          </a:stretch>
        </p:blipFill>
        <p:spPr>
          <a:xfrm>
            <a:off x="657225" y="4095750"/>
            <a:ext cx="142875" cy="190500"/>
          </a:xfrm>
          <a:prstGeom prst="rect">
            <a:avLst/>
          </a:prstGeom>
        </p:spPr>
      </p:pic>
      <p:pic>
        <p:nvPicPr>
          <p:cNvPr id="12" name="Picture 11" descr="image.png"/>
          <p:cNvPicPr>
            <a:picLocks noChangeAspect="1"/>
          </p:cNvPicPr>
          <p:nvPr/>
        </p:nvPicPr>
        <p:blipFill>
          <a:blip r:embed="rId6"/>
          <a:stretch>
            <a:fillRect/>
          </a:stretch>
        </p:blipFill>
        <p:spPr>
          <a:xfrm>
            <a:off x="4467225" y="4095750"/>
            <a:ext cx="190500" cy="190500"/>
          </a:xfrm>
          <a:prstGeom prst="rect">
            <a:avLst/>
          </a:prstGeom>
        </p:spPr>
      </p:pic>
      <p:pic>
        <p:nvPicPr>
          <p:cNvPr id="13" name="Picture 12" descr="image.png"/>
          <p:cNvPicPr>
            <a:picLocks noChangeAspect="1"/>
          </p:cNvPicPr>
          <p:nvPr/>
        </p:nvPicPr>
        <p:blipFill>
          <a:blip r:embed="rId7"/>
          <a:stretch>
            <a:fillRect/>
          </a:stretch>
        </p:blipFill>
        <p:spPr>
          <a:xfrm>
            <a:off x="8277225" y="4095750"/>
            <a:ext cx="190500" cy="190500"/>
          </a:xfrm>
          <a:prstGeom prst="rect">
            <a:avLst/>
          </a:prstGeom>
        </p:spPr>
      </p:pic>
      <p:sp>
        <p:nvSpPr>
          <p:cNvPr id="14" name="TextBox 13"/>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INDUSTRY BOTTLENECKS</a:t>
            </a:r>
          </a:p>
        </p:txBody>
      </p:sp>
      <p:sp>
        <p:nvSpPr>
          <p:cNvPr id="15" name="TextBox 14"/>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Practical Challenges in Traditional Support</a:t>
            </a:r>
          </a:p>
        </p:txBody>
      </p:sp>
      <p:sp>
        <p:nvSpPr>
          <p:cNvPr id="16" name="TextBox 15"/>
          <p:cNvSpPr txBox="1"/>
          <p:nvPr/>
        </p:nvSpPr>
        <p:spPr>
          <a:xfrm>
            <a:off x="657225" y="3128962"/>
            <a:ext cx="3352800" cy="400050"/>
          </a:xfrm>
          <a:prstGeom prst="rect">
            <a:avLst/>
          </a:prstGeom>
          <a:noFill/>
        </p:spPr>
        <p:txBody>
          <a:bodyPr wrap="square" lIns="0" tIns="0" rIns="0" bIns="0" anchor="t">
            <a:spAutoFit/>
          </a:bodyPr>
          <a:lstStyle/>
          <a:p>
            <a:pPr algn="l"/>
            <a:r>
              <a:rPr sz="1350" b="0" i="0" u="none">
                <a:solidFill>
                  <a:srgbClr val="475569"/>
                </a:solidFill>
                <a:latin typeface="Inter"/>
              </a:rPr>
              <a:t>Unfiltered inbound requests overwhelming support queues daily.</a:t>
            </a:r>
          </a:p>
        </p:txBody>
      </p:sp>
      <p:sp>
        <p:nvSpPr>
          <p:cNvPr id="17" name="TextBox 16"/>
          <p:cNvSpPr txBox="1"/>
          <p:nvPr/>
        </p:nvSpPr>
        <p:spPr>
          <a:xfrm>
            <a:off x="4467225" y="3128962"/>
            <a:ext cx="3352800" cy="400050"/>
          </a:xfrm>
          <a:prstGeom prst="rect">
            <a:avLst/>
          </a:prstGeom>
          <a:noFill/>
        </p:spPr>
        <p:txBody>
          <a:bodyPr wrap="square" lIns="0" tIns="0" rIns="0" bIns="0" anchor="t">
            <a:spAutoFit/>
          </a:bodyPr>
          <a:lstStyle/>
          <a:p>
            <a:pPr algn="l"/>
            <a:r>
              <a:rPr sz="1350" b="0" i="0" u="none">
                <a:solidFill>
                  <a:srgbClr val="475569"/>
                </a:solidFill>
                <a:latin typeface="Inter"/>
              </a:rPr>
              <a:t>Agents wasting hours answering identical recurring queries.</a:t>
            </a:r>
          </a:p>
        </p:txBody>
      </p:sp>
      <p:sp>
        <p:nvSpPr>
          <p:cNvPr id="18" name="TextBox 17"/>
          <p:cNvSpPr txBox="1"/>
          <p:nvPr/>
        </p:nvSpPr>
        <p:spPr>
          <a:xfrm>
            <a:off x="8277225" y="3128962"/>
            <a:ext cx="3352800" cy="400050"/>
          </a:xfrm>
          <a:prstGeom prst="rect">
            <a:avLst/>
          </a:prstGeom>
          <a:noFill/>
        </p:spPr>
        <p:txBody>
          <a:bodyPr wrap="square" lIns="0" tIns="0" rIns="0" bIns="0" anchor="t">
            <a:spAutoFit/>
          </a:bodyPr>
          <a:lstStyle/>
          <a:p>
            <a:pPr algn="l"/>
            <a:r>
              <a:rPr sz="1350" b="0" i="0" u="none">
                <a:solidFill>
                  <a:srgbClr val="475569"/>
                </a:solidFill>
                <a:latin typeface="Inter"/>
              </a:rPr>
              <a:t>Error-prone human categorization causing routing delays.</a:t>
            </a:r>
          </a:p>
        </p:txBody>
      </p:sp>
      <p:sp>
        <p:nvSpPr>
          <p:cNvPr id="19" name="TextBox 18"/>
          <p:cNvSpPr txBox="1"/>
          <p:nvPr/>
        </p:nvSpPr>
        <p:spPr>
          <a:xfrm>
            <a:off x="657225" y="4376737"/>
            <a:ext cx="3352800" cy="400050"/>
          </a:xfrm>
          <a:prstGeom prst="rect">
            <a:avLst/>
          </a:prstGeom>
          <a:noFill/>
        </p:spPr>
        <p:txBody>
          <a:bodyPr wrap="square" lIns="0" tIns="0" rIns="0" bIns="0" anchor="t">
            <a:spAutoFit/>
          </a:bodyPr>
          <a:lstStyle/>
          <a:p>
            <a:pPr algn="l"/>
            <a:r>
              <a:rPr sz="1350" b="0" i="0" u="none">
                <a:solidFill>
                  <a:srgbClr val="475569"/>
                </a:solidFill>
                <a:latin typeface="Inter"/>
              </a:rPr>
              <a:t>Critical system issues buried beneath routine requests.</a:t>
            </a:r>
          </a:p>
        </p:txBody>
      </p:sp>
      <p:sp>
        <p:nvSpPr>
          <p:cNvPr id="20" name="TextBox 19"/>
          <p:cNvSpPr txBox="1"/>
          <p:nvPr/>
        </p:nvSpPr>
        <p:spPr>
          <a:xfrm>
            <a:off x="4467225" y="4376737"/>
            <a:ext cx="3352800" cy="400050"/>
          </a:xfrm>
          <a:prstGeom prst="rect">
            <a:avLst/>
          </a:prstGeom>
          <a:noFill/>
        </p:spPr>
        <p:txBody>
          <a:bodyPr wrap="square" lIns="0" tIns="0" rIns="0" bIns="0" anchor="t">
            <a:spAutoFit/>
          </a:bodyPr>
          <a:lstStyle/>
          <a:p>
            <a:pPr algn="l"/>
            <a:r>
              <a:rPr sz="1350" b="0" i="0" u="none">
                <a:solidFill>
                  <a:srgbClr val="475569"/>
                </a:solidFill>
                <a:latin typeface="Inter"/>
              </a:rPr>
              <a:t>Scattered documentation slowing resolution workflows.</a:t>
            </a:r>
          </a:p>
        </p:txBody>
      </p:sp>
      <p:sp>
        <p:nvSpPr>
          <p:cNvPr id="21" name="TextBox 20"/>
          <p:cNvSpPr txBox="1"/>
          <p:nvPr/>
        </p:nvSpPr>
        <p:spPr>
          <a:xfrm>
            <a:off x="8277225" y="4376737"/>
            <a:ext cx="3352800" cy="400050"/>
          </a:xfrm>
          <a:prstGeom prst="rect">
            <a:avLst/>
          </a:prstGeom>
          <a:noFill/>
        </p:spPr>
        <p:txBody>
          <a:bodyPr wrap="square" lIns="0" tIns="0" rIns="0" bIns="0" anchor="t">
            <a:spAutoFit/>
          </a:bodyPr>
          <a:lstStyle/>
          <a:p>
            <a:pPr algn="l"/>
            <a:r>
              <a:rPr sz="1350" b="0" i="0" u="none">
                <a:solidFill>
                  <a:srgbClr val="475569"/>
                </a:solidFill>
                <a:latin typeface="Inter"/>
              </a:rPr>
              <a:t>Lack of real-time alerts leading to frequent SLA breaches.</a:t>
            </a:r>
          </a:p>
        </p:txBody>
      </p:sp>
      <p:sp>
        <p:nvSpPr>
          <p:cNvPr id="22" name="TextBox 21"/>
          <p:cNvSpPr txBox="1"/>
          <p:nvPr/>
        </p:nvSpPr>
        <p:spPr>
          <a:xfrm>
            <a:off x="990600" y="2833687"/>
            <a:ext cx="2112764" cy="219075"/>
          </a:xfrm>
          <a:prstGeom prst="rect">
            <a:avLst/>
          </a:prstGeom>
          <a:noFill/>
        </p:spPr>
        <p:txBody>
          <a:bodyPr wrap="none" lIns="0" tIns="0" rIns="0" bIns="0" anchor="t">
            <a:spAutoFit/>
          </a:bodyPr>
          <a:lstStyle/>
          <a:p>
            <a:pPr algn="l"/>
            <a:r>
              <a:rPr sz="1350" b="1" i="0" u="none">
                <a:solidFill>
                  <a:srgbClr val="0F2922"/>
                </a:solidFill>
                <a:latin typeface="Plus Jakarta Sans"/>
              </a:rPr>
              <a:t>High Ticket Volume</a:t>
            </a:r>
          </a:p>
        </p:txBody>
      </p:sp>
      <p:sp>
        <p:nvSpPr>
          <p:cNvPr id="23" name="TextBox 22"/>
          <p:cNvSpPr txBox="1"/>
          <p:nvPr/>
        </p:nvSpPr>
        <p:spPr>
          <a:xfrm>
            <a:off x="4772025" y="2833687"/>
            <a:ext cx="2175271" cy="219075"/>
          </a:xfrm>
          <a:prstGeom prst="rect">
            <a:avLst/>
          </a:prstGeom>
          <a:noFill/>
        </p:spPr>
        <p:txBody>
          <a:bodyPr wrap="none" lIns="0" tIns="0" rIns="0" bIns="0" anchor="t">
            <a:spAutoFit/>
          </a:bodyPr>
          <a:lstStyle/>
          <a:p>
            <a:pPr algn="l"/>
            <a:r>
              <a:rPr sz="1350" b="1" i="0" u="none">
                <a:solidFill>
                  <a:srgbClr val="0F2922"/>
                </a:solidFill>
                <a:latin typeface="Plus Jakarta Sans"/>
              </a:rPr>
              <a:t>Repetitive Requests</a:t>
            </a:r>
          </a:p>
        </p:txBody>
      </p:sp>
      <p:sp>
        <p:nvSpPr>
          <p:cNvPr id="24" name="TextBox 23"/>
          <p:cNvSpPr txBox="1"/>
          <p:nvPr/>
        </p:nvSpPr>
        <p:spPr>
          <a:xfrm>
            <a:off x="8582025" y="2833687"/>
            <a:ext cx="2312789" cy="219075"/>
          </a:xfrm>
          <a:prstGeom prst="rect">
            <a:avLst/>
          </a:prstGeom>
          <a:noFill/>
        </p:spPr>
        <p:txBody>
          <a:bodyPr wrap="none" lIns="0" tIns="0" rIns="0" bIns="0" anchor="t">
            <a:spAutoFit/>
          </a:bodyPr>
          <a:lstStyle/>
          <a:p>
            <a:pPr algn="l"/>
            <a:r>
              <a:rPr sz="1350" b="1" i="0" u="none">
                <a:solidFill>
                  <a:srgbClr val="0F2922"/>
                </a:solidFill>
                <a:latin typeface="Plus Jakarta Sans"/>
              </a:rPr>
              <a:t>Manual Classification</a:t>
            </a:r>
          </a:p>
        </p:txBody>
      </p:sp>
      <p:sp>
        <p:nvSpPr>
          <p:cNvPr id="25" name="TextBox 24"/>
          <p:cNvSpPr txBox="1"/>
          <p:nvPr/>
        </p:nvSpPr>
        <p:spPr>
          <a:xfrm>
            <a:off x="914400" y="4081462"/>
            <a:ext cx="2025253" cy="219075"/>
          </a:xfrm>
          <a:prstGeom prst="rect">
            <a:avLst/>
          </a:prstGeom>
          <a:noFill/>
        </p:spPr>
        <p:txBody>
          <a:bodyPr wrap="none" lIns="0" tIns="0" rIns="0" bIns="0" anchor="t">
            <a:spAutoFit/>
          </a:bodyPr>
          <a:lstStyle/>
          <a:p>
            <a:pPr algn="l"/>
            <a:r>
              <a:rPr sz="1350" b="1" i="0" u="none">
                <a:solidFill>
                  <a:srgbClr val="0F2922"/>
                </a:solidFill>
                <a:latin typeface="Plus Jakarta Sans"/>
              </a:rPr>
              <a:t>Slow Prioritization</a:t>
            </a:r>
          </a:p>
        </p:txBody>
      </p:sp>
      <p:sp>
        <p:nvSpPr>
          <p:cNvPr id="26" name="TextBox 25"/>
          <p:cNvSpPr txBox="1"/>
          <p:nvPr/>
        </p:nvSpPr>
        <p:spPr>
          <a:xfrm>
            <a:off x="4772025" y="4081462"/>
            <a:ext cx="2762845" cy="219075"/>
          </a:xfrm>
          <a:prstGeom prst="rect">
            <a:avLst/>
          </a:prstGeom>
          <a:noFill/>
        </p:spPr>
        <p:txBody>
          <a:bodyPr wrap="none" lIns="0" tIns="0" rIns="0" bIns="0" anchor="t">
            <a:spAutoFit/>
          </a:bodyPr>
          <a:lstStyle/>
          <a:p>
            <a:pPr algn="l"/>
            <a:r>
              <a:rPr sz="1350" b="1" i="0" u="none">
                <a:solidFill>
                  <a:srgbClr val="0F2922"/>
                </a:solidFill>
                <a:latin typeface="Plus Jakarta Sans"/>
              </a:rPr>
              <a:t>Knowledge Search Effort</a:t>
            </a:r>
          </a:p>
        </p:txBody>
      </p:sp>
      <p:sp>
        <p:nvSpPr>
          <p:cNvPr id="27" name="TextBox 26"/>
          <p:cNvSpPr txBox="1"/>
          <p:nvPr/>
        </p:nvSpPr>
        <p:spPr>
          <a:xfrm>
            <a:off x="8582025" y="4081462"/>
            <a:ext cx="2925365" cy="219075"/>
          </a:xfrm>
          <a:prstGeom prst="rect">
            <a:avLst/>
          </a:prstGeom>
          <a:noFill/>
        </p:spPr>
        <p:txBody>
          <a:bodyPr wrap="none" lIns="0" tIns="0" rIns="0" bIns="0" anchor="t">
            <a:spAutoFit/>
          </a:bodyPr>
          <a:lstStyle/>
          <a:p>
            <a:pPr algn="l"/>
            <a:r>
              <a:rPr sz="1350" b="1" i="0" u="none">
                <a:solidFill>
                  <a:srgbClr val="0F2922"/>
                </a:solidFill>
                <a:latin typeface="Plus Jakarta Sans"/>
              </a:rPr>
              <a:t>SLA Monitoring Difficulties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9"/>
        </a:solidFill>
        <a:effectLst/>
      </p:bgPr>
    </p:bg>
    <p:spTree>
      <p:nvGrpSpPr>
        <p:cNvPr id="1" name=""/>
        <p:cNvGrpSpPr/>
        <p:nvPr/>
      </p:nvGrpSpPr>
      <p:grpSpPr>
        <a:xfrm>
          <a:off x="0" y="0"/>
          <a:ext cx="0" cy="0"/>
          <a:chOff x="0" y="0"/>
          <a:chExt cx="0" cy="0"/>
        </a:xfrm>
      </p:grpSpPr>
      <p:sp>
        <p:nvSpPr>
          <p:cNvPr id="2" name="Rounded Rectangle 1"/>
          <p:cNvSpPr/>
          <p:nvPr/>
        </p:nvSpPr>
        <p:spPr>
          <a:xfrm>
            <a:off x="457200" y="2019300"/>
            <a:ext cx="11277600" cy="2324100"/>
          </a:xfrm>
          <a:prstGeom prst="roundRect">
            <a:avLst>
              <a:gd name="adj" fmla="val 4918"/>
            </a:avLst>
          </a:prstGeom>
          <a:solidFill>
            <a:srgbClr val="0F2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57200" y="4572000"/>
            <a:ext cx="3632150" cy="1057275"/>
          </a:xfrm>
          <a:prstGeom prst="roundRect">
            <a:avLst>
              <a:gd name="adj" fmla="val 720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279850" y="4572000"/>
            <a:ext cx="3632150" cy="1057275"/>
          </a:xfrm>
          <a:prstGeom prst="roundRect">
            <a:avLst>
              <a:gd name="adj" fmla="val 720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102500" y="4572000"/>
            <a:ext cx="3632150" cy="1057275"/>
          </a:xfrm>
          <a:prstGeom prst="roundRect">
            <a:avLst>
              <a:gd name="adj" fmla="val 720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762000" y="2324100"/>
            <a:ext cx="10668000" cy="304800"/>
          </a:xfrm>
          <a:prstGeom prst="rect">
            <a:avLst/>
          </a:prstGeom>
        </p:spPr>
      </p:pic>
      <p:sp>
        <p:nvSpPr>
          <p:cNvPr id="7" name="TextBox 6"/>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CORE THESIS</a:t>
            </a:r>
          </a:p>
        </p:txBody>
      </p:sp>
      <p:sp>
        <p:nvSpPr>
          <p:cNvPr id="8" name="TextBox 7"/>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Problem Statement</a:t>
            </a:r>
          </a:p>
        </p:txBody>
      </p:sp>
      <p:sp>
        <p:nvSpPr>
          <p:cNvPr id="9" name="TextBox 8"/>
          <p:cNvSpPr txBox="1"/>
          <p:nvPr/>
        </p:nvSpPr>
        <p:spPr>
          <a:xfrm>
            <a:off x="762000" y="2781300"/>
            <a:ext cx="11301412" cy="1257300"/>
          </a:xfrm>
          <a:prstGeom prst="rect">
            <a:avLst/>
          </a:prstGeom>
          <a:noFill/>
        </p:spPr>
        <p:txBody>
          <a:bodyPr wrap="square" lIns="0" tIns="0" rIns="0" bIns="0" anchor="t">
            <a:spAutoFit/>
          </a:bodyPr>
          <a:lstStyle/>
          <a:p>
            <a:pPr algn="l">
              <a:lnSpc>
                <a:spcPts val="2475"/>
              </a:lnSpc>
            </a:pPr>
            <a:r>
              <a:rPr sz="1650" b="1" i="0" u="none">
                <a:solidFill>
                  <a:srgbClr val="F8FAFC"/>
                </a:solidFill>
                <a:latin typeface="Plus Jakarta Sans"/>
              </a:rPr>
              <a:t>Traditional customer support systems rely heavily on manual triage, leading to delayed response times, poor resource allocation, agent burnout, and inconsistent resolution quality. Organizations urgently require an intelligent, automated management platform to streamline workflows and maintain high customer satisfaction.</a:t>
            </a:r>
          </a:p>
        </p:txBody>
      </p:sp>
      <p:sp>
        <p:nvSpPr>
          <p:cNvPr id="10" name="TextBox 9"/>
          <p:cNvSpPr txBox="1"/>
          <p:nvPr/>
        </p:nvSpPr>
        <p:spPr>
          <a:xfrm>
            <a:off x="657225" y="4772025"/>
            <a:ext cx="4040125" cy="200025"/>
          </a:xfrm>
          <a:prstGeom prst="rect">
            <a:avLst/>
          </a:prstGeom>
          <a:noFill/>
        </p:spPr>
        <p:txBody>
          <a:bodyPr wrap="none" lIns="0" tIns="0" rIns="0" bIns="0" anchor="t">
            <a:spAutoFit/>
          </a:bodyPr>
          <a:lstStyle/>
          <a:p>
            <a:pPr algn="l"/>
            <a:r>
              <a:rPr sz="1350" b="1" i="0" u="none">
                <a:solidFill>
                  <a:srgbClr val="DC2626"/>
                </a:solidFill>
                <a:latin typeface="Inter"/>
              </a:rPr>
              <a:t>High Response Time</a:t>
            </a:r>
          </a:p>
        </p:txBody>
      </p:sp>
      <p:sp>
        <p:nvSpPr>
          <p:cNvPr id="11" name="TextBox 10"/>
          <p:cNvSpPr txBox="1"/>
          <p:nvPr/>
        </p:nvSpPr>
        <p:spPr>
          <a:xfrm>
            <a:off x="657225" y="5029200"/>
            <a:ext cx="3327350" cy="400050"/>
          </a:xfrm>
          <a:prstGeom prst="rect">
            <a:avLst/>
          </a:prstGeom>
          <a:noFill/>
        </p:spPr>
        <p:txBody>
          <a:bodyPr wrap="square" lIns="0" tIns="0" rIns="0" bIns="0" anchor="t">
            <a:spAutoFit/>
          </a:bodyPr>
          <a:lstStyle/>
          <a:p>
            <a:pPr algn="l"/>
            <a:r>
              <a:rPr sz="1350" b="0" i="0" u="none">
                <a:solidFill>
                  <a:srgbClr val="475569"/>
                </a:solidFill>
                <a:latin typeface="Inter"/>
              </a:rPr>
              <a:t>Manual intake creates backlogs and extends customer wait times.</a:t>
            </a:r>
          </a:p>
        </p:txBody>
      </p:sp>
      <p:sp>
        <p:nvSpPr>
          <p:cNvPr id="12" name="TextBox 11"/>
          <p:cNvSpPr txBox="1"/>
          <p:nvPr/>
        </p:nvSpPr>
        <p:spPr>
          <a:xfrm>
            <a:off x="4479875" y="4772025"/>
            <a:ext cx="4040125" cy="200025"/>
          </a:xfrm>
          <a:prstGeom prst="rect">
            <a:avLst/>
          </a:prstGeom>
          <a:noFill/>
        </p:spPr>
        <p:txBody>
          <a:bodyPr wrap="none" lIns="0" tIns="0" rIns="0" bIns="0" anchor="t">
            <a:spAutoFit/>
          </a:bodyPr>
          <a:lstStyle/>
          <a:p>
            <a:pPr algn="l"/>
            <a:r>
              <a:rPr sz="1350" b="1" i="0" u="none">
                <a:solidFill>
                  <a:srgbClr val="DC2626"/>
                </a:solidFill>
                <a:latin typeface="Inter"/>
              </a:rPr>
              <a:t>Degraded Productivity</a:t>
            </a:r>
          </a:p>
        </p:txBody>
      </p:sp>
      <p:sp>
        <p:nvSpPr>
          <p:cNvPr id="13" name="TextBox 12"/>
          <p:cNvSpPr txBox="1"/>
          <p:nvPr/>
        </p:nvSpPr>
        <p:spPr>
          <a:xfrm>
            <a:off x="4479875" y="5029200"/>
            <a:ext cx="3327350" cy="400050"/>
          </a:xfrm>
          <a:prstGeom prst="rect">
            <a:avLst/>
          </a:prstGeom>
          <a:noFill/>
        </p:spPr>
        <p:txBody>
          <a:bodyPr wrap="square" lIns="0" tIns="0" rIns="0" bIns="0" anchor="t">
            <a:spAutoFit/>
          </a:bodyPr>
          <a:lstStyle/>
          <a:p>
            <a:pPr algn="l"/>
            <a:r>
              <a:rPr sz="1350" b="0" i="0" u="none">
                <a:solidFill>
                  <a:srgbClr val="475569"/>
                </a:solidFill>
                <a:latin typeface="Inter"/>
              </a:rPr>
              <a:t>Agents spend 40% of time searching scattered knowledge bases.</a:t>
            </a:r>
          </a:p>
        </p:txBody>
      </p:sp>
      <p:sp>
        <p:nvSpPr>
          <p:cNvPr id="14" name="TextBox 13"/>
          <p:cNvSpPr txBox="1"/>
          <p:nvPr/>
        </p:nvSpPr>
        <p:spPr>
          <a:xfrm>
            <a:off x="8302525" y="4772025"/>
            <a:ext cx="3889474" cy="200025"/>
          </a:xfrm>
          <a:prstGeom prst="rect">
            <a:avLst/>
          </a:prstGeom>
          <a:noFill/>
        </p:spPr>
        <p:txBody>
          <a:bodyPr wrap="none" lIns="0" tIns="0" rIns="0" bIns="0" anchor="t">
            <a:spAutoFit/>
          </a:bodyPr>
          <a:lstStyle/>
          <a:p>
            <a:pPr algn="l"/>
            <a:r>
              <a:rPr sz="1350" b="1" i="0" u="none">
                <a:solidFill>
                  <a:srgbClr val="DC2626"/>
                </a:solidFill>
                <a:latin typeface="Inter"/>
              </a:rPr>
              <a:t>Poor Experience</a:t>
            </a:r>
          </a:p>
        </p:txBody>
      </p:sp>
      <p:sp>
        <p:nvSpPr>
          <p:cNvPr id="15" name="TextBox 14"/>
          <p:cNvSpPr txBox="1"/>
          <p:nvPr/>
        </p:nvSpPr>
        <p:spPr>
          <a:xfrm>
            <a:off x="8302525" y="5029200"/>
            <a:ext cx="3327350" cy="400050"/>
          </a:xfrm>
          <a:prstGeom prst="rect">
            <a:avLst/>
          </a:prstGeom>
          <a:noFill/>
        </p:spPr>
        <p:txBody>
          <a:bodyPr wrap="square" lIns="0" tIns="0" rIns="0" bIns="0" anchor="t">
            <a:spAutoFit/>
          </a:bodyPr>
          <a:lstStyle/>
          <a:p>
            <a:pPr algn="l"/>
            <a:r>
              <a:rPr sz="1350" b="0" i="0" u="none">
                <a:solidFill>
                  <a:srgbClr val="475569"/>
                </a:solidFill>
                <a:latin typeface="Inter"/>
              </a:rPr>
              <a:t>Inconsistent responses directly harm customer trust and retention.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2928937"/>
            <a:ext cx="2705100" cy="1752600"/>
          </a:xfrm>
          <a:prstGeom prst="roundRect">
            <a:avLst>
              <a:gd name="adj" fmla="val 434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314700" y="2928937"/>
            <a:ext cx="2705100" cy="1752600"/>
          </a:xfrm>
          <a:prstGeom prst="roundRect">
            <a:avLst>
              <a:gd name="adj" fmla="val 434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72200" y="2928937"/>
            <a:ext cx="2705100" cy="1752600"/>
          </a:xfrm>
          <a:prstGeom prst="roundRect">
            <a:avLst>
              <a:gd name="adj" fmla="val 434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029700" y="2928937"/>
            <a:ext cx="2705100" cy="1752600"/>
          </a:xfrm>
          <a:prstGeom prst="roundRect">
            <a:avLst>
              <a:gd name="adj" fmla="val 434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657225" y="3128962"/>
            <a:ext cx="342900" cy="342900"/>
          </a:xfrm>
          <a:prstGeom prst="rect">
            <a:avLst/>
          </a:prstGeom>
        </p:spPr>
      </p:pic>
      <p:pic>
        <p:nvPicPr>
          <p:cNvPr id="7" name="Picture 6" descr="image.png"/>
          <p:cNvPicPr>
            <a:picLocks noChangeAspect="1"/>
          </p:cNvPicPr>
          <p:nvPr/>
        </p:nvPicPr>
        <p:blipFill>
          <a:blip r:embed="rId2"/>
          <a:stretch>
            <a:fillRect/>
          </a:stretch>
        </p:blipFill>
        <p:spPr>
          <a:xfrm>
            <a:off x="3514725" y="3128962"/>
            <a:ext cx="342900" cy="342900"/>
          </a:xfrm>
          <a:prstGeom prst="rect">
            <a:avLst/>
          </a:prstGeom>
        </p:spPr>
      </p:pic>
      <p:pic>
        <p:nvPicPr>
          <p:cNvPr id="8" name="Picture 7" descr="image.png"/>
          <p:cNvPicPr>
            <a:picLocks noChangeAspect="1"/>
          </p:cNvPicPr>
          <p:nvPr/>
        </p:nvPicPr>
        <p:blipFill>
          <a:blip r:embed="rId2"/>
          <a:stretch>
            <a:fillRect/>
          </a:stretch>
        </p:blipFill>
        <p:spPr>
          <a:xfrm>
            <a:off x="6372225" y="3128962"/>
            <a:ext cx="342900" cy="342900"/>
          </a:xfrm>
          <a:prstGeom prst="rect">
            <a:avLst/>
          </a:prstGeom>
        </p:spPr>
      </p:pic>
      <p:pic>
        <p:nvPicPr>
          <p:cNvPr id="9" name="Picture 8" descr="image.png"/>
          <p:cNvPicPr>
            <a:picLocks noChangeAspect="1"/>
          </p:cNvPicPr>
          <p:nvPr/>
        </p:nvPicPr>
        <p:blipFill>
          <a:blip r:embed="rId2"/>
          <a:stretch>
            <a:fillRect/>
          </a:stretch>
        </p:blipFill>
        <p:spPr>
          <a:xfrm>
            <a:off x="9229725" y="3128962"/>
            <a:ext cx="342900" cy="342900"/>
          </a:xfrm>
          <a:prstGeom prst="rect">
            <a:avLst/>
          </a:prstGeom>
        </p:spPr>
      </p:pic>
      <p:pic>
        <p:nvPicPr>
          <p:cNvPr id="10" name="Picture 9" descr="image.png"/>
          <p:cNvPicPr>
            <a:picLocks noChangeAspect="1"/>
          </p:cNvPicPr>
          <p:nvPr/>
        </p:nvPicPr>
        <p:blipFill>
          <a:blip r:embed="rId3"/>
          <a:stretch>
            <a:fillRect/>
          </a:stretch>
        </p:blipFill>
        <p:spPr>
          <a:xfrm>
            <a:off x="733425" y="3224212"/>
            <a:ext cx="190500" cy="152400"/>
          </a:xfrm>
          <a:prstGeom prst="rect">
            <a:avLst/>
          </a:prstGeom>
        </p:spPr>
      </p:pic>
      <p:pic>
        <p:nvPicPr>
          <p:cNvPr id="11" name="Picture 10" descr="image.png"/>
          <p:cNvPicPr>
            <a:picLocks noChangeAspect="1"/>
          </p:cNvPicPr>
          <p:nvPr/>
        </p:nvPicPr>
        <p:blipFill>
          <a:blip r:embed="rId4"/>
          <a:stretch>
            <a:fillRect/>
          </a:stretch>
        </p:blipFill>
        <p:spPr>
          <a:xfrm>
            <a:off x="3609975" y="3224212"/>
            <a:ext cx="152400" cy="152400"/>
          </a:xfrm>
          <a:prstGeom prst="rect">
            <a:avLst/>
          </a:prstGeom>
        </p:spPr>
      </p:pic>
      <p:pic>
        <p:nvPicPr>
          <p:cNvPr id="12" name="Picture 11" descr="image.png"/>
          <p:cNvPicPr>
            <a:picLocks noChangeAspect="1"/>
          </p:cNvPicPr>
          <p:nvPr/>
        </p:nvPicPr>
        <p:blipFill>
          <a:blip r:embed="rId5"/>
          <a:stretch>
            <a:fillRect/>
          </a:stretch>
        </p:blipFill>
        <p:spPr>
          <a:xfrm>
            <a:off x="6457950" y="3224212"/>
            <a:ext cx="171450" cy="152400"/>
          </a:xfrm>
          <a:prstGeom prst="rect">
            <a:avLst/>
          </a:prstGeom>
        </p:spPr>
      </p:pic>
      <p:pic>
        <p:nvPicPr>
          <p:cNvPr id="13" name="Picture 12" descr="image.png"/>
          <p:cNvPicPr>
            <a:picLocks noChangeAspect="1"/>
          </p:cNvPicPr>
          <p:nvPr/>
        </p:nvPicPr>
        <p:blipFill>
          <a:blip r:embed="rId6"/>
          <a:stretch>
            <a:fillRect/>
          </a:stretch>
        </p:blipFill>
        <p:spPr>
          <a:xfrm>
            <a:off x="9324975" y="3224212"/>
            <a:ext cx="152400" cy="152400"/>
          </a:xfrm>
          <a:prstGeom prst="rect">
            <a:avLst/>
          </a:prstGeom>
        </p:spPr>
      </p:pic>
      <p:sp>
        <p:nvSpPr>
          <p:cNvPr id="14" name="TextBox 13"/>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DIAGNOSTIC ANALYSIS</a:t>
            </a:r>
          </a:p>
        </p:txBody>
      </p:sp>
      <p:sp>
        <p:nvSpPr>
          <p:cNvPr id="15" name="TextBox 14"/>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Problem Findings &amp; Audit Results</a:t>
            </a:r>
          </a:p>
        </p:txBody>
      </p:sp>
      <p:sp>
        <p:nvSpPr>
          <p:cNvPr id="16" name="TextBox 15"/>
          <p:cNvSpPr txBox="1"/>
          <p:nvPr/>
        </p:nvSpPr>
        <p:spPr>
          <a:xfrm>
            <a:off x="657225" y="3586162"/>
            <a:ext cx="3025378" cy="219075"/>
          </a:xfrm>
          <a:prstGeom prst="rect">
            <a:avLst/>
          </a:prstGeom>
          <a:noFill/>
        </p:spPr>
        <p:txBody>
          <a:bodyPr wrap="none" lIns="0" tIns="0" rIns="0" bIns="0" anchor="t">
            <a:spAutoFit/>
          </a:bodyPr>
          <a:lstStyle/>
          <a:p>
            <a:pPr algn="l"/>
            <a:r>
              <a:rPr sz="1350" b="1" i="0" u="none">
                <a:solidFill>
                  <a:srgbClr val="0F2922"/>
                </a:solidFill>
                <a:latin typeface="Plus Jakarta Sans"/>
              </a:rPr>
              <a:t>Manual Friction</a:t>
            </a:r>
          </a:p>
        </p:txBody>
      </p:sp>
      <p:sp>
        <p:nvSpPr>
          <p:cNvPr id="17" name="TextBox 16"/>
          <p:cNvSpPr txBox="1"/>
          <p:nvPr/>
        </p:nvSpPr>
        <p:spPr>
          <a:xfrm>
            <a:off x="657225" y="3881437"/>
            <a:ext cx="2400300" cy="600075"/>
          </a:xfrm>
          <a:prstGeom prst="rect">
            <a:avLst/>
          </a:prstGeom>
          <a:noFill/>
        </p:spPr>
        <p:txBody>
          <a:bodyPr wrap="square" lIns="0" tIns="0" rIns="0" bIns="0" anchor="t">
            <a:spAutoFit/>
          </a:bodyPr>
          <a:lstStyle/>
          <a:p>
            <a:pPr algn="l"/>
            <a:r>
              <a:rPr sz="1350" b="0" i="0" u="none">
                <a:solidFill>
                  <a:srgbClr val="334155"/>
                </a:solidFill>
                <a:latin typeface="Inter"/>
              </a:rPr>
              <a:t>Excessive manual effort required for sorting and initial categorization.</a:t>
            </a:r>
          </a:p>
        </p:txBody>
      </p:sp>
      <p:sp>
        <p:nvSpPr>
          <p:cNvPr id="18" name="TextBox 17"/>
          <p:cNvSpPr txBox="1"/>
          <p:nvPr/>
        </p:nvSpPr>
        <p:spPr>
          <a:xfrm>
            <a:off x="3514725" y="3586162"/>
            <a:ext cx="3025378" cy="219075"/>
          </a:xfrm>
          <a:prstGeom prst="rect">
            <a:avLst/>
          </a:prstGeom>
          <a:noFill/>
        </p:spPr>
        <p:txBody>
          <a:bodyPr wrap="none" lIns="0" tIns="0" rIns="0" bIns="0" anchor="t">
            <a:spAutoFit/>
          </a:bodyPr>
          <a:lstStyle/>
          <a:p>
            <a:pPr algn="l"/>
            <a:r>
              <a:rPr sz="1350" b="1" i="0" u="none">
                <a:solidFill>
                  <a:srgbClr val="0F2922"/>
                </a:solidFill>
                <a:latin typeface="Plus Jakarta Sans"/>
              </a:rPr>
              <a:t>Context Lag</a:t>
            </a:r>
          </a:p>
        </p:txBody>
      </p:sp>
      <p:sp>
        <p:nvSpPr>
          <p:cNvPr id="19" name="TextBox 18"/>
          <p:cNvSpPr txBox="1"/>
          <p:nvPr/>
        </p:nvSpPr>
        <p:spPr>
          <a:xfrm>
            <a:off x="3514725" y="3881437"/>
            <a:ext cx="2400300" cy="600075"/>
          </a:xfrm>
          <a:prstGeom prst="rect">
            <a:avLst/>
          </a:prstGeom>
          <a:noFill/>
        </p:spPr>
        <p:txBody>
          <a:bodyPr wrap="square" lIns="0" tIns="0" rIns="0" bIns="0" anchor="t">
            <a:spAutoFit/>
          </a:bodyPr>
          <a:lstStyle/>
          <a:p>
            <a:pPr algn="l"/>
            <a:r>
              <a:rPr sz="1350" b="0" i="0" u="none">
                <a:solidFill>
                  <a:srgbClr val="334155"/>
                </a:solidFill>
                <a:latin typeface="Inter"/>
              </a:rPr>
              <a:t>Delayed understanding of ticket urgency and underlying customer intent.</a:t>
            </a:r>
          </a:p>
        </p:txBody>
      </p:sp>
      <p:sp>
        <p:nvSpPr>
          <p:cNvPr id="20" name="TextBox 19"/>
          <p:cNvSpPr txBox="1"/>
          <p:nvPr/>
        </p:nvSpPr>
        <p:spPr>
          <a:xfrm>
            <a:off x="6372225" y="3586162"/>
            <a:ext cx="3025378" cy="219075"/>
          </a:xfrm>
          <a:prstGeom prst="rect">
            <a:avLst/>
          </a:prstGeom>
          <a:noFill/>
        </p:spPr>
        <p:txBody>
          <a:bodyPr wrap="none" lIns="0" tIns="0" rIns="0" bIns="0" anchor="t">
            <a:spAutoFit/>
          </a:bodyPr>
          <a:lstStyle/>
          <a:p>
            <a:pPr algn="l"/>
            <a:r>
              <a:rPr sz="1350" b="1" i="0" u="none">
                <a:solidFill>
                  <a:srgbClr val="0F2922"/>
                </a:solidFill>
                <a:latin typeface="Plus Jakarta Sans"/>
              </a:rPr>
              <a:t>Knowledge Silos</a:t>
            </a:r>
          </a:p>
        </p:txBody>
      </p:sp>
      <p:sp>
        <p:nvSpPr>
          <p:cNvPr id="21" name="TextBox 20"/>
          <p:cNvSpPr txBox="1"/>
          <p:nvPr/>
        </p:nvSpPr>
        <p:spPr>
          <a:xfrm>
            <a:off x="6372225" y="3881437"/>
            <a:ext cx="2400300" cy="600075"/>
          </a:xfrm>
          <a:prstGeom prst="rect">
            <a:avLst/>
          </a:prstGeom>
          <a:noFill/>
        </p:spPr>
        <p:txBody>
          <a:bodyPr wrap="square" lIns="0" tIns="0" rIns="0" bIns="0" anchor="t">
            <a:spAutoFit/>
          </a:bodyPr>
          <a:lstStyle/>
          <a:p>
            <a:pPr algn="l"/>
            <a:r>
              <a:rPr sz="1350" b="0" i="0" u="none">
                <a:solidFill>
                  <a:srgbClr val="334155"/>
                </a:solidFill>
                <a:latin typeface="Inter"/>
              </a:rPr>
              <a:t>Difficulty retrieving relevant past solutions and documentation.</a:t>
            </a:r>
          </a:p>
        </p:txBody>
      </p:sp>
      <p:sp>
        <p:nvSpPr>
          <p:cNvPr id="22" name="TextBox 21"/>
          <p:cNvSpPr txBox="1"/>
          <p:nvPr/>
        </p:nvSpPr>
        <p:spPr>
          <a:xfrm>
            <a:off x="9229725" y="3586162"/>
            <a:ext cx="2962275" cy="219075"/>
          </a:xfrm>
          <a:prstGeom prst="rect">
            <a:avLst/>
          </a:prstGeom>
          <a:noFill/>
        </p:spPr>
        <p:txBody>
          <a:bodyPr wrap="none" lIns="0" tIns="0" rIns="0" bIns="0" anchor="t">
            <a:spAutoFit/>
          </a:bodyPr>
          <a:lstStyle/>
          <a:p>
            <a:pPr algn="l"/>
            <a:r>
              <a:rPr sz="1350" b="1" i="0" u="none">
                <a:solidFill>
                  <a:srgbClr val="0F2922"/>
                </a:solidFill>
                <a:latin typeface="Plus Jakarta Sans"/>
              </a:rPr>
              <a:t>Limited Visibility</a:t>
            </a:r>
          </a:p>
        </p:txBody>
      </p:sp>
      <p:sp>
        <p:nvSpPr>
          <p:cNvPr id="23" name="TextBox 22"/>
          <p:cNvSpPr txBox="1"/>
          <p:nvPr/>
        </p:nvSpPr>
        <p:spPr>
          <a:xfrm>
            <a:off x="9229725" y="3881437"/>
            <a:ext cx="2400300" cy="600075"/>
          </a:xfrm>
          <a:prstGeom prst="rect">
            <a:avLst/>
          </a:prstGeom>
          <a:noFill/>
        </p:spPr>
        <p:txBody>
          <a:bodyPr wrap="square" lIns="0" tIns="0" rIns="0" bIns="0" anchor="t">
            <a:spAutoFit/>
          </a:bodyPr>
          <a:lstStyle/>
          <a:p>
            <a:pPr algn="l"/>
            <a:r>
              <a:rPr sz="1350" b="0" i="0" u="none">
                <a:solidFill>
                  <a:srgbClr val="334155"/>
                </a:solidFill>
                <a:latin typeface="Inter"/>
              </a:rPr>
              <a:t>Poor tracking of ticket progress, SLA breaches, and agent performance.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9"/>
        </a:solidFill>
        <a:effectLst/>
      </p:bgPr>
    </p:bg>
    <p:spTree>
      <p:nvGrpSpPr>
        <p:cNvPr id="1" name=""/>
        <p:cNvGrpSpPr/>
        <p:nvPr/>
      </p:nvGrpSpPr>
      <p:grpSpPr>
        <a:xfrm>
          <a:off x="0" y="0"/>
          <a:ext cx="0" cy="0"/>
          <a:chOff x="0" y="0"/>
          <a:chExt cx="0" cy="0"/>
        </a:xfrm>
      </p:grpSpPr>
      <p:sp>
        <p:nvSpPr>
          <p:cNvPr id="2" name="Rounded Rectangle 1"/>
          <p:cNvSpPr/>
          <p:nvPr/>
        </p:nvSpPr>
        <p:spPr>
          <a:xfrm>
            <a:off x="457200" y="1009650"/>
            <a:ext cx="11277600" cy="371475"/>
          </a:xfrm>
          <a:prstGeom prst="roundRect">
            <a:avLst>
              <a:gd name="adj" fmla="val 15384"/>
            </a:avLst>
          </a:prstGeom>
          <a:solidFill>
            <a:srgbClr val="0F2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57200" y="3352800"/>
            <a:ext cx="11277600" cy="819150"/>
          </a:xfrm>
          <a:prstGeom prst="roundRect">
            <a:avLst>
              <a:gd name="adj" fmla="val 9302"/>
            </a:avLst>
          </a:prstGeom>
          <a:solidFill>
            <a:srgbClr val="E6F4F1"/>
          </a:solidFill>
          <a:ln w="952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6143625"/>
            <a:ext cx="11277600" cy="371475"/>
          </a:xfrm>
          <a:prstGeom prst="roundRect">
            <a:avLst>
              <a:gd name="adj" fmla="val 1538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2152650"/>
            <a:ext cx="5562600" cy="428625"/>
          </a:xfrm>
          <a:prstGeom prst="roundRect">
            <a:avLst>
              <a:gd name="adj" fmla="val 133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172200" y="2152650"/>
            <a:ext cx="5562600" cy="428625"/>
          </a:xfrm>
          <a:prstGeom prst="roundRect">
            <a:avLst>
              <a:gd name="adj" fmla="val 1333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4943475"/>
            <a:ext cx="5562600" cy="428625"/>
          </a:xfrm>
          <a:prstGeom prst="roundRect">
            <a:avLst>
              <a:gd name="adj" fmla="val 13333"/>
            </a:avLst>
          </a:prstGeom>
          <a:solidFill>
            <a:srgbClr val="DCFCE7"/>
          </a:solidFill>
          <a:ln w="952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72200" y="4943475"/>
            <a:ext cx="5562600" cy="428625"/>
          </a:xfrm>
          <a:prstGeom prst="roundRect">
            <a:avLst>
              <a:gd name="adj" fmla="val 13333"/>
            </a:avLst>
          </a:prstGeom>
          <a:solidFill>
            <a:srgbClr val="FEF3C7"/>
          </a:solidFill>
          <a:ln w="9525">
            <a:solidFill>
              <a:srgbClr val="FCD3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00075" y="3714750"/>
            <a:ext cx="2676525" cy="314325"/>
          </a:xfrm>
          <a:prstGeom prst="roundRect">
            <a:avLst>
              <a:gd name="adj" fmla="val 12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71850" y="3714750"/>
            <a:ext cx="2676525" cy="314325"/>
          </a:xfrm>
          <a:prstGeom prst="roundRect">
            <a:avLst>
              <a:gd name="adj" fmla="val 12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43625" y="3714750"/>
            <a:ext cx="2676525" cy="314325"/>
          </a:xfrm>
          <a:prstGeom prst="roundRect">
            <a:avLst>
              <a:gd name="adj" fmla="val 12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915400" y="3714750"/>
            <a:ext cx="2676525" cy="314325"/>
          </a:xfrm>
          <a:prstGeom prst="roundRect">
            <a:avLst>
              <a:gd name="adj" fmla="val 12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2"/>
          <a:stretch>
            <a:fillRect/>
          </a:stretch>
        </p:blipFill>
        <p:spPr>
          <a:xfrm>
            <a:off x="1402556" y="6267450"/>
            <a:ext cx="114300" cy="133350"/>
          </a:xfrm>
          <a:prstGeom prst="rect">
            <a:avLst/>
          </a:prstGeom>
        </p:spPr>
      </p:pic>
      <p:pic>
        <p:nvPicPr>
          <p:cNvPr id="14" name="Picture 13" descr="image.png"/>
          <p:cNvPicPr>
            <a:picLocks noChangeAspect="1"/>
          </p:cNvPicPr>
          <p:nvPr/>
        </p:nvPicPr>
        <p:blipFill>
          <a:blip r:embed="rId3"/>
          <a:stretch>
            <a:fillRect/>
          </a:stretch>
        </p:blipFill>
        <p:spPr>
          <a:xfrm>
            <a:off x="4045743" y="6267450"/>
            <a:ext cx="133350" cy="133350"/>
          </a:xfrm>
          <a:prstGeom prst="rect">
            <a:avLst/>
          </a:prstGeom>
        </p:spPr>
      </p:pic>
      <p:pic>
        <p:nvPicPr>
          <p:cNvPr id="15" name="Picture 14" descr="image.png"/>
          <p:cNvPicPr>
            <a:picLocks noChangeAspect="1"/>
          </p:cNvPicPr>
          <p:nvPr/>
        </p:nvPicPr>
        <p:blipFill>
          <a:blip r:embed="rId4"/>
          <a:stretch>
            <a:fillRect/>
          </a:stretch>
        </p:blipFill>
        <p:spPr>
          <a:xfrm>
            <a:off x="6698456" y="6267450"/>
            <a:ext cx="133350" cy="133350"/>
          </a:xfrm>
          <a:prstGeom prst="rect">
            <a:avLst/>
          </a:prstGeom>
        </p:spPr>
      </p:pic>
      <p:pic>
        <p:nvPicPr>
          <p:cNvPr id="16" name="Picture 15" descr="image.png"/>
          <p:cNvPicPr>
            <a:picLocks noChangeAspect="1"/>
          </p:cNvPicPr>
          <p:nvPr/>
        </p:nvPicPr>
        <p:blipFill>
          <a:blip r:embed="rId5"/>
          <a:stretch>
            <a:fillRect/>
          </a:stretch>
        </p:blipFill>
        <p:spPr>
          <a:xfrm>
            <a:off x="9513093" y="6267450"/>
            <a:ext cx="152400" cy="133350"/>
          </a:xfrm>
          <a:prstGeom prst="rect">
            <a:avLst/>
          </a:prstGeom>
        </p:spPr>
      </p:pic>
      <p:sp>
        <p:nvSpPr>
          <p:cNvPr id="17" name="TextBox 16"/>
          <p:cNvSpPr txBox="1"/>
          <p:nvPr/>
        </p:nvSpPr>
        <p:spPr>
          <a:xfrm>
            <a:off x="457200" y="3429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TECHNICAL BLUEPRINT</a:t>
            </a:r>
          </a:p>
        </p:txBody>
      </p:sp>
      <p:sp>
        <p:nvSpPr>
          <p:cNvPr id="18" name="TextBox 17"/>
          <p:cNvSpPr txBox="1"/>
          <p:nvPr/>
        </p:nvSpPr>
        <p:spPr>
          <a:xfrm>
            <a:off x="457200" y="523875"/>
            <a:ext cx="11734800" cy="333375"/>
          </a:xfrm>
          <a:prstGeom prst="rect">
            <a:avLst/>
          </a:prstGeom>
          <a:noFill/>
        </p:spPr>
        <p:txBody>
          <a:bodyPr wrap="none" lIns="0" tIns="0" rIns="0" bIns="0" anchor="t">
            <a:spAutoFit/>
          </a:bodyPr>
          <a:lstStyle/>
          <a:p>
            <a:pPr algn="l"/>
            <a:r>
              <a:rPr sz="2100" b="1" i="0" u="none">
                <a:solidFill>
                  <a:srgbClr val="0F2922"/>
                </a:solidFill>
                <a:latin typeface="Plus Jakarta Sans"/>
              </a:rPr>
              <a:t>Solution Architecture</a:t>
            </a:r>
          </a:p>
        </p:txBody>
      </p:sp>
      <p:sp>
        <p:nvSpPr>
          <p:cNvPr id="19" name="TextBox 18"/>
          <p:cNvSpPr txBox="1"/>
          <p:nvPr/>
        </p:nvSpPr>
        <p:spPr>
          <a:xfrm>
            <a:off x="-381000" y="1104900"/>
            <a:ext cx="12954000" cy="180975"/>
          </a:xfrm>
          <a:prstGeom prst="rect">
            <a:avLst/>
          </a:prstGeom>
          <a:noFill/>
        </p:spPr>
        <p:txBody>
          <a:bodyPr wrap="square" lIns="0" tIns="0" rIns="0" bIns="0" anchor="t">
            <a:spAutoFit/>
          </a:bodyPr>
          <a:lstStyle/>
          <a:p>
            <a:pPr algn="ctr"/>
            <a:r>
              <a:rPr sz="1125" b="1" i="0" u="none">
                <a:solidFill>
                  <a:srgbClr val="FFFFFF"/>
                </a:solidFill>
                <a:latin typeface="Inter"/>
              </a:rPr>
              <a:t>Users: Customer • Support Agent • Manager • Administrator</a:t>
            </a:r>
          </a:p>
        </p:txBody>
      </p:sp>
      <p:sp>
        <p:nvSpPr>
          <p:cNvPr id="20" name="TextBox 19"/>
          <p:cNvSpPr txBox="1"/>
          <p:nvPr/>
        </p:nvSpPr>
        <p:spPr>
          <a:xfrm>
            <a:off x="-123825" y="2266950"/>
            <a:ext cx="6724650" cy="200025"/>
          </a:xfrm>
          <a:prstGeom prst="rect">
            <a:avLst/>
          </a:prstGeom>
          <a:noFill/>
        </p:spPr>
        <p:txBody>
          <a:bodyPr wrap="square" lIns="0" tIns="0" rIns="0" bIns="0" anchor="t">
            <a:spAutoFit/>
          </a:bodyPr>
          <a:lstStyle/>
          <a:p>
            <a:pPr algn="ctr"/>
            <a:r>
              <a:rPr sz="1125" b="1" i="0" u="none">
                <a:solidFill>
                  <a:srgbClr val="0F2922"/>
                </a:solidFill>
                <a:latin typeface="Inter"/>
              </a:rPr>
              <a:t>React Frontend (Tailwind CSS, Recharts)</a:t>
            </a:r>
          </a:p>
        </p:txBody>
      </p:sp>
      <p:sp>
        <p:nvSpPr>
          <p:cNvPr id="21" name="TextBox 20"/>
          <p:cNvSpPr txBox="1"/>
          <p:nvPr/>
        </p:nvSpPr>
        <p:spPr>
          <a:xfrm>
            <a:off x="5653087" y="2266950"/>
            <a:ext cx="6600825" cy="200025"/>
          </a:xfrm>
          <a:prstGeom prst="rect">
            <a:avLst/>
          </a:prstGeom>
          <a:noFill/>
        </p:spPr>
        <p:txBody>
          <a:bodyPr wrap="square" lIns="0" tIns="0" rIns="0" bIns="0" anchor="t">
            <a:spAutoFit/>
          </a:bodyPr>
          <a:lstStyle/>
          <a:p>
            <a:pPr algn="ctr"/>
            <a:r>
              <a:rPr sz="1125" b="1" i="0" u="none">
                <a:solidFill>
                  <a:srgbClr val="0F2922"/>
                </a:solidFill>
                <a:latin typeface="Inter"/>
              </a:rPr>
              <a:t>Django REST Framework API (JWT Auth)</a:t>
            </a:r>
          </a:p>
        </p:txBody>
      </p:sp>
      <p:sp>
        <p:nvSpPr>
          <p:cNvPr id="22" name="TextBox 21"/>
          <p:cNvSpPr txBox="1"/>
          <p:nvPr/>
        </p:nvSpPr>
        <p:spPr>
          <a:xfrm>
            <a:off x="600075" y="3495675"/>
            <a:ext cx="11591925" cy="142875"/>
          </a:xfrm>
          <a:prstGeom prst="rect">
            <a:avLst/>
          </a:prstGeom>
          <a:noFill/>
        </p:spPr>
        <p:txBody>
          <a:bodyPr wrap="none" lIns="0" tIns="0" rIns="0" bIns="0" anchor="t">
            <a:spAutoFit/>
          </a:bodyPr>
          <a:lstStyle/>
          <a:p>
            <a:pPr algn="l"/>
            <a:r>
              <a:rPr sz="900" b="1" i="0" u="none">
                <a:solidFill>
                  <a:srgbClr val="0D9488"/>
                </a:solidFill>
                <a:latin typeface="Inter"/>
              </a:rPr>
              <a:t>AI ORCHESTRATOR ENGINE</a:t>
            </a:r>
          </a:p>
        </p:txBody>
      </p:sp>
      <p:sp>
        <p:nvSpPr>
          <p:cNvPr id="23" name="TextBox 22"/>
          <p:cNvSpPr txBox="1"/>
          <p:nvPr/>
        </p:nvSpPr>
        <p:spPr>
          <a:xfrm>
            <a:off x="-123825" y="5057775"/>
            <a:ext cx="6724650" cy="200025"/>
          </a:xfrm>
          <a:prstGeom prst="rect">
            <a:avLst/>
          </a:prstGeom>
          <a:noFill/>
        </p:spPr>
        <p:txBody>
          <a:bodyPr wrap="square" lIns="0" tIns="0" rIns="0" bIns="0" anchor="t">
            <a:spAutoFit/>
          </a:bodyPr>
          <a:lstStyle/>
          <a:p>
            <a:pPr algn="ctr"/>
            <a:r>
              <a:rPr sz="1125" b="1" i="0" u="none">
                <a:solidFill>
                  <a:srgbClr val="166534"/>
                </a:solidFill>
                <a:latin typeface="Inter"/>
              </a:rPr>
              <a:t>Auto Resolution Pathway (High Confidence)</a:t>
            </a:r>
          </a:p>
        </p:txBody>
      </p:sp>
      <p:sp>
        <p:nvSpPr>
          <p:cNvPr id="24" name="TextBox 23"/>
          <p:cNvSpPr txBox="1"/>
          <p:nvPr/>
        </p:nvSpPr>
        <p:spPr>
          <a:xfrm>
            <a:off x="5653087" y="5057775"/>
            <a:ext cx="6600825" cy="200025"/>
          </a:xfrm>
          <a:prstGeom prst="rect">
            <a:avLst/>
          </a:prstGeom>
          <a:noFill/>
        </p:spPr>
        <p:txBody>
          <a:bodyPr wrap="square" lIns="0" tIns="0" rIns="0" bIns="0" anchor="t">
            <a:spAutoFit/>
          </a:bodyPr>
          <a:lstStyle/>
          <a:p>
            <a:pPr algn="ctr"/>
            <a:r>
              <a:rPr sz="1125" b="1" i="0" u="none">
                <a:solidFill>
                  <a:srgbClr val="92400E"/>
                </a:solidFill>
                <a:latin typeface="Inter"/>
              </a:rPr>
              <a:t>Human Escalation Pathway (Low Confidence)</a:t>
            </a:r>
          </a:p>
        </p:txBody>
      </p:sp>
      <p:sp>
        <p:nvSpPr>
          <p:cNvPr id="25" name="TextBox 24"/>
          <p:cNvSpPr txBox="1"/>
          <p:nvPr/>
        </p:nvSpPr>
        <p:spPr>
          <a:xfrm>
            <a:off x="1402556" y="6248400"/>
            <a:ext cx="1440656" cy="161925"/>
          </a:xfrm>
          <a:prstGeom prst="rect">
            <a:avLst/>
          </a:prstGeom>
          <a:noFill/>
        </p:spPr>
        <p:txBody>
          <a:bodyPr wrap="none" lIns="114300" tIns="0" rIns="0" bIns="0" anchor="t">
            <a:spAutoFit/>
          </a:bodyPr>
          <a:lstStyle/>
          <a:p>
            <a:pPr algn="l"/>
            <a:r>
              <a:rPr sz="1050" b="1" i="0" u="none">
                <a:solidFill>
                  <a:srgbClr val="475569"/>
                </a:solidFill>
                <a:latin typeface="Inter"/>
              </a:rPr>
              <a:t>MongoDB Atlas</a:t>
            </a:r>
          </a:p>
        </p:txBody>
      </p:sp>
      <p:sp>
        <p:nvSpPr>
          <p:cNvPr id="26" name="TextBox 25"/>
          <p:cNvSpPr txBox="1"/>
          <p:nvPr/>
        </p:nvSpPr>
        <p:spPr>
          <a:xfrm>
            <a:off x="4045743" y="6248400"/>
            <a:ext cx="1452562" cy="161925"/>
          </a:xfrm>
          <a:prstGeom prst="rect">
            <a:avLst/>
          </a:prstGeom>
          <a:noFill/>
        </p:spPr>
        <p:txBody>
          <a:bodyPr wrap="none" lIns="133350" tIns="0" rIns="0" bIns="0" anchor="t">
            <a:spAutoFit/>
          </a:bodyPr>
          <a:lstStyle/>
          <a:p>
            <a:pPr algn="l"/>
            <a:r>
              <a:rPr sz="1050" b="1" i="0" u="none">
                <a:solidFill>
                  <a:srgbClr val="475569"/>
                </a:solidFill>
                <a:latin typeface="Inter"/>
              </a:rPr>
              <a:t> Jira Integration</a:t>
            </a:r>
          </a:p>
        </p:txBody>
      </p:sp>
      <p:sp>
        <p:nvSpPr>
          <p:cNvPr id="27" name="TextBox 26"/>
          <p:cNvSpPr txBox="1"/>
          <p:nvPr/>
        </p:nvSpPr>
        <p:spPr>
          <a:xfrm>
            <a:off x="6698456" y="6248400"/>
            <a:ext cx="1654968" cy="161925"/>
          </a:xfrm>
          <a:prstGeom prst="rect">
            <a:avLst/>
          </a:prstGeom>
          <a:noFill/>
        </p:spPr>
        <p:txBody>
          <a:bodyPr wrap="none" lIns="133350" tIns="0" rIns="0" bIns="0" anchor="t">
            <a:spAutoFit/>
          </a:bodyPr>
          <a:lstStyle/>
          <a:p>
            <a:pPr algn="l"/>
            <a:r>
              <a:rPr sz="1050" b="1" i="0" u="none">
                <a:solidFill>
                  <a:srgbClr val="475569"/>
                </a:solidFill>
                <a:latin typeface="Inter"/>
              </a:rPr>
              <a:t>Email Automation</a:t>
            </a:r>
          </a:p>
        </p:txBody>
      </p:sp>
      <p:sp>
        <p:nvSpPr>
          <p:cNvPr id="28" name="TextBox 27"/>
          <p:cNvSpPr txBox="1"/>
          <p:nvPr/>
        </p:nvSpPr>
        <p:spPr>
          <a:xfrm>
            <a:off x="9513093" y="6248400"/>
            <a:ext cx="1595437" cy="161925"/>
          </a:xfrm>
          <a:prstGeom prst="rect">
            <a:avLst/>
          </a:prstGeom>
          <a:noFill/>
        </p:spPr>
        <p:txBody>
          <a:bodyPr wrap="none" lIns="152400" tIns="0" rIns="0" bIns="0" anchor="t">
            <a:spAutoFit/>
          </a:bodyPr>
          <a:lstStyle/>
          <a:p>
            <a:pPr algn="l"/>
            <a:r>
              <a:rPr sz="1050" b="1" i="0" u="none">
                <a:solidFill>
                  <a:srgbClr val="475569"/>
                </a:solidFill>
                <a:latin typeface="Inter"/>
              </a:rPr>
              <a:t>Analytics Engine</a:t>
            </a:r>
          </a:p>
        </p:txBody>
      </p:sp>
      <p:sp>
        <p:nvSpPr>
          <p:cNvPr id="29" name="TextBox 28"/>
          <p:cNvSpPr txBox="1"/>
          <p:nvPr/>
        </p:nvSpPr>
        <p:spPr>
          <a:xfrm>
            <a:off x="379809" y="3790950"/>
            <a:ext cx="3117056" cy="161925"/>
          </a:xfrm>
          <a:prstGeom prst="rect">
            <a:avLst/>
          </a:prstGeom>
          <a:noFill/>
        </p:spPr>
        <p:txBody>
          <a:bodyPr wrap="square" lIns="0" tIns="0" rIns="0" bIns="0" anchor="t">
            <a:spAutoFit/>
          </a:bodyPr>
          <a:lstStyle/>
          <a:p>
            <a:pPr algn="ctr"/>
            <a:r>
              <a:rPr sz="1050" b="1" i="0" u="none">
                <a:solidFill>
                  <a:srgbClr val="0F2922"/>
                </a:solidFill>
                <a:latin typeface="Inter"/>
              </a:rPr>
              <a:t>Classification &amp; Priority</a:t>
            </a:r>
          </a:p>
        </p:txBody>
      </p:sp>
      <p:sp>
        <p:nvSpPr>
          <p:cNvPr id="30" name="TextBox 29"/>
          <p:cNvSpPr txBox="1"/>
          <p:nvPr/>
        </p:nvSpPr>
        <p:spPr>
          <a:xfrm>
            <a:off x="3151584" y="3790950"/>
            <a:ext cx="3117056" cy="161925"/>
          </a:xfrm>
          <a:prstGeom prst="rect">
            <a:avLst/>
          </a:prstGeom>
          <a:noFill/>
        </p:spPr>
        <p:txBody>
          <a:bodyPr wrap="square" lIns="0" tIns="0" rIns="0" bIns="0" anchor="t">
            <a:spAutoFit/>
          </a:bodyPr>
          <a:lstStyle/>
          <a:p>
            <a:pPr algn="ctr"/>
            <a:r>
              <a:rPr sz="1050" b="1" i="0" u="none">
                <a:solidFill>
                  <a:srgbClr val="0F2922"/>
                </a:solidFill>
                <a:latin typeface="Inter"/>
              </a:rPr>
              <a:t>Sentiment Analysis</a:t>
            </a:r>
          </a:p>
        </p:txBody>
      </p:sp>
      <p:sp>
        <p:nvSpPr>
          <p:cNvPr id="31" name="TextBox 30"/>
          <p:cNvSpPr txBox="1"/>
          <p:nvPr/>
        </p:nvSpPr>
        <p:spPr>
          <a:xfrm>
            <a:off x="5923359" y="3790950"/>
            <a:ext cx="3117056" cy="161925"/>
          </a:xfrm>
          <a:prstGeom prst="rect">
            <a:avLst/>
          </a:prstGeom>
          <a:noFill/>
        </p:spPr>
        <p:txBody>
          <a:bodyPr wrap="square" lIns="0" tIns="0" rIns="0" bIns="0" anchor="t">
            <a:spAutoFit/>
          </a:bodyPr>
          <a:lstStyle/>
          <a:p>
            <a:pPr algn="ctr"/>
            <a:r>
              <a:rPr sz="1050" b="1" i="0" u="none">
                <a:solidFill>
                  <a:srgbClr val="0F2922"/>
                </a:solidFill>
                <a:latin typeface="Inter"/>
              </a:rPr>
              <a:t>RAG Retrieval Engine</a:t>
            </a:r>
          </a:p>
        </p:txBody>
      </p:sp>
      <p:sp>
        <p:nvSpPr>
          <p:cNvPr id="32" name="TextBox 31"/>
          <p:cNvSpPr txBox="1"/>
          <p:nvPr/>
        </p:nvSpPr>
        <p:spPr>
          <a:xfrm>
            <a:off x="8695134" y="3790950"/>
            <a:ext cx="3117056" cy="161925"/>
          </a:xfrm>
          <a:prstGeom prst="rect">
            <a:avLst/>
          </a:prstGeom>
          <a:noFill/>
        </p:spPr>
        <p:txBody>
          <a:bodyPr wrap="square" lIns="0" tIns="0" rIns="0" bIns="0" anchor="t">
            <a:spAutoFit/>
          </a:bodyPr>
          <a:lstStyle/>
          <a:p>
            <a:pPr algn="ctr"/>
            <a:r>
              <a:rPr sz="1050" b="1" i="0" u="none">
                <a:solidFill>
                  <a:srgbClr val="0F2922"/>
                </a:solidFill>
                <a:latin typeface="Inter"/>
              </a:rPr>
              <a:t>Confidence Validator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2800350"/>
            <a:ext cx="5291137" cy="2009775"/>
          </a:xfrm>
          <a:prstGeom prst="roundRect">
            <a:avLst>
              <a:gd name="adj" fmla="val 4739"/>
            </a:avLst>
          </a:prstGeom>
          <a:solidFill>
            <a:srgbClr val="FEF2F2"/>
          </a:solidFill>
          <a:ln w="9525">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43662" y="2800350"/>
            <a:ext cx="5291137" cy="2009775"/>
          </a:xfrm>
          <a:prstGeom prst="roundRect">
            <a:avLst>
              <a:gd name="adj" fmla="val 4739"/>
            </a:avLst>
          </a:prstGeom>
          <a:solidFill>
            <a:srgbClr val="ECFDF5"/>
          </a:solidFill>
          <a:ln w="9525">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5976937" y="3671887"/>
            <a:ext cx="238125" cy="266700"/>
          </a:xfrm>
          <a:prstGeom prst="rect">
            <a:avLst/>
          </a:prstGeom>
        </p:spPr>
      </p:pic>
      <p:pic>
        <p:nvPicPr>
          <p:cNvPr id="5" name="Picture 4" descr="image.png"/>
          <p:cNvPicPr>
            <a:picLocks noChangeAspect="1"/>
          </p:cNvPicPr>
          <p:nvPr/>
        </p:nvPicPr>
        <p:blipFill>
          <a:blip r:embed="rId3"/>
          <a:stretch>
            <a:fillRect/>
          </a:stretch>
        </p:blipFill>
        <p:spPr>
          <a:xfrm>
            <a:off x="695325" y="3043237"/>
            <a:ext cx="228600" cy="228600"/>
          </a:xfrm>
          <a:prstGeom prst="rect">
            <a:avLst/>
          </a:prstGeom>
        </p:spPr>
      </p:pic>
      <p:pic>
        <p:nvPicPr>
          <p:cNvPr id="6" name="Picture 5" descr="image.png"/>
          <p:cNvPicPr>
            <a:picLocks noChangeAspect="1"/>
          </p:cNvPicPr>
          <p:nvPr/>
        </p:nvPicPr>
        <p:blipFill>
          <a:blip r:embed="rId4"/>
          <a:stretch>
            <a:fillRect/>
          </a:stretch>
        </p:blipFill>
        <p:spPr>
          <a:xfrm>
            <a:off x="6681787" y="3043237"/>
            <a:ext cx="228600" cy="228600"/>
          </a:xfrm>
          <a:prstGeom prst="rect">
            <a:avLst/>
          </a:prstGeom>
        </p:spPr>
      </p:pic>
      <p:sp>
        <p:nvSpPr>
          <p:cNvPr id="7" name="TextBox 6"/>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PARADIGM SHIFT</a:t>
            </a:r>
          </a:p>
        </p:txBody>
      </p:sp>
      <p:sp>
        <p:nvSpPr>
          <p:cNvPr id="8" name="TextBox 7"/>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Proposed Solution &amp; Transformation</a:t>
            </a:r>
          </a:p>
        </p:txBody>
      </p:sp>
      <p:sp>
        <p:nvSpPr>
          <p:cNvPr id="9" name="TextBox 8"/>
          <p:cNvSpPr txBox="1"/>
          <p:nvPr/>
        </p:nvSpPr>
        <p:spPr>
          <a:xfrm>
            <a:off x="1019175" y="3038475"/>
            <a:ext cx="2287785" cy="238125"/>
          </a:xfrm>
          <a:prstGeom prst="rect">
            <a:avLst/>
          </a:prstGeom>
          <a:noFill/>
        </p:spPr>
        <p:txBody>
          <a:bodyPr wrap="none" lIns="0" tIns="0" rIns="0" bIns="0" anchor="t">
            <a:spAutoFit/>
          </a:bodyPr>
          <a:lstStyle/>
          <a:p>
            <a:pPr algn="l"/>
            <a:r>
              <a:rPr sz="1500" b="1" i="0" u="none">
                <a:solidFill>
                  <a:srgbClr val="991B1B"/>
                </a:solidFill>
                <a:latin typeface="Plus Jakarta Sans"/>
              </a:rPr>
              <a:t>Traditional Process</a:t>
            </a:r>
          </a:p>
        </p:txBody>
      </p:sp>
      <p:sp>
        <p:nvSpPr>
          <p:cNvPr id="10" name="TextBox 9"/>
          <p:cNvSpPr txBox="1"/>
          <p:nvPr/>
        </p:nvSpPr>
        <p:spPr>
          <a:xfrm>
            <a:off x="695325" y="3429000"/>
            <a:ext cx="6018609" cy="200025"/>
          </a:xfrm>
          <a:prstGeom prst="rect">
            <a:avLst/>
          </a:prstGeom>
          <a:noFill/>
        </p:spPr>
        <p:txBody>
          <a:bodyPr wrap="none" lIns="0" tIns="0" rIns="0" bIns="0" anchor="t">
            <a:spAutoFit/>
          </a:bodyPr>
          <a:lstStyle/>
          <a:p>
            <a:pPr algn="l"/>
            <a:r>
              <a:rPr sz="1350" b="1" i="0" u="none">
                <a:solidFill>
                  <a:srgbClr val="7F1D1D"/>
                </a:solidFill>
                <a:latin typeface="Inter"/>
              </a:rPr>
              <a:t>Manual Triage:</a:t>
            </a:r>
            <a:r>
              <a:rPr sz="1350" b="0" i="0" u="none">
                <a:solidFill>
                  <a:srgbClr val="7F1D1D"/>
                </a:solidFill>
                <a:latin typeface="Inter"/>
              </a:rPr>
              <a:t> Slow manual ticket tagging</a:t>
            </a:r>
          </a:p>
        </p:txBody>
      </p:sp>
      <p:sp>
        <p:nvSpPr>
          <p:cNvPr id="11" name="TextBox 10"/>
          <p:cNvSpPr txBox="1"/>
          <p:nvPr/>
        </p:nvSpPr>
        <p:spPr>
          <a:xfrm>
            <a:off x="695325" y="3743325"/>
            <a:ext cx="6018609" cy="200025"/>
          </a:xfrm>
          <a:prstGeom prst="rect">
            <a:avLst/>
          </a:prstGeom>
          <a:noFill/>
        </p:spPr>
        <p:txBody>
          <a:bodyPr wrap="none" lIns="0" tIns="0" rIns="0" bIns="0" anchor="t">
            <a:spAutoFit/>
          </a:bodyPr>
          <a:lstStyle/>
          <a:p>
            <a:pPr algn="l"/>
            <a:r>
              <a:rPr sz="1350" b="1" i="0" u="none">
                <a:solidFill>
                  <a:srgbClr val="7F1D1D"/>
                </a:solidFill>
                <a:latin typeface="Inter"/>
              </a:rPr>
              <a:t>Search Friction:</a:t>
            </a:r>
            <a:r>
              <a:rPr sz="1350" b="0" i="0" u="none">
                <a:solidFill>
                  <a:srgbClr val="7F1D1D"/>
                </a:solidFill>
                <a:latin typeface="Inter"/>
              </a:rPr>
              <a:t> Agents hunt across docs</a:t>
            </a:r>
          </a:p>
        </p:txBody>
      </p:sp>
      <p:sp>
        <p:nvSpPr>
          <p:cNvPr id="12" name="TextBox 11"/>
          <p:cNvSpPr txBox="1"/>
          <p:nvPr/>
        </p:nvSpPr>
        <p:spPr>
          <a:xfrm>
            <a:off x="695325" y="4057650"/>
            <a:ext cx="6018609" cy="200025"/>
          </a:xfrm>
          <a:prstGeom prst="rect">
            <a:avLst/>
          </a:prstGeom>
          <a:noFill/>
        </p:spPr>
        <p:txBody>
          <a:bodyPr wrap="none" lIns="0" tIns="0" rIns="0" bIns="0" anchor="t">
            <a:spAutoFit/>
          </a:bodyPr>
          <a:lstStyle/>
          <a:p>
            <a:pPr algn="l"/>
            <a:r>
              <a:rPr sz="1350" b="1" i="0" u="none">
                <a:solidFill>
                  <a:srgbClr val="7F1D1D"/>
                </a:solidFill>
                <a:latin typeface="Inter"/>
              </a:rPr>
              <a:t>Static SLA:</a:t>
            </a:r>
            <a:r>
              <a:rPr sz="1350" b="0" i="0" u="none">
                <a:solidFill>
                  <a:srgbClr val="7F1D1D"/>
                </a:solidFill>
                <a:latin typeface="Inter"/>
              </a:rPr>
              <a:t> Unmonitored breach risks</a:t>
            </a:r>
          </a:p>
        </p:txBody>
      </p:sp>
      <p:sp>
        <p:nvSpPr>
          <p:cNvPr id="13" name="TextBox 12"/>
          <p:cNvSpPr txBox="1"/>
          <p:nvPr/>
        </p:nvSpPr>
        <p:spPr>
          <a:xfrm>
            <a:off x="695325" y="4371975"/>
            <a:ext cx="6018609" cy="200025"/>
          </a:xfrm>
          <a:prstGeom prst="rect">
            <a:avLst/>
          </a:prstGeom>
          <a:noFill/>
        </p:spPr>
        <p:txBody>
          <a:bodyPr wrap="none" lIns="0" tIns="0" rIns="0" bIns="0" anchor="t">
            <a:spAutoFit/>
          </a:bodyPr>
          <a:lstStyle/>
          <a:p>
            <a:pPr algn="l"/>
            <a:r>
              <a:rPr sz="1350" b="1" i="0" u="none">
                <a:solidFill>
                  <a:srgbClr val="7F1D1D"/>
                </a:solidFill>
                <a:latin typeface="Inter"/>
              </a:rPr>
              <a:t>Repetitive Work:</a:t>
            </a:r>
            <a:r>
              <a:rPr sz="1350" b="0" i="0" u="none">
                <a:solidFill>
                  <a:srgbClr val="7F1D1D"/>
                </a:solidFill>
                <a:latin typeface="Inter"/>
              </a:rPr>
              <a:t> No automated resolutions</a:t>
            </a:r>
          </a:p>
        </p:txBody>
      </p:sp>
      <p:sp>
        <p:nvSpPr>
          <p:cNvPr id="14" name="TextBox 13"/>
          <p:cNvSpPr txBox="1"/>
          <p:nvPr/>
        </p:nvSpPr>
        <p:spPr>
          <a:xfrm>
            <a:off x="7005637" y="3038475"/>
            <a:ext cx="2737842" cy="238125"/>
          </a:xfrm>
          <a:prstGeom prst="rect">
            <a:avLst/>
          </a:prstGeom>
          <a:noFill/>
        </p:spPr>
        <p:txBody>
          <a:bodyPr wrap="none" lIns="0" tIns="0" rIns="0" bIns="0" anchor="t">
            <a:spAutoFit/>
          </a:bodyPr>
          <a:lstStyle/>
          <a:p>
            <a:pPr algn="l"/>
            <a:r>
              <a:rPr sz="1500" b="1" i="0" u="none">
                <a:solidFill>
                  <a:srgbClr val="065F46"/>
                </a:solidFill>
                <a:latin typeface="Plus Jakarta Sans"/>
              </a:rPr>
              <a:t>SupportPilot Paradigm</a:t>
            </a:r>
          </a:p>
        </p:txBody>
      </p:sp>
      <p:sp>
        <p:nvSpPr>
          <p:cNvPr id="15" name="TextBox 14"/>
          <p:cNvSpPr txBox="1"/>
          <p:nvPr/>
        </p:nvSpPr>
        <p:spPr>
          <a:xfrm>
            <a:off x="6681787" y="3429000"/>
            <a:ext cx="5510212" cy="200025"/>
          </a:xfrm>
          <a:prstGeom prst="rect">
            <a:avLst/>
          </a:prstGeom>
          <a:noFill/>
        </p:spPr>
        <p:txBody>
          <a:bodyPr wrap="none" lIns="0" tIns="0" rIns="0" bIns="0" anchor="t">
            <a:spAutoFit/>
          </a:bodyPr>
          <a:lstStyle/>
          <a:p>
            <a:pPr algn="l"/>
            <a:r>
              <a:rPr sz="1350" b="1" i="0" u="none">
                <a:solidFill>
                  <a:srgbClr val="064E3B"/>
                </a:solidFill>
                <a:latin typeface="Inter"/>
              </a:rPr>
              <a:t>AI Classification:</a:t>
            </a:r>
            <a:r>
              <a:rPr sz="1350" b="0" i="0" u="none">
                <a:solidFill>
                  <a:srgbClr val="064E3B"/>
                </a:solidFill>
                <a:latin typeface="Inter"/>
              </a:rPr>
              <a:t> Instant priority &amp; sentiment</a:t>
            </a:r>
          </a:p>
        </p:txBody>
      </p:sp>
      <p:sp>
        <p:nvSpPr>
          <p:cNvPr id="16" name="TextBox 15"/>
          <p:cNvSpPr txBox="1"/>
          <p:nvPr/>
        </p:nvSpPr>
        <p:spPr>
          <a:xfrm>
            <a:off x="6681787" y="3743325"/>
            <a:ext cx="5510212" cy="200025"/>
          </a:xfrm>
          <a:prstGeom prst="rect">
            <a:avLst/>
          </a:prstGeom>
          <a:noFill/>
        </p:spPr>
        <p:txBody>
          <a:bodyPr wrap="none" lIns="0" tIns="0" rIns="0" bIns="0" anchor="t">
            <a:spAutoFit/>
          </a:bodyPr>
          <a:lstStyle/>
          <a:p>
            <a:pPr algn="l"/>
            <a:r>
              <a:rPr sz="1350" b="1" i="0" u="none">
                <a:solidFill>
                  <a:srgbClr val="064E3B"/>
                </a:solidFill>
                <a:latin typeface="Inter"/>
              </a:rPr>
              <a:t>RAG Retrieval:</a:t>
            </a:r>
            <a:r>
              <a:rPr sz="1350" b="0" i="0" u="none">
                <a:solidFill>
                  <a:srgbClr val="064E3B"/>
                </a:solidFill>
                <a:latin typeface="Inter"/>
              </a:rPr>
              <a:t> Sub-second knowledge match</a:t>
            </a:r>
          </a:p>
        </p:txBody>
      </p:sp>
      <p:sp>
        <p:nvSpPr>
          <p:cNvPr id="17" name="TextBox 16"/>
          <p:cNvSpPr txBox="1"/>
          <p:nvPr/>
        </p:nvSpPr>
        <p:spPr>
          <a:xfrm>
            <a:off x="6681787" y="4057650"/>
            <a:ext cx="5510212" cy="200025"/>
          </a:xfrm>
          <a:prstGeom prst="rect">
            <a:avLst/>
          </a:prstGeom>
          <a:noFill/>
        </p:spPr>
        <p:txBody>
          <a:bodyPr wrap="none" lIns="0" tIns="0" rIns="0" bIns="0" anchor="t">
            <a:spAutoFit/>
          </a:bodyPr>
          <a:lstStyle/>
          <a:p>
            <a:pPr algn="l"/>
            <a:r>
              <a:rPr sz="1350" b="1" i="0" u="none">
                <a:solidFill>
                  <a:srgbClr val="064E3B"/>
                </a:solidFill>
                <a:latin typeface="Inter"/>
              </a:rPr>
              <a:t>Real-Time SLA:</a:t>
            </a:r>
            <a:r>
              <a:rPr sz="1350" b="0" i="0" u="none">
                <a:solidFill>
                  <a:srgbClr val="064E3B"/>
                </a:solidFill>
                <a:latin typeface="Inter"/>
              </a:rPr>
              <a:t> Automated escalation alerts</a:t>
            </a:r>
          </a:p>
        </p:txBody>
      </p:sp>
      <p:sp>
        <p:nvSpPr>
          <p:cNvPr id="18" name="TextBox 17"/>
          <p:cNvSpPr txBox="1"/>
          <p:nvPr/>
        </p:nvSpPr>
        <p:spPr>
          <a:xfrm>
            <a:off x="6681787" y="4371975"/>
            <a:ext cx="5510212" cy="200025"/>
          </a:xfrm>
          <a:prstGeom prst="rect">
            <a:avLst/>
          </a:prstGeom>
          <a:noFill/>
        </p:spPr>
        <p:txBody>
          <a:bodyPr wrap="none" lIns="0" tIns="0" rIns="0" bIns="0" anchor="t">
            <a:spAutoFit/>
          </a:bodyPr>
          <a:lstStyle/>
          <a:p>
            <a:pPr algn="l"/>
            <a:r>
              <a:rPr sz="1350" b="1" i="0" u="none">
                <a:solidFill>
                  <a:srgbClr val="064E3B"/>
                </a:solidFill>
                <a:latin typeface="Inter"/>
              </a:rPr>
              <a:t>Human-in-Loop:</a:t>
            </a:r>
            <a:r>
              <a:rPr sz="1350" b="0" i="0" u="none">
                <a:solidFill>
                  <a:srgbClr val="064E3B"/>
                </a:solidFill>
                <a:latin typeface="Inter"/>
              </a:rPr>
              <a:t> Smart confidence validation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9"/>
        </a:solidFill>
        <a:effectLst/>
      </p:bgPr>
    </p:bg>
    <p:spTree>
      <p:nvGrpSpPr>
        <p:cNvPr id="1" name=""/>
        <p:cNvGrpSpPr/>
        <p:nvPr/>
      </p:nvGrpSpPr>
      <p:grpSpPr>
        <a:xfrm>
          <a:off x="0" y="0"/>
          <a:ext cx="0" cy="0"/>
          <a:chOff x="0" y="0"/>
          <a:chExt cx="0" cy="0"/>
        </a:xfrm>
      </p:grpSpPr>
      <p:sp>
        <p:nvSpPr>
          <p:cNvPr id="2" name="Rounded Rectangle 1"/>
          <p:cNvSpPr/>
          <p:nvPr/>
        </p:nvSpPr>
        <p:spPr>
          <a:xfrm>
            <a:off x="457200" y="2786062"/>
            <a:ext cx="2719387" cy="9525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309937" y="2786062"/>
            <a:ext cx="2719387" cy="9525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62675" y="2786062"/>
            <a:ext cx="2719387" cy="9525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015412" y="2786062"/>
            <a:ext cx="2719387" cy="9525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3871912"/>
            <a:ext cx="2719387" cy="9525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309937" y="3871912"/>
            <a:ext cx="2719387" cy="9525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62675" y="3871912"/>
            <a:ext cx="2719387" cy="9525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015412" y="3871912"/>
            <a:ext cx="2719387" cy="9525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619125" y="2947987"/>
            <a:ext cx="2395537" cy="190500"/>
          </a:xfrm>
          <a:prstGeom prst="rect">
            <a:avLst/>
          </a:prstGeom>
        </p:spPr>
      </p:pic>
      <p:pic>
        <p:nvPicPr>
          <p:cNvPr id="11" name="Picture 10" descr="image.png"/>
          <p:cNvPicPr>
            <a:picLocks noChangeAspect="1"/>
          </p:cNvPicPr>
          <p:nvPr/>
        </p:nvPicPr>
        <p:blipFill>
          <a:blip r:embed="rId3"/>
          <a:stretch>
            <a:fillRect/>
          </a:stretch>
        </p:blipFill>
        <p:spPr>
          <a:xfrm>
            <a:off x="3471862" y="2947987"/>
            <a:ext cx="2395537" cy="190500"/>
          </a:xfrm>
          <a:prstGeom prst="rect">
            <a:avLst/>
          </a:prstGeom>
        </p:spPr>
      </p:pic>
      <p:pic>
        <p:nvPicPr>
          <p:cNvPr id="12" name="Picture 11" descr="image.png"/>
          <p:cNvPicPr>
            <a:picLocks noChangeAspect="1"/>
          </p:cNvPicPr>
          <p:nvPr/>
        </p:nvPicPr>
        <p:blipFill>
          <a:blip r:embed="rId4"/>
          <a:stretch>
            <a:fillRect/>
          </a:stretch>
        </p:blipFill>
        <p:spPr>
          <a:xfrm>
            <a:off x="6324600" y="2947987"/>
            <a:ext cx="2395537" cy="190500"/>
          </a:xfrm>
          <a:prstGeom prst="rect">
            <a:avLst/>
          </a:prstGeom>
        </p:spPr>
      </p:pic>
      <p:pic>
        <p:nvPicPr>
          <p:cNvPr id="13" name="Picture 12" descr="image.png"/>
          <p:cNvPicPr>
            <a:picLocks noChangeAspect="1"/>
          </p:cNvPicPr>
          <p:nvPr/>
        </p:nvPicPr>
        <p:blipFill>
          <a:blip r:embed="rId5"/>
          <a:stretch>
            <a:fillRect/>
          </a:stretch>
        </p:blipFill>
        <p:spPr>
          <a:xfrm>
            <a:off x="9177337" y="2947987"/>
            <a:ext cx="2395537" cy="190500"/>
          </a:xfrm>
          <a:prstGeom prst="rect">
            <a:avLst/>
          </a:prstGeom>
        </p:spPr>
      </p:pic>
      <p:pic>
        <p:nvPicPr>
          <p:cNvPr id="14" name="Picture 13" descr="image.png"/>
          <p:cNvPicPr>
            <a:picLocks noChangeAspect="1"/>
          </p:cNvPicPr>
          <p:nvPr/>
        </p:nvPicPr>
        <p:blipFill>
          <a:blip r:embed="rId6"/>
          <a:stretch>
            <a:fillRect/>
          </a:stretch>
        </p:blipFill>
        <p:spPr>
          <a:xfrm>
            <a:off x="619125" y="4033837"/>
            <a:ext cx="2395537" cy="190500"/>
          </a:xfrm>
          <a:prstGeom prst="rect">
            <a:avLst/>
          </a:prstGeom>
        </p:spPr>
      </p:pic>
      <p:pic>
        <p:nvPicPr>
          <p:cNvPr id="15" name="Picture 14" descr="image.png"/>
          <p:cNvPicPr>
            <a:picLocks noChangeAspect="1"/>
          </p:cNvPicPr>
          <p:nvPr/>
        </p:nvPicPr>
        <p:blipFill>
          <a:blip r:embed="rId7"/>
          <a:stretch>
            <a:fillRect/>
          </a:stretch>
        </p:blipFill>
        <p:spPr>
          <a:xfrm>
            <a:off x="3471862" y="4033837"/>
            <a:ext cx="2395537" cy="190500"/>
          </a:xfrm>
          <a:prstGeom prst="rect">
            <a:avLst/>
          </a:prstGeom>
        </p:spPr>
      </p:pic>
      <p:pic>
        <p:nvPicPr>
          <p:cNvPr id="16" name="Picture 15" descr="image.png"/>
          <p:cNvPicPr>
            <a:picLocks noChangeAspect="1"/>
          </p:cNvPicPr>
          <p:nvPr/>
        </p:nvPicPr>
        <p:blipFill>
          <a:blip r:embed="rId8"/>
          <a:stretch>
            <a:fillRect/>
          </a:stretch>
        </p:blipFill>
        <p:spPr>
          <a:xfrm>
            <a:off x="6324600" y="4033837"/>
            <a:ext cx="2395537" cy="190500"/>
          </a:xfrm>
          <a:prstGeom prst="rect">
            <a:avLst/>
          </a:prstGeom>
        </p:spPr>
      </p:pic>
      <p:pic>
        <p:nvPicPr>
          <p:cNvPr id="17" name="Picture 16" descr="image.png"/>
          <p:cNvPicPr>
            <a:picLocks noChangeAspect="1"/>
          </p:cNvPicPr>
          <p:nvPr/>
        </p:nvPicPr>
        <p:blipFill>
          <a:blip r:embed="rId9"/>
          <a:stretch>
            <a:fillRect/>
          </a:stretch>
        </p:blipFill>
        <p:spPr>
          <a:xfrm>
            <a:off x="9177337" y="4033837"/>
            <a:ext cx="2395537" cy="190500"/>
          </a:xfrm>
          <a:prstGeom prst="rect">
            <a:avLst/>
          </a:prstGeom>
        </p:spPr>
      </p:pic>
      <p:sp>
        <p:nvSpPr>
          <p:cNvPr id="18" name="TextBox 17"/>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FEATURE OVERVIEW</a:t>
            </a:r>
          </a:p>
        </p:txBody>
      </p:sp>
      <p:sp>
        <p:nvSpPr>
          <p:cNvPr id="19" name="TextBox 18"/>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Core Platform Functions</a:t>
            </a:r>
          </a:p>
        </p:txBody>
      </p:sp>
      <p:sp>
        <p:nvSpPr>
          <p:cNvPr id="20" name="TextBox 19"/>
          <p:cNvSpPr txBox="1"/>
          <p:nvPr/>
        </p:nvSpPr>
        <p:spPr>
          <a:xfrm>
            <a:off x="619125" y="3214687"/>
            <a:ext cx="3144142" cy="200025"/>
          </a:xfrm>
          <a:prstGeom prst="rect">
            <a:avLst/>
          </a:prstGeom>
          <a:noFill/>
        </p:spPr>
        <p:txBody>
          <a:bodyPr wrap="none" lIns="0" tIns="0" rIns="0" bIns="0" anchor="t">
            <a:spAutoFit/>
          </a:bodyPr>
          <a:lstStyle/>
          <a:p>
            <a:pPr algn="l"/>
            <a:r>
              <a:rPr sz="1200" b="1" i="0" u="none">
                <a:solidFill>
                  <a:srgbClr val="0F2922"/>
                </a:solidFill>
                <a:latin typeface="Plus Jakarta Sans"/>
              </a:rPr>
              <a:t>Ticket Creation</a:t>
            </a:r>
          </a:p>
        </p:txBody>
      </p:sp>
      <p:sp>
        <p:nvSpPr>
          <p:cNvPr id="21" name="TextBox 20"/>
          <p:cNvSpPr txBox="1"/>
          <p:nvPr/>
        </p:nvSpPr>
        <p:spPr>
          <a:xfrm>
            <a:off x="619125" y="3414712"/>
            <a:ext cx="2994421" cy="161925"/>
          </a:xfrm>
          <a:prstGeom prst="rect">
            <a:avLst/>
          </a:prstGeom>
          <a:noFill/>
        </p:spPr>
        <p:txBody>
          <a:bodyPr wrap="none" lIns="0" tIns="0" rIns="0" bIns="0" anchor="t">
            <a:spAutoFit/>
          </a:bodyPr>
          <a:lstStyle/>
          <a:p>
            <a:pPr algn="l"/>
            <a:r>
              <a:rPr sz="1050" b="0" i="0" u="none">
                <a:solidFill>
                  <a:srgbClr val="64748B"/>
                </a:solidFill>
                <a:latin typeface="Inter"/>
              </a:rPr>
              <a:t>Multi-channel customer portal intake.</a:t>
            </a:r>
          </a:p>
        </p:txBody>
      </p:sp>
      <p:sp>
        <p:nvSpPr>
          <p:cNvPr id="22" name="TextBox 21"/>
          <p:cNvSpPr txBox="1"/>
          <p:nvPr/>
        </p:nvSpPr>
        <p:spPr>
          <a:xfrm>
            <a:off x="3471862" y="3214687"/>
            <a:ext cx="3144142" cy="200025"/>
          </a:xfrm>
          <a:prstGeom prst="rect">
            <a:avLst/>
          </a:prstGeom>
          <a:noFill/>
        </p:spPr>
        <p:txBody>
          <a:bodyPr wrap="none" lIns="0" tIns="0" rIns="0" bIns="0" anchor="t">
            <a:spAutoFit/>
          </a:bodyPr>
          <a:lstStyle/>
          <a:p>
            <a:pPr algn="l"/>
            <a:r>
              <a:rPr sz="1200" b="1" i="0" u="none">
                <a:solidFill>
                  <a:srgbClr val="0F2922"/>
                </a:solidFill>
                <a:latin typeface="Plus Jakarta Sans"/>
              </a:rPr>
              <a:t>AI Classification</a:t>
            </a:r>
          </a:p>
        </p:txBody>
      </p:sp>
      <p:sp>
        <p:nvSpPr>
          <p:cNvPr id="23" name="TextBox 22"/>
          <p:cNvSpPr txBox="1"/>
          <p:nvPr/>
        </p:nvSpPr>
        <p:spPr>
          <a:xfrm>
            <a:off x="3471862" y="3414712"/>
            <a:ext cx="2994421" cy="161925"/>
          </a:xfrm>
          <a:prstGeom prst="rect">
            <a:avLst/>
          </a:prstGeom>
          <a:noFill/>
        </p:spPr>
        <p:txBody>
          <a:bodyPr wrap="none" lIns="0" tIns="0" rIns="0" bIns="0" anchor="t">
            <a:spAutoFit/>
          </a:bodyPr>
          <a:lstStyle/>
          <a:p>
            <a:pPr algn="l"/>
            <a:r>
              <a:rPr sz="1050" b="0" i="0" u="none">
                <a:solidFill>
                  <a:srgbClr val="64748B"/>
                </a:solidFill>
                <a:latin typeface="Inter"/>
              </a:rPr>
              <a:t>Category &amp; intent tagging.</a:t>
            </a:r>
          </a:p>
        </p:txBody>
      </p:sp>
      <p:sp>
        <p:nvSpPr>
          <p:cNvPr id="24" name="TextBox 23"/>
          <p:cNvSpPr txBox="1"/>
          <p:nvPr/>
        </p:nvSpPr>
        <p:spPr>
          <a:xfrm>
            <a:off x="6324600" y="3214687"/>
            <a:ext cx="3144142" cy="200025"/>
          </a:xfrm>
          <a:prstGeom prst="rect">
            <a:avLst/>
          </a:prstGeom>
          <a:noFill/>
        </p:spPr>
        <p:txBody>
          <a:bodyPr wrap="none" lIns="0" tIns="0" rIns="0" bIns="0" anchor="t">
            <a:spAutoFit/>
          </a:bodyPr>
          <a:lstStyle/>
          <a:p>
            <a:pPr algn="l"/>
            <a:r>
              <a:rPr sz="1200" b="1" i="0" u="none">
                <a:solidFill>
                  <a:srgbClr val="0F2922"/>
                </a:solidFill>
                <a:latin typeface="Plus Jakarta Sans"/>
              </a:rPr>
              <a:t>Priority &amp; Severity</a:t>
            </a:r>
          </a:p>
        </p:txBody>
      </p:sp>
      <p:sp>
        <p:nvSpPr>
          <p:cNvPr id="25" name="TextBox 24"/>
          <p:cNvSpPr txBox="1"/>
          <p:nvPr/>
        </p:nvSpPr>
        <p:spPr>
          <a:xfrm>
            <a:off x="6324600" y="3414712"/>
            <a:ext cx="2994421" cy="161925"/>
          </a:xfrm>
          <a:prstGeom prst="rect">
            <a:avLst/>
          </a:prstGeom>
          <a:noFill/>
        </p:spPr>
        <p:txBody>
          <a:bodyPr wrap="none" lIns="0" tIns="0" rIns="0" bIns="0" anchor="t">
            <a:spAutoFit/>
          </a:bodyPr>
          <a:lstStyle/>
          <a:p>
            <a:pPr algn="l"/>
            <a:r>
              <a:rPr sz="1050" b="0" i="0" u="none">
                <a:solidFill>
                  <a:srgbClr val="64748B"/>
                </a:solidFill>
                <a:latin typeface="Inter"/>
              </a:rPr>
              <a:t>Automated urgency rating.</a:t>
            </a:r>
          </a:p>
        </p:txBody>
      </p:sp>
      <p:sp>
        <p:nvSpPr>
          <p:cNvPr id="26" name="TextBox 25"/>
          <p:cNvSpPr txBox="1"/>
          <p:nvPr/>
        </p:nvSpPr>
        <p:spPr>
          <a:xfrm>
            <a:off x="9177337" y="3214687"/>
            <a:ext cx="3014662" cy="200025"/>
          </a:xfrm>
          <a:prstGeom prst="rect">
            <a:avLst/>
          </a:prstGeom>
          <a:noFill/>
        </p:spPr>
        <p:txBody>
          <a:bodyPr wrap="none" lIns="0" tIns="0" rIns="0" bIns="0" anchor="t">
            <a:spAutoFit/>
          </a:bodyPr>
          <a:lstStyle/>
          <a:p>
            <a:pPr algn="l"/>
            <a:r>
              <a:rPr sz="1200" b="1" i="0" u="none">
                <a:solidFill>
                  <a:srgbClr val="0F2922"/>
                </a:solidFill>
                <a:latin typeface="Plus Jakarta Sans"/>
              </a:rPr>
              <a:t>Sentiment Analysis</a:t>
            </a:r>
          </a:p>
        </p:txBody>
      </p:sp>
      <p:sp>
        <p:nvSpPr>
          <p:cNvPr id="27" name="TextBox 26"/>
          <p:cNvSpPr txBox="1"/>
          <p:nvPr/>
        </p:nvSpPr>
        <p:spPr>
          <a:xfrm>
            <a:off x="9177337" y="3414712"/>
            <a:ext cx="2994421" cy="161925"/>
          </a:xfrm>
          <a:prstGeom prst="rect">
            <a:avLst/>
          </a:prstGeom>
          <a:noFill/>
        </p:spPr>
        <p:txBody>
          <a:bodyPr wrap="none" lIns="0" tIns="0" rIns="0" bIns="0" anchor="t">
            <a:spAutoFit/>
          </a:bodyPr>
          <a:lstStyle/>
          <a:p>
            <a:pPr algn="l"/>
            <a:r>
              <a:rPr sz="1050" b="0" i="0" u="none">
                <a:solidFill>
                  <a:srgbClr val="64748B"/>
                </a:solidFill>
                <a:latin typeface="Inter"/>
              </a:rPr>
              <a:t>Customer mood detection.</a:t>
            </a:r>
          </a:p>
        </p:txBody>
      </p:sp>
      <p:sp>
        <p:nvSpPr>
          <p:cNvPr id="28" name="TextBox 27"/>
          <p:cNvSpPr txBox="1"/>
          <p:nvPr/>
        </p:nvSpPr>
        <p:spPr>
          <a:xfrm>
            <a:off x="619125" y="4300537"/>
            <a:ext cx="3144142" cy="200025"/>
          </a:xfrm>
          <a:prstGeom prst="rect">
            <a:avLst/>
          </a:prstGeom>
          <a:noFill/>
        </p:spPr>
        <p:txBody>
          <a:bodyPr wrap="none" lIns="0" tIns="0" rIns="0" bIns="0" anchor="t">
            <a:spAutoFit/>
          </a:bodyPr>
          <a:lstStyle/>
          <a:p>
            <a:pPr algn="l"/>
            <a:r>
              <a:rPr sz="1200" b="1" i="0" u="none">
                <a:solidFill>
                  <a:srgbClr val="0F2922"/>
                </a:solidFill>
                <a:latin typeface="Plus Jakarta Sans"/>
              </a:rPr>
              <a:t>RAG Knowledge</a:t>
            </a:r>
          </a:p>
        </p:txBody>
      </p:sp>
      <p:sp>
        <p:nvSpPr>
          <p:cNvPr id="29" name="TextBox 28"/>
          <p:cNvSpPr txBox="1"/>
          <p:nvPr/>
        </p:nvSpPr>
        <p:spPr>
          <a:xfrm>
            <a:off x="619125" y="4500562"/>
            <a:ext cx="2994421" cy="161925"/>
          </a:xfrm>
          <a:prstGeom prst="rect">
            <a:avLst/>
          </a:prstGeom>
          <a:noFill/>
        </p:spPr>
        <p:txBody>
          <a:bodyPr wrap="none" lIns="0" tIns="0" rIns="0" bIns="0" anchor="t">
            <a:spAutoFit/>
          </a:bodyPr>
          <a:lstStyle/>
          <a:p>
            <a:pPr algn="l"/>
            <a:r>
              <a:rPr sz="1050" b="0" i="0" u="none">
                <a:solidFill>
                  <a:srgbClr val="64748B"/>
                </a:solidFill>
                <a:latin typeface="Inter"/>
              </a:rPr>
              <a:t>Contextual vector lookup.</a:t>
            </a:r>
          </a:p>
        </p:txBody>
      </p:sp>
      <p:sp>
        <p:nvSpPr>
          <p:cNvPr id="30" name="TextBox 29"/>
          <p:cNvSpPr txBox="1"/>
          <p:nvPr/>
        </p:nvSpPr>
        <p:spPr>
          <a:xfrm>
            <a:off x="3471862" y="4300537"/>
            <a:ext cx="3144142" cy="200025"/>
          </a:xfrm>
          <a:prstGeom prst="rect">
            <a:avLst/>
          </a:prstGeom>
          <a:noFill/>
        </p:spPr>
        <p:txBody>
          <a:bodyPr wrap="none" lIns="0" tIns="0" rIns="0" bIns="0" anchor="t">
            <a:spAutoFit/>
          </a:bodyPr>
          <a:lstStyle/>
          <a:p>
            <a:pPr algn="l"/>
            <a:r>
              <a:rPr sz="1200" b="1" i="0" u="none">
                <a:solidFill>
                  <a:srgbClr val="0F2922"/>
                </a:solidFill>
                <a:latin typeface="Plus Jakarta Sans"/>
              </a:rPr>
              <a:t>AI Resolution</a:t>
            </a:r>
          </a:p>
        </p:txBody>
      </p:sp>
      <p:sp>
        <p:nvSpPr>
          <p:cNvPr id="31" name="TextBox 30"/>
          <p:cNvSpPr txBox="1"/>
          <p:nvPr/>
        </p:nvSpPr>
        <p:spPr>
          <a:xfrm>
            <a:off x="3471862" y="4500562"/>
            <a:ext cx="2994421" cy="161925"/>
          </a:xfrm>
          <a:prstGeom prst="rect">
            <a:avLst/>
          </a:prstGeom>
          <a:noFill/>
        </p:spPr>
        <p:txBody>
          <a:bodyPr wrap="none" lIns="0" tIns="0" rIns="0" bIns="0" anchor="t">
            <a:spAutoFit/>
          </a:bodyPr>
          <a:lstStyle/>
          <a:p>
            <a:pPr algn="l"/>
            <a:r>
              <a:rPr sz="1050" b="0" i="0" u="none">
                <a:solidFill>
                  <a:srgbClr val="64748B"/>
                </a:solidFill>
                <a:latin typeface="Inter"/>
              </a:rPr>
              <a:t>Auto response drafting.</a:t>
            </a:r>
          </a:p>
        </p:txBody>
      </p:sp>
      <p:sp>
        <p:nvSpPr>
          <p:cNvPr id="32" name="TextBox 31"/>
          <p:cNvSpPr txBox="1"/>
          <p:nvPr/>
        </p:nvSpPr>
        <p:spPr>
          <a:xfrm>
            <a:off x="6324600" y="4300537"/>
            <a:ext cx="3144142" cy="200025"/>
          </a:xfrm>
          <a:prstGeom prst="rect">
            <a:avLst/>
          </a:prstGeom>
          <a:noFill/>
        </p:spPr>
        <p:txBody>
          <a:bodyPr wrap="none" lIns="0" tIns="0" rIns="0" bIns="0" anchor="t">
            <a:spAutoFit/>
          </a:bodyPr>
          <a:lstStyle/>
          <a:p>
            <a:pPr algn="l"/>
            <a:r>
              <a:rPr sz="1200" b="1" i="0" u="none">
                <a:solidFill>
                  <a:srgbClr val="0F2922"/>
                </a:solidFill>
                <a:latin typeface="Plus Jakarta Sans"/>
              </a:rPr>
              <a:t>SLA Monitoring</a:t>
            </a:r>
          </a:p>
        </p:txBody>
      </p:sp>
      <p:sp>
        <p:nvSpPr>
          <p:cNvPr id="33" name="TextBox 32"/>
          <p:cNvSpPr txBox="1"/>
          <p:nvPr/>
        </p:nvSpPr>
        <p:spPr>
          <a:xfrm>
            <a:off x="6324600" y="4500562"/>
            <a:ext cx="2994421" cy="161925"/>
          </a:xfrm>
          <a:prstGeom prst="rect">
            <a:avLst/>
          </a:prstGeom>
          <a:noFill/>
        </p:spPr>
        <p:txBody>
          <a:bodyPr wrap="none" lIns="0" tIns="0" rIns="0" bIns="0" anchor="t">
            <a:spAutoFit/>
          </a:bodyPr>
          <a:lstStyle/>
          <a:p>
            <a:pPr algn="l"/>
            <a:r>
              <a:rPr sz="1050" b="0" i="0" u="none">
                <a:solidFill>
                  <a:srgbClr val="64748B"/>
                </a:solidFill>
                <a:latin typeface="Inter"/>
              </a:rPr>
              <a:t>Real-time breach alerts.</a:t>
            </a:r>
          </a:p>
        </p:txBody>
      </p:sp>
      <p:sp>
        <p:nvSpPr>
          <p:cNvPr id="34" name="TextBox 33"/>
          <p:cNvSpPr txBox="1"/>
          <p:nvPr/>
        </p:nvSpPr>
        <p:spPr>
          <a:xfrm>
            <a:off x="9177337" y="4300537"/>
            <a:ext cx="3014662" cy="200025"/>
          </a:xfrm>
          <a:prstGeom prst="rect">
            <a:avLst/>
          </a:prstGeom>
          <a:noFill/>
        </p:spPr>
        <p:txBody>
          <a:bodyPr wrap="none" lIns="0" tIns="0" rIns="0" bIns="0" anchor="t">
            <a:spAutoFit/>
          </a:bodyPr>
          <a:lstStyle/>
          <a:p>
            <a:pPr algn="l"/>
            <a:r>
              <a:rPr sz="1200" b="1" i="0" u="none">
                <a:solidFill>
                  <a:srgbClr val="0F2922"/>
                </a:solidFill>
                <a:latin typeface="Plus Jakarta Sans"/>
              </a:rPr>
              <a:t>Analytics</a:t>
            </a:r>
          </a:p>
        </p:txBody>
      </p:sp>
      <p:sp>
        <p:nvSpPr>
          <p:cNvPr id="35" name="TextBox 34"/>
          <p:cNvSpPr txBox="1"/>
          <p:nvPr/>
        </p:nvSpPr>
        <p:spPr>
          <a:xfrm>
            <a:off x="9177337" y="4500562"/>
            <a:ext cx="2994421" cy="161925"/>
          </a:xfrm>
          <a:prstGeom prst="rect">
            <a:avLst/>
          </a:prstGeom>
          <a:noFill/>
        </p:spPr>
        <p:txBody>
          <a:bodyPr wrap="none" lIns="0" tIns="0" rIns="0" bIns="0" anchor="t">
            <a:spAutoFit/>
          </a:bodyPr>
          <a:lstStyle/>
          <a:p>
            <a:pPr algn="l"/>
            <a:r>
              <a:rPr sz="1050" b="0" i="0" u="none">
                <a:solidFill>
                  <a:srgbClr val="64748B"/>
                </a:solidFill>
                <a:latin typeface="Inter"/>
              </a:rPr>
              <a:t>Performance dashboards.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1606450"/>
            <a:ext cx="11277600" cy="733425"/>
          </a:xfrm>
          <a:prstGeom prst="roundRect">
            <a:avLst>
              <a:gd name="adj" fmla="val 10389"/>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57200" y="5460801"/>
            <a:ext cx="11277600" cy="457200"/>
          </a:xfrm>
          <a:prstGeom prst="roundRect">
            <a:avLst>
              <a:gd name="adj" fmla="val 16666"/>
            </a:avLst>
          </a:prstGeom>
          <a:solidFill>
            <a:srgbClr val="0F2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3533626"/>
            <a:ext cx="5543550" cy="733425"/>
          </a:xfrm>
          <a:prstGeom prst="roundRect">
            <a:avLst>
              <a:gd name="adj" fmla="val 10389"/>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91250" y="3533626"/>
            <a:ext cx="5543550" cy="733425"/>
          </a:xfrm>
          <a:prstGeom prst="roundRect">
            <a:avLst>
              <a:gd name="adj" fmla="val 10389"/>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2748855" y="1916013"/>
            <a:ext cx="76200" cy="114300"/>
          </a:xfrm>
          <a:prstGeom prst="rect">
            <a:avLst/>
          </a:prstGeom>
        </p:spPr>
      </p:pic>
      <p:pic>
        <p:nvPicPr>
          <p:cNvPr id="7" name="Picture 6" descr="image.png"/>
          <p:cNvPicPr>
            <a:picLocks noChangeAspect="1"/>
          </p:cNvPicPr>
          <p:nvPr/>
        </p:nvPicPr>
        <p:blipFill>
          <a:blip r:embed="rId2"/>
          <a:stretch>
            <a:fillRect/>
          </a:stretch>
        </p:blipFill>
        <p:spPr>
          <a:xfrm>
            <a:off x="4954785" y="1916013"/>
            <a:ext cx="76200" cy="114300"/>
          </a:xfrm>
          <a:prstGeom prst="rect">
            <a:avLst/>
          </a:prstGeom>
        </p:spPr>
      </p:pic>
      <p:pic>
        <p:nvPicPr>
          <p:cNvPr id="8" name="Picture 7" descr="image.png"/>
          <p:cNvPicPr>
            <a:picLocks noChangeAspect="1"/>
          </p:cNvPicPr>
          <p:nvPr/>
        </p:nvPicPr>
        <p:blipFill>
          <a:blip r:embed="rId2"/>
          <a:stretch>
            <a:fillRect/>
          </a:stretch>
        </p:blipFill>
        <p:spPr>
          <a:xfrm>
            <a:off x="7160716" y="1916013"/>
            <a:ext cx="76200" cy="114300"/>
          </a:xfrm>
          <a:prstGeom prst="rect">
            <a:avLst/>
          </a:prstGeom>
        </p:spPr>
      </p:pic>
      <p:pic>
        <p:nvPicPr>
          <p:cNvPr id="9" name="Picture 8" descr="image.png"/>
          <p:cNvPicPr>
            <a:picLocks noChangeAspect="1"/>
          </p:cNvPicPr>
          <p:nvPr/>
        </p:nvPicPr>
        <p:blipFill>
          <a:blip r:embed="rId2"/>
          <a:stretch>
            <a:fillRect/>
          </a:stretch>
        </p:blipFill>
        <p:spPr>
          <a:xfrm>
            <a:off x="9366646" y="1916013"/>
            <a:ext cx="76200" cy="114300"/>
          </a:xfrm>
          <a:prstGeom prst="rect">
            <a:avLst/>
          </a:prstGeom>
        </p:spPr>
      </p:pic>
      <p:sp>
        <p:nvSpPr>
          <p:cNvPr id="10" name="TextBox 9"/>
          <p:cNvSpPr txBox="1"/>
          <p:nvPr/>
        </p:nvSpPr>
        <p:spPr>
          <a:xfrm>
            <a:off x="457200" y="3429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END-TO-END PIPELINE</a:t>
            </a:r>
          </a:p>
        </p:txBody>
      </p:sp>
      <p:sp>
        <p:nvSpPr>
          <p:cNvPr id="11" name="TextBox 10"/>
          <p:cNvSpPr txBox="1"/>
          <p:nvPr/>
        </p:nvSpPr>
        <p:spPr>
          <a:xfrm>
            <a:off x="457200" y="523875"/>
            <a:ext cx="11734800" cy="333375"/>
          </a:xfrm>
          <a:prstGeom prst="rect">
            <a:avLst/>
          </a:prstGeom>
          <a:noFill/>
        </p:spPr>
        <p:txBody>
          <a:bodyPr wrap="none" lIns="0" tIns="0" rIns="0" bIns="0" anchor="t">
            <a:spAutoFit/>
          </a:bodyPr>
          <a:lstStyle/>
          <a:p>
            <a:pPr algn="l"/>
            <a:r>
              <a:rPr sz="2100" b="1" i="0" u="none">
                <a:solidFill>
                  <a:srgbClr val="0F2922"/>
                </a:solidFill>
                <a:latin typeface="Plus Jakarta Sans"/>
              </a:rPr>
              <a:t>System Workflow</a:t>
            </a:r>
          </a:p>
        </p:txBody>
      </p:sp>
      <p:sp>
        <p:nvSpPr>
          <p:cNvPr id="12" name="TextBox 11"/>
          <p:cNvSpPr txBox="1"/>
          <p:nvPr/>
        </p:nvSpPr>
        <p:spPr>
          <a:xfrm>
            <a:off x="-381000" y="5594151"/>
            <a:ext cx="12954000" cy="190500"/>
          </a:xfrm>
          <a:prstGeom prst="rect">
            <a:avLst/>
          </a:prstGeom>
          <a:noFill/>
        </p:spPr>
        <p:txBody>
          <a:bodyPr wrap="square" lIns="0" tIns="0" rIns="0" bIns="0" anchor="t">
            <a:spAutoFit/>
          </a:bodyPr>
          <a:lstStyle/>
          <a:p>
            <a:pPr algn="ctr"/>
            <a:r>
              <a:rPr sz="1050" b="1" i="0" u="none">
                <a:solidFill>
                  <a:srgbClr val="2DD4BF"/>
                </a:solidFill>
                <a:latin typeface="Inter"/>
              </a:rPr>
              <a:t>Lifecycle Reopen State: </a:t>
            </a:r>
            <a:r>
              <a:rPr sz="1125" b="1" i="0" u="none">
                <a:solidFill>
                  <a:srgbClr val="F8FAFC"/>
                </a:solidFill>
                <a:latin typeface="Inter"/>
              </a:rPr>
              <a:t>Resolved → Reopened by Customer → In Progress → Final Resolution</a:t>
            </a:r>
          </a:p>
        </p:txBody>
      </p:sp>
      <p:sp>
        <p:nvSpPr>
          <p:cNvPr id="13" name="TextBox 12"/>
          <p:cNvSpPr txBox="1"/>
          <p:nvPr/>
        </p:nvSpPr>
        <p:spPr>
          <a:xfrm>
            <a:off x="352908" y="1806475"/>
            <a:ext cx="2662163" cy="333375"/>
          </a:xfrm>
          <a:prstGeom prst="rect">
            <a:avLst/>
          </a:prstGeom>
          <a:noFill/>
        </p:spPr>
        <p:txBody>
          <a:bodyPr wrap="square" lIns="0" tIns="0" rIns="0" bIns="0" anchor="t">
            <a:spAutoFit/>
          </a:bodyPr>
          <a:lstStyle/>
          <a:p>
            <a:pPr algn="ctr"/>
            <a:r>
              <a:rPr sz="900" b="1" i="0" u="none">
                <a:solidFill>
                  <a:srgbClr val="0D9488"/>
                </a:solidFill>
                <a:latin typeface="Inter"/>
              </a:rPr>
              <a:t>STEP 1 </a:t>
            </a:r>
            <a:r>
              <a:rPr sz="1050" b="1" i="0" u="none">
                <a:solidFill>
                  <a:srgbClr val="0F2922"/>
                </a:solidFill>
                <a:latin typeface="Inter"/>
              </a:rPr>
              <a:t>Login &amp; Intake</a:t>
            </a:r>
          </a:p>
        </p:txBody>
      </p:sp>
      <p:sp>
        <p:nvSpPr>
          <p:cNvPr id="14" name="TextBox 13"/>
          <p:cNvSpPr txBox="1"/>
          <p:nvPr/>
        </p:nvSpPr>
        <p:spPr>
          <a:xfrm>
            <a:off x="2558839" y="1806475"/>
            <a:ext cx="2662163" cy="333375"/>
          </a:xfrm>
          <a:prstGeom prst="rect">
            <a:avLst/>
          </a:prstGeom>
          <a:noFill/>
        </p:spPr>
        <p:txBody>
          <a:bodyPr wrap="square" lIns="0" tIns="0" rIns="0" bIns="0" anchor="t">
            <a:spAutoFit/>
          </a:bodyPr>
          <a:lstStyle/>
          <a:p>
            <a:pPr algn="ctr"/>
            <a:r>
              <a:rPr sz="900" b="1" i="0" u="none">
                <a:solidFill>
                  <a:srgbClr val="0D9488"/>
                </a:solidFill>
                <a:latin typeface="Inter"/>
              </a:rPr>
              <a:t>STEP 2 </a:t>
            </a:r>
            <a:r>
              <a:rPr sz="1050" b="1" i="0" u="none">
                <a:solidFill>
                  <a:srgbClr val="0F2922"/>
                </a:solidFill>
                <a:latin typeface="Inter"/>
              </a:rPr>
              <a:t>AI Classification</a:t>
            </a:r>
          </a:p>
        </p:txBody>
      </p:sp>
      <p:sp>
        <p:nvSpPr>
          <p:cNvPr id="15" name="TextBox 14"/>
          <p:cNvSpPr txBox="1"/>
          <p:nvPr/>
        </p:nvSpPr>
        <p:spPr>
          <a:xfrm>
            <a:off x="4764769" y="1806475"/>
            <a:ext cx="2662163" cy="333375"/>
          </a:xfrm>
          <a:prstGeom prst="rect">
            <a:avLst/>
          </a:prstGeom>
          <a:noFill/>
        </p:spPr>
        <p:txBody>
          <a:bodyPr wrap="square" lIns="0" tIns="0" rIns="0" bIns="0" anchor="t">
            <a:spAutoFit/>
          </a:bodyPr>
          <a:lstStyle/>
          <a:p>
            <a:pPr algn="ctr"/>
            <a:r>
              <a:rPr sz="900" b="1" i="0" u="none">
                <a:solidFill>
                  <a:srgbClr val="0D9488"/>
                </a:solidFill>
                <a:latin typeface="Inter"/>
              </a:rPr>
              <a:t>STEP 3 </a:t>
            </a:r>
            <a:r>
              <a:rPr sz="1050" b="1" i="0" u="none">
                <a:solidFill>
                  <a:srgbClr val="0F2922"/>
                </a:solidFill>
                <a:latin typeface="Inter"/>
              </a:rPr>
              <a:t>RAG Search</a:t>
            </a:r>
          </a:p>
        </p:txBody>
      </p:sp>
      <p:sp>
        <p:nvSpPr>
          <p:cNvPr id="16" name="TextBox 15"/>
          <p:cNvSpPr txBox="1"/>
          <p:nvPr/>
        </p:nvSpPr>
        <p:spPr>
          <a:xfrm>
            <a:off x="6970700" y="1806475"/>
            <a:ext cx="2662163" cy="333375"/>
          </a:xfrm>
          <a:prstGeom prst="rect">
            <a:avLst/>
          </a:prstGeom>
          <a:noFill/>
        </p:spPr>
        <p:txBody>
          <a:bodyPr wrap="square" lIns="0" tIns="0" rIns="0" bIns="0" anchor="t">
            <a:spAutoFit/>
          </a:bodyPr>
          <a:lstStyle/>
          <a:p>
            <a:pPr algn="ctr"/>
            <a:r>
              <a:rPr sz="900" b="1" i="0" u="none">
                <a:solidFill>
                  <a:srgbClr val="0D9488"/>
                </a:solidFill>
                <a:latin typeface="Inter"/>
              </a:rPr>
              <a:t>STEP 4 </a:t>
            </a:r>
            <a:r>
              <a:rPr sz="1050" b="1" i="0" u="none">
                <a:solidFill>
                  <a:srgbClr val="0F2922"/>
                </a:solidFill>
                <a:latin typeface="Inter"/>
              </a:rPr>
              <a:t>AI Resolution</a:t>
            </a:r>
          </a:p>
        </p:txBody>
      </p:sp>
      <p:sp>
        <p:nvSpPr>
          <p:cNvPr id="17" name="TextBox 16"/>
          <p:cNvSpPr txBox="1"/>
          <p:nvPr/>
        </p:nvSpPr>
        <p:spPr>
          <a:xfrm>
            <a:off x="9176630" y="1806475"/>
            <a:ext cx="2662163" cy="333375"/>
          </a:xfrm>
          <a:prstGeom prst="rect">
            <a:avLst/>
          </a:prstGeom>
          <a:noFill/>
        </p:spPr>
        <p:txBody>
          <a:bodyPr wrap="square" lIns="0" tIns="0" rIns="0" bIns="0" anchor="t">
            <a:spAutoFit/>
          </a:bodyPr>
          <a:lstStyle/>
          <a:p>
            <a:pPr algn="ctr"/>
            <a:r>
              <a:rPr sz="900" b="1" i="0" u="none">
                <a:solidFill>
                  <a:srgbClr val="0D9488"/>
                </a:solidFill>
                <a:latin typeface="Inter"/>
              </a:rPr>
              <a:t>STEP 5 </a:t>
            </a:r>
            <a:r>
              <a:rPr sz="1050" b="1" i="0" u="none">
                <a:solidFill>
                  <a:srgbClr val="0F2922"/>
                </a:solidFill>
                <a:latin typeface="Inter"/>
              </a:rPr>
              <a:t>Confidence Gate</a:t>
            </a:r>
          </a:p>
        </p:txBody>
      </p:sp>
      <p:sp>
        <p:nvSpPr>
          <p:cNvPr id="18" name="TextBox 17"/>
          <p:cNvSpPr txBox="1"/>
          <p:nvPr/>
        </p:nvSpPr>
        <p:spPr>
          <a:xfrm>
            <a:off x="619125" y="3695551"/>
            <a:ext cx="6524625" cy="161925"/>
          </a:xfrm>
          <a:prstGeom prst="rect">
            <a:avLst/>
          </a:prstGeom>
          <a:noFill/>
        </p:spPr>
        <p:txBody>
          <a:bodyPr wrap="none" lIns="0" tIns="0" rIns="0" bIns="0" anchor="t">
            <a:spAutoFit/>
          </a:bodyPr>
          <a:lstStyle/>
          <a:p>
            <a:pPr algn="l"/>
            <a:r>
              <a:rPr sz="1050" b="1" i="0" u="none">
                <a:solidFill>
                  <a:srgbClr val="065F46"/>
                </a:solidFill>
                <a:latin typeface="Inter"/>
              </a:rPr>
              <a:t>PATH A: High Confidence (&gt;85%)</a:t>
            </a:r>
          </a:p>
        </p:txBody>
      </p:sp>
      <p:sp>
        <p:nvSpPr>
          <p:cNvPr id="19" name="TextBox 18"/>
          <p:cNvSpPr txBox="1"/>
          <p:nvPr/>
        </p:nvSpPr>
        <p:spPr>
          <a:xfrm>
            <a:off x="619125" y="3895576"/>
            <a:ext cx="6524625" cy="209550"/>
          </a:xfrm>
          <a:prstGeom prst="rect">
            <a:avLst/>
          </a:prstGeom>
          <a:noFill/>
        </p:spPr>
        <p:txBody>
          <a:bodyPr wrap="none" lIns="0" tIns="0" rIns="0" bIns="0" anchor="t">
            <a:spAutoFit/>
          </a:bodyPr>
          <a:lstStyle/>
          <a:p>
            <a:pPr algn="l"/>
            <a:r>
              <a:rPr sz="1350" b="0" i="0" u="none">
                <a:solidFill>
                  <a:srgbClr val="047857"/>
                </a:solidFill>
                <a:latin typeface="Inter"/>
              </a:rPr>
              <a:t>Auto-sent to customer → Customer Confirmation → Closed</a:t>
            </a:r>
          </a:p>
        </p:txBody>
      </p:sp>
      <p:sp>
        <p:nvSpPr>
          <p:cNvPr id="20" name="TextBox 19"/>
          <p:cNvSpPr txBox="1"/>
          <p:nvPr/>
        </p:nvSpPr>
        <p:spPr>
          <a:xfrm>
            <a:off x="6353175" y="3695551"/>
            <a:ext cx="5838825" cy="161925"/>
          </a:xfrm>
          <a:prstGeom prst="rect">
            <a:avLst/>
          </a:prstGeom>
          <a:noFill/>
        </p:spPr>
        <p:txBody>
          <a:bodyPr wrap="none" lIns="0" tIns="0" rIns="0" bIns="0" anchor="t">
            <a:spAutoFit/>
          </a:bodyPr>
          <a:lstStyle/>
          <a:p>
            <a:pPr algn="l"/>
            <a:r>
              <a:rPr sz="1050" b="1" i="0" u="none">
                <a:solidFill>
                  <a:srgbClr val="92400E"/>
                </a:solidFill>
                <a:latin typeface="Inter"/>
              </a:rPr>
              <a:t>PATH B: Low Confidence (&lt;85%)</a:t>
            </a:r>
          </a:p>
        </p:txBody>
      </p:sp>
      <p:sp>
        <p:nvSpPr>
          <p:cNvPr id="21" name="TextBox 20"/>
          <p:cNvSpPr txBox="1"/>
          <p:nvPr/>
        </p:nvSpPr>
        <p:spPr>
          <a:xfrm>
            <a:off x="6353175" y="3895576"/>
            <a:ext cx="5838825" cy="209550"/>
          </a:xfrm>
          <a:prstGeom prst="rect">
            <a:avLst/>
          </a:prstGeom>
          <a:noFill/>
        </p:spPr>
        <p:txBody>
          <a:bodyPr wrap="none" lIns="0" tIns="0" rIns="0" bIns="0" anchor="t">
            <a:spAutoFit/>
          </a:bodyPr>
          <a:lstStyle/>
          <a:p>
            <a:pPr algn="l"/>
            <a:r>
              <a:rPr sz="1350" b="0" i="0" u="none">
                <a:solidFill>
                  <a:srgbClr val="B45309"/>
                </a:solidFill>
                <a:latin typeface="Inter"/>
              </a:rPr>
              <a:t>Escalated to Support Agent → Review &amp; Send → Closed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9"/>
        </a:solidFill>
        <a:effectLst/>
      </p:bgPr>
    </p:bg>
    <p:spTree>
      <p:nvGrpSpPr>
        <p:cNvPr id="1" name=""/>
        <p:cNvGrpSpPr/>
        <p:nvPr/>
      </p:nvGrpSpPr>
      <p:grpSpPr>
        <a:xfrm>
          <a:off x="0" y="0"/>
          <a:ext cx="0" cy="0"/>
          <a:chOff x="0" y="0"/>
          <a:chExt cx="0" cy="0"/>
        </a:xfrm>
      </p:grpSpPr>
      <p:sp>
        <p:nvSpPr>
          <p:cNvPr id="2" name="Rounded Rectangle 1"/>
          <p:cNvSpPr/>
          <p:nvPr/>
        </p:nvSpPr>
        <p:spPr>
          <a:xfrm>
            <a:off x="457200" y="2271712"/>
            <a:ext cx="2705100" cy="3067050"/>
          </a:xfrm>
          <a:prstGeom prst="roundRect">
            <a:avLst>
              <a:gd name="adj" fmla="val 281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314700" y="2271712"/>
            <a:ext cx="2705100" cy="3067050"/>
          </a:xfrm>
          <a:prstGeom prst="roundRect">
            <a:avLst>
              <a:gd name="adj" fmla="val 281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72200" y="2271712"/>
            <a:ext cx="2705100" cy="3067050"/>
          </a:xfrm>
          <a:prstGeom prst="roundRect">
            <a:avLst>
              <a:gd name="adj" fmla="val 281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029700" y="2271712"/>
            <a:ext cx="2705100" cy="3067050"/>
          </a:xfrm>
          <a:prstGeom prst="roundRect">
            <a:avLst>
              <a:gd name="adj" fmla="val 281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5329237"/>
            <a:ext cx="2705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271712"/>
            <a:ext cx="270510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271712"/>
            <a:ext cx="9525" cy="3067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152775" y="2271712"/>
            <a:ext cx="9525" cy="3067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14700" y="5329237"/>
            <a:ext cx="2705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14700" y="2271712"/>
            <a:ext cx="270510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14700" y="2271712"/>
            <a:ext cx="9525" cy="3067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10275" y="2271712"/>
            <a:ext cx="9525" cy="3067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5329237"/>
            <a:ext cx="2705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2271712"/>
            <a:ext cx="270510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72200" y="2271712"/>
            <a:ext cx="9525" cy="3067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867775" y="2271712"/>
            <a:ext cx="9525" cy="3067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29700" y="5329237"/>
            <a:ext cx="2705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29700" y="2271712"/>
            <a:ext cx="270510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029700" y="2271712"/>
            <a:ext cx="9525" cy="3067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1725275" y="2271712"/>
            <a:ext cx="9525" cy="3067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2"/>
          <a:stretch>
            <a:fillRect/>
          </a:stretch>
        </p:blipFill>
        <p:spPr>
          <a:xfrm>
            <a:off x="657225" y="2538412"/>
            <a:ext cx="152400" cy="171450"/>
          </a:xfrm>
          <a:prstGeom prst="rect">
            <a:avLst/>
          </a:prstGeom>
        </p:spPr>
      </p:pic>
      <p:pic>
        <p:nvPicPr>
          <p:cNvPr id="23" name="Picture 22" descr="image.png"/>
          <p:cNvPicPr>
            <a:picLocks noChangeAspect="1"/>
          </p:cNvPicPr>
          <p:nvPr/>
        </p:nvPicPr>
        <p:blipFill>
          <a:blip r:embed="rId3"/>
          <a:stretch>
            <a:fillRect/>
          </a:stretch>
        </p:blipFill>
        <p:spPr>
          <a:xfrm>
            <a:off x="3514725" y="2538412"/>
            <a:ext cx="171450" cy="171450"/>
          </a:xfrm>
          <a:prstGeom prst="rect">
            <a:avLst/>
          </a:prstGeom>
        </p:spPr>
      </p:pic>
      <p:pic>
        <p:nvPicPr>
          <p:cNvPr id="24" name="Picture 23" descr="image.png"/>
          <p:cNvPicPr>
            <a:picLocks noChangeAspect="1"/>
          </p:cNvPicPr>
          <p:nvPr/>
        </p:nvPicPr>
        <p:blipFill>
          <a:blip r:embed="rId4"/>
          <a:stretch>
            <a:fillRect/>
          </a:stretch>
        </p:blipFill>
        <p:spPr>
          <a:xfrm>
            <a:off x="6372225" y="2538412"/>
            <a:ext cx="190500" cy="171450"/>
          </a:xfrm>
          <a:prstGeom prst="rect">
            <a:avLst/>
          </a:prstGeom>
        </p:spPr>
      </p:pic>
      <p:pic>
        <p:nvPicPr>
          <p:cNvPr id="25" name="Picture 24" descr="image.png"/>
          <p:cNvPicPr>
            <a:picLocks noChangeAspect="1"/>
          </p:cNvPicPr>
          <p:nvPr/>
        </p:nvPicPr>
        <p:blipFill>
          <a:blip r:embed="rId5"/>
          <a:stretch>
            <a:fillRect/>
          </a:stretch>
        </p:blipFill>
        <p:spPr>
          <a:xfrm>
            <a:off x="9229725" y="2538412"/>
            <a:ext cx="171450" cy="171450"/>
          </a:xfrm>
          <a:prstGeom prst="rect">
            <a:avLst/>
          </a:prstGeom>
        </p:spPr>
      </p:pic>
      <p:sp>
        <p:nvSpPr>
          <p:cNvPr id="26" name="TextBox 25"/>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SYSTEM ARCHITECTURE</a:t>
            </a:r>
          </a:p>
        </p:txBody>
      </p:sp>
      <p:sp>
        <p:nvSpPr>
          <p:cNvPr id="27" name="TextBox 26"/>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Core Platform Modules &amp; Capabilities</a:t>
            </a:r>
          </a:p>
        </p:txBody>
      </p:sp>
      <p:sp>
        <p:nvSpPr>
          <p:cNvPr id="28" name="TextBox 27"/>
          <p:cNvSpPr txBox="1"/>
          <p:nvPr/>
        </p:nvSpPr>
        <p:spPr>
          <a:xfrm>
            <a:off x="657225" y="2500312"/>
            <a:ext cx="3025378" cy="219075"/>
          </a:xfrm>
          <a:prstGeom prst="rect">
            <a:avLst/>
          </a:prstGeom>
          <a:noFill/>
        </p:spPr>
        <p:txBody>
          <a:bodyPr wrap="none" lIns="152400" tIns="0" rIns="0" bIns="0" anchor="t">
            <a:spAutoFit/>
          </a:bodyPr>
          <a:lstStyle/>
          <a:p>
            <a:pPr algn="l"/>
            <a:r>
              <a:rPr sz="1350" b="1" i="0" u="none">
                <a:solidFill>
                  <a:srgbClr val="0F2922"/>
                </a:solidFill>
                <a:latin typeface="Plus Jakarta Sans"/>
              </a:rPr>
              <a:t>Customer Portal</a:t>
            </a:r>
          </a:p>
        </p:txBody>
      </p:sp>
      <p:sp>
        <p:nvSpPr>
          <p:cNvPr id="29" name="TextBox 28"/>
          <p:cNvSpPr txBox="1"/>
          <p:nvPr/>
        </p:nvSpPr>
        <p:spPr>
          <a:xfrm>
            <a:off x="3514725" y="2500312"/>
            <a:ext cx="3025378" cy="219075"/>
          </a:xfrm>
          <a:prstGeom prst="rect">
            <a:avLst/>
          </a:prstGeom>
          <a:noFill/>
        </p:spPr>
        <p:txBody>
          <a:bodyPr wrap="none" lIns="171450" tIns="0" rIns="0" bIns="0" anchor="t">
            <a:spAutoFit/>
          </a:bodyPr>
          <a:lstStyle/>
          <a:p>
            <a:pPr algn="l"/>
            <a:r>
              <a:rPr sz="1350" b="1" i="0" u="none">
                <a:solidFill>
                  <a:srgbClr val="0F2922"/>
                </a:solidFill>
                <a:latin typeface="Plus Jakarta Sans"/>
              </a:rPr>
              <a:t>Support Agent Desk</a:t>
            </a:r>
          </a:p>
        </p:txBody>
      </p:sp>
      <p:sp>
        <p:nvSpPr>
          <p:cNvPr id="30" name="TextBox 29"/>
          <p:cNvSpPr txBox="1"/>
          <p:nvPr/>
        </p:nvSpPr>
        <p:spPr>
          <a:xfrm>
            <a:off x="6372225" y="2500312"/>
            <a:ext cx="3025378" cy="219075"/>
          </a:xfrm>
          <a:prstGeom prst="rect">
            <a:avLst/>
          </a:prstGeom>
          <a:noFill/>
        </p:spPr>
        <p:txBody>
          <a:bodyPr wrap="none" lIns="190500" tIns="0" rIns="0" bIns="0" anchor="t">
            <a:spAutoFit/>
          </a:bodyPr>
          <a:lstStyle/>
          <a:p>
            <a:pPr algn="l"/>
            <a:r>
              <a:rPr sz="1350" b="1" i="0" u="none">
                <a:solidFill>
                  <a:srgbClr val="0F2922"/>
                </a:solidFill>
                <a:latin typeface="Plus Jakarta Sans"/>
              </a:rPr>
              <a:t>Manager Hub</a:t>
            </a:r>
          </a:p>
        </p:txBody>
      </p:sp>
      <p:sp>
        <p:nvSpPr>
          <p:cNvPr id="31" name="TextBox 30"/>
          <p:cNvSpPr txBox="1"/>
          <p:nvPr/>
        </p:nvSpPr>
        <p:spPr>
          <a:xfrm>
            <a:off x="9229725" y="2500312"/>
            <a:ext cx="2962275" cy="219075"/>
          </a:xfrm>
          <a:prstGeom prst="rect">
            <a:avLst/>
          </a:prstGeom>
          <a:noFill/>
        </p:spPr>
        <p:txBody>
          <a:bodyPr wrap="none" lIns="171450" tIns="0" rIns="0" bIns="0" anchor="t">
            <a:spAutoFit/>
          </a:bodyPr>
          <a:lstStyle/>
          <a:p>
            <a:pPr algn="l"/>
            <a:r>
              <a:rPr sz="1350" b="1" i="0" u="none">
                <a:solidFill>
                  <a:srgbClr val="0F2922"/>
                </a:solidFill>
                <a:latin typeface="Plus Jakarta Sans"/>
              </a:rPr>
              <a:t>Admin Control</a:t>
            </a:r>
          </a:p>
        </p:txBody>
      </p:sp>
      <p:sp>
        <p:nvSpPr>
          <p:cNvPr id="32" name="TextBox 31"/>
          <p:cNvSpPr txBox="1"/>
          <p:nvPr/>
        </p:nvSpPr>
        <p:spPr>
          <a:xfrm>
            <a:off x="657225" y="28336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Intuitive ticket submission form</a:t>
            </a:r>
          </a:p>
        </p:txBody>
      </p:sp>
      <p:sp>
        <p:nvSpPr>
          <p:cNvPr id="33" name="TextBox 32"/>
          <p:cNvSpPr txBox="1"/>
          <p:nvPr/>
        </p:nvSpPr>
        <p:spPr>
          <a:xfrm>
            <a:off x="657225" y="330993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Real-time resolution status tracker</a:t>
            </a:r>
          </a:p>
        </p:txBody>
      </p:sp>
      <p:sp>
        <p:nvSpPr>
          <p:cNvPr id="34" name="TextBox 33"/>
          <p:cNvSpPr txBox="1"/>
          <p:nvPr/>
        </p:nvSpPr>
        <p:spPr>
          <a:xfrm>
            <a:off x="657225" y="37861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Interactive resolution confirmation</a:t>
            </a:r>
          </a:p>
        </p:txBody>
      </p:sp>
      <p:sp>
        <p:nvSpPr>
          <p:cNvPr id="35" name="TextBox 34"/>
          <p:cNvSpPr txBox="1"/>
          <p:nvPr/>
        </p:nvSpPr>
        <p:spPr>
          <a:xfrm>
            <a:off x="657225" y="426243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Ticket reopening with feedback loop</a:t>
            </a:r>
          </a:p>
        </p:txBody>
      </p:sp>
      <p:sp>
        <p:nvSpPr>
          <p:cNvPr id="36" name="TextBox 35"/>
          <p:cNvSpPr txBox="1"/>
          <p:nvPr/>
        </p:nvSpPr>
        <p:spPr>
          <a:xfrm>
            <a:off x="657225" y="47386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Email notification status updates</a:t>
            </a:r>
          </a:p>
        </p:txBody>
      </p:sp>
      <p:sp>
        <p:nvSpPr>
          <p:cNvPr id="37" name="TextBox 36"/>
          <p:cNvSpPr txBox="1"/>
          <p:nvPr/>
        </p:nvSpPr>
        <p:spPr>
          <a:xfrm>
            <a:off x="3514725" y="28336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Prioritized live ticket queue</a:t>
            </a:r>
          </a:p>
        </p:txBody>
      </p:sp>
      <p:sp>
        <p:nvSpPr>
          <p:cNvPr id="38" name="TextBox 37"/>
          <p:cNvSpPr txBox="1"/>
          <p:nvPr/>
        </p:nvSpPr>
        <p:spPr>
          <a:xfrm>
            <a:off x="3514725" y="330993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AI intent &amp; sentiment analysis card</a:t>
            </a:r>
          </a:p>
        </p:txBody>
      </p:sp>
      <p:sp>
        <p:nvSpPr>
          <p:cNvPr id="39" name="TextBox 38"/>
          <p:cNvSpPr txBox="1"/>
          <p:nvPr/>
        </p:nvSpPr>
        <p:spPr>
          <a:xfrm>
            <a:off x="3514725" y="37861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One-click RAG solution insert</a:t>
            </a:r>
          </a:p>
        </p:txBody>
      </p:sp>
      <p:sp>
        <p:nvSpPr>
          <p:cNvPr id="40" name="TextBox 39"/>
          <p:cNvSpPr txBox="1"/>
          <p:nvPr/>
        </p:nvSpPr>
        <p:spPr>
          <a:xfrm>
            <a:off x="3514725" y="426243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Manual edit &amp; override capabilities</a:t>
            </a:r>
          </a:p>
        </p:txBody>
      </p:sp>
      <p:sp>
        <p:nvSpPr>
          <p:cNvPr id="41" name="TextBox 40"/>
          <p:cNvSpPr txBox="1"/>
          <p:nvPr/>
        </p:nvSpPr>
        <p:spPr>
          <a:xfrm>
            <a:off x="3514725" y="47386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Direct Jira bug escalation trigger</a:t>
            </a:r>
          </a:p>
        </p:txBody>
      </p:sp>
      <p:sp>
        <p:nvSpPr>
          <p:cNvPr id="42" name="TextBox 41"/>
          <p:cNvSpPr txBox="1"/>
          <p:nvPr/>
        </p:nvSpPr>
        <p:spPr>
          <a:xfrm>
            <a:off x="6372225" y="28336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Team assignment &amp; workload balancing</a:t>
            </a:r>
          </a:p>
        </p:txBody>
      </p:sp>
      <p:sp>
        <p:nvSpPr>
          <p:cNvPr id="43" name="TextBox 42"/>
          <p:cNvSpPr txBox="1"/>
          <p:nvPr/>
        </p:nvSpPr>
        <p:spPr>
          <a:xfrm>
            <a:off x="6372225" y="330993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Live SLA breach countdown monitor</a:t>
            </a:r>
          </a:p>
        </p:txBody>
      </p:sp>
      <p:sp>
        <p:nvSpPr>
          <p:cNvPr id="44" name="TextBox 43"/>
          <p:cNvSpPr txBox="1"/>
          <p:nvPr/>
        </p:nvSpPr>
        <p:spPr>
          <a:xfrm>
            <a:off x="6372225" y="37861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Reopened ticket audit dashboard</a:t>
            </a:r>
          </a:p>
        </p:txBody>
      </p:sp>
      <p:sp>
        <p:nvSpPr>
          <p:cNvPr id="45" name="TextBox 44"/>
          <p:cNvSpPr txBox="1"/>
          <p:nvPr/>
        </p:nvSpPr>
        <p:spPr>
          <a:xfrm>
            <a:off x="6372225" y="426243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Agent resolution performance metrics</a:t>
            </a:r>
          </a:p>
        </p:txBody>
      </p:sp>
      <p:sp>
        <p:nvSpPr>
          <p:cNvPr id="46" name="TextBox 45"/>
          <p:cNvSpPr txBox="1"/>
          <p:nvPr/>
        </p:nvSpPr>
        <p:spPr>
          <a:xfrm>
            <a:off x="6372225" y="47386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Executive CSAT trend reports</a:t>
            </a:r>
          </a:p>
        </p:txBody>
      </p:sp>
      <p:sp>
        <p:nvSpPr>
          <p:cNvPr id="47" name="TextBox 46"/>
          <p:cNvSpPr txBox="1"/>
          <p:nvPr/>
        </p:nvSpPr>
        <p:spPr>
          <a:xfrm>
            <a:off x="9229725" y="28336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User role-based access control (RBAC)</a:t>
            </a:r>
          </a:p>
        </p:txBody>
      </p:sp>
      <p:sp>
        <p:nvSpPr>
          <p:cNvPr id="48" name="TextBox 47"/>
          <p:cNvSpPr txBox="1"/>
          <p:nvPr/>
        </p:nvSpPr>
        <p:spPr>
          <a:xfrm>
            <a:off x="9229725" y="330993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AI confidence score threshold tuning</a:t>
            </a:r>
          </a:p>
        </p:txBody>
      </p:sp>
      <p:sp>
        <p:nvSpPr>
          <p:cNvPr id="49" name="TextBox 48"/>
          <p:cNvSpPr txBox="1"/>
          <p:nvPr/>
        </p:nvSpPr>
        <p:spPr>
          <a:xfrm>
            <a:off x="9229725" y="37861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Knowledge base document indexing</a:t>
            </a:r>
          </a:p>
        </p:txBody>
      </p:sp>
      <p:sp>
        <p:nvSpPr>
          <p:cNvPr id="50" name="TextBox 49"/>
          <p:cNvSpPr txBox="1"/>
          <p:nvPr/>
        </p:nvSpPr>
        <p:spPr>
          <a:xfrm>
            <a:off x="9229725" y="426243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Jira integration configuration</a:t>
            </a:r>
          </a:p>
        </p:txBody>
      </p:sp>
      <p:sp>
        <p:nvSpPr>
          <p:cNvPr id="51" name="TextBox 50"/>
          <p:cNvSpPr txBox="1"/>
          <p:nvPr/>
        </p:nvSpPr>
        <p:spPr>
          <a:xfrm>
            <a:off x="9229725" y="4738687"/>
            <a:ext cx="2400300" cy="400050"/>
          </a:xfrm>
          <a:prstGeom prst="rect">
            <a:avLst/>
          </a:prstGeom>
          <a:noFill/>
        </p:spPr>
        <p:txBody>
          <a:bodyPr wrap="square" lIns="0" tIns="0" rIns="0" bIns="0" anchor="t">
            <a:spAutoFit/>
          </a:bodyPr>
          <a:lstStyle/>
          <a:p>
            <a:pPr algn="l"/>
            <a:r>
              <a:rPr sz="1350" b="0" i="0" u="none">
                <a:solidFill>
                  <a:srgbClr val="475569"/>
                </a:solidFill>
                <a:latin typeface="Inter"/>
              </a:rPr>
              <a:t>• Comprehensive system audit logs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1447800"/>
            <a:ext cx="11277600" cy="971550"/>
          </a:xfrm>
          <a:prstGeom prst="roundRect">
            <a:avLst>
              <a:gd name="adj" fmla="val 7843"/>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57200" y="3295650"/>
            <a:ext cx="11277600" cy="971550"/>
          </a:xfrm>
          <a:prstGeom prst="roundRect">
            <a:avLst>
              <a:gd name="adj" fmla="val 7843"/>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5143500"/>
            <a:ext cx="5562600" cy="933450"/>
          </a:xfrm>
          <a:prstGeom prst="roundRect">
            <a:avLst>
              <a:gd name="adj" fmla="val 8163"/>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72200" y="5143500"/>
            <a:ext cx="5562600" cy="933450"/>
          </a:xfrm>
          <a:prstGeom prst="roundRect">
            <a:avLst>
              <a:gd name="adj" fmla="val 8163"/>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3429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PRACTICAL WALKTHROUGH</a:t>
            </a:r>
          </a:p>
        </p:txBody>
      </p:sp>
      <p:sp>
        <p:nvSpPr>
          <p:cNvPr id="7" name="TextBox 6"/>
          <p:cNvSpPr txBox="1"/>
          <p:nvPr/>
        </p:nvSpPr>
        <p:spPr>
          <a:xfrm>
            <a:off x="457200" y="523875"/>
            <a:ext cx="11734800" cy="333375"/>
          </a:xfrm>
          <a:prstGeom prst="rect">
            <a:avLst/>
          </a:prstGeom>
          <a:noFill/>
        </p:spPr>
        <p:txBody>
          <a:bodyPr wrap="none" lIns="0" tIns="0" rIns="0" bIns="0" anchor="t">
            <a:spAutoFit/>
          </a:bodyPr>
          <a:lstStyle/>
          <a:p>
            <a:pPr algn="l"/>
            <a:r>
              <a:rPr sz="2100" b="1" i="0" u="none">
                <a:solidFill>
                  <a:srgbClr val="0F2922"/>
                </a:solidFill>
                <a:latin typeface="Plus Jakarta Sans"/>
              </a:rPr>
              <a:t>Live Scenario: "Unable to Login" Resolution Walkthrough</a:t>
            </a:r>
          </a:p>
        </p:txBody>
      </p:sp>
      <p:sp>
        <p:nvSpPr>
          <p:cNvPr id="8" name="TextBox 7"/>
          <p:cNvSpPr txBox="1"/>
          <p:nvPr/>
        </p:nvSpPr>
        <p:spPr>
          <a:xfrm>
            <a:off x="619125" y="1609725"/>
            <a:ext cx="11572875" cy="161925"/>
          </a:xfrm>
          <a:prstGeom prst="rect">
            <a:avLst/>
          </a:prstGeom>
          <a:noFill/>
        </p:spPr>
        <p:txBody>
          <a:bodyPr wrap="none" lIns="0" tIns="0" rIns="0" bIns="0" anchor="t">
            <a:spAutoFit/>
          </a:bodyPr>
          <a:lstStyle/>
          <a:p>
            <a:pPr algn="l"/>
            <a:r>
              <a:rPr sz="1050" b="1" i="0" u="none">
                <a:solidFill>
                  <a:srgbClr val="0D9488"/>
                </a:solidFill>
                <a:latin typeface="Inter"/>
              </a:rPr>
              <a:t>1. INTAKE &amp; AI TRIAGE ENGINE</a:t>
            </a:r>
          </a:p>
        </p:txBody>
      </p:sp>
      <p:sp>
        <p:nvSpPr>
          <p:cNvPr id="9" name="TextBox 8"/>
          <p:cNvSpPr txBox="1"/>
          <p:nvPr/>
        </p:nvSpPr>
        <p:spPr>
          <a:xfrm>
            <a:off x="619125" y="1847850"/>
            <a:ext cx="11049000" cy="409575"/>
          </a:xfrm>
          <a:prstGeom prst="rect">
            <a:avLst/>
          </a:prstGeom>
          <a:noFill/>
        </p:spPr>
        <p:txBody>
          <a:bodyPr wrap="square" lIns="0" tIns="0" rIns="0" bIns="0" anchor="t">
            <a:spAutoFit/>
          </a:bodyPr>
          <a:lstStyle/>
          <a:p>
            <a:pPr algn="l"/>
            <a:r>
              <a:rPr sz="1350" b="0" i="0" u="none">
                <a:solidFill>
                  <a:srgbClr val="0F2922"/>
                </a:solidFill>
                <a:latin typeface="Inter"/>
              </a:rPr>
              <a:t>Customer submits: </a:t>
            </a:r>
            <a:r>
              <a:rPr sz="1350" b="0" i="1" u="none">
                <a:solidFill>
                  <a:srgbClr val="0F2922"/>
                </a:solidFill>
                <a:latin typeface="Inter"/>
              </a:rPr>
              <a:t>"My login password fails repeatedly after app update."</a:t>
            </a:r>
            <a:r>
              <a:rPr sz="1350" b="0" i="0" u="none">
                <a:solidFill>
                  <a:srgbClr val="0F2922"/>
                </a:solidFill>
                <a:latin typeface="Inter"/>
              </a:rPr>
              <a:t> → Categorized as </a:t>
            </a:r>
            <a:r>
              <a:rPr sz="1350" b="1" i="0" u="none">
                <a:solidFill>
                  <a:srgbClr val="0F2922"/>
                </a:solidFill>
                <a:latin typeface="Inter"/>
              </a:rPr>
              <a:t>Account/Auth</a:t>
            </a:r>
            <a:r>
              <a:rPr sz="1350" b="0" i="0" u="none">
                <a:solidFill>
                  <a:srgbClr val="0F2922"/>
                </a:solidFill>
                <a:latin typeface="Inter"/>
              </a:rPr>
              <a:t> → </a:t>
            </a:r>
            <a:r>
              <a:rPr sz="1350" b="1" i="0" u="none">
                <a:solidFill>
                  <a:srgbClr val="0F2922"/>
                </a:solidFill>
                <a:latin typeface="Inter"/>
              </a:rPr>
              <a:t>High Priority</a:t>
            </a:r>
            <a:r>
              <a:rPr sz="1350" b="0" i="0" u="none">
                <a:solidFill>
                  <a:srgbClr val="0F2922"/>
                </a:solidFill>
                <a:latin typeface="Inter"/>
              </a:rPr>
              <a:t> → </a:t>
            </a:r>
            <a:r>
              <a:rPr sz="1350" b="1" i="0" u="none">
                <a:solidFill>
                  <a:srgbClr val="0F2922"/>
                </a:solidFill>
                <a:latin typeface="Inter"/>
              </a:rPr>
              <a:t>Negative Sentiment (-0.72)</a:t>
            </a:r>
            <a:r>
              <a:rPr sz="1350" b="0" i="0" u="none">
                <a:solidFill>
                  <a:srgbClr val="0F2922"/>
                </a:solidFill>
                <a:latin typeface="Inter"/>
              </a:rPr>
              <a:t> detected.</a:t>
            </a:r>
          </a:p>
        </p:txBody>
      </p:sp>
      <p:sp>
        <p:nvSpPr>
          <p:cNvPr id="10" name="TextBox 9"/>
          <p:cNvSpPr txBox="1"/>
          <p:nvPr/>
        </p:nvSpPr>
        <p:spPr>
          <a:xfrm>
            <a:off x="619125" y="3457575"/>
            <a:ext cx="11572875" cy="161925"/>
          </a:xfrm>
          <a:prstGeom prst="rect">
            <a:avLst/>
          </a:prstGeom>
          <a:noFill/>
        </p:spPr>
        <p:txBody>
          <a:bodyPr wrap="none" lIns="0" tIns="0" rIns="0" bIns="0" anchor="t">
            <a:spAutoFit/>
          </a:bodyPr>
          <a:lstStyle/>
          <a:p>
            <a:pPr algn="l"/>
            <a:r>
              <a:rPr sz="1050" b="1" i="0" u="none">
                <a:solidFill>
                  <a:srgbClr val="0D9488"/>
                </a:solidFill>
                <a:latin typeface="Inter"/>
              </a:rPr>
              <a:t>2. KNOWLEDGE SEARCH &amp; AUTO-DRAFTING</a:t>
            </a:r>
          </a:p>
        </p:txBody>
      </p:sp>
      <p:sp>
        <p:nvSpPr>
          <p:cNvPr id="11" name="TextBox 10"/>
          <p:cNvSpPr txBox="1"/>
          <p:nvPr/>
        </p:nvSpPr>
        <p:spPr>
          <a:xfrm>
            <a:off x="619125" y="3695700"/>
            <a:ext cx="11049000" cy="409575"/>
          </a:xfrm>
          <a:prstGeom prst="rect">
            <a:avLst/>
          </a:prstGeom>
          <a:noFill/>
        </p:spPr>
        <p:txBody>
          <a:bodyPr wrap="square" lIns="0" tIns="0" rIns="0" bIns="0" anchor="t">
            <a:spAutoFit/>
          </a:bodyPr>
          <a:lstStyle/>
          <a:p>
            <a:pPr algn="l"/>
            <a:r>
              <a:rPr sz="1350" b="0" i="0" u="none">
                <a:solidFill>
                  <a:srgbClr val="0F2922"/>
                </a:solidFill>
                <a:latin typeface="Inter"/>
              </a:rPr>
              <a:t>Vector similarity search retrieves </a:t>
            </a:r>
            <a:r>
              <a:rPr sz="1350" b="0" i="1" u="none">
                <a:solidFill>
                  <a:srgbClr val="0F2922"/>
                </a:solidFill>
                <a:latin typeface="Inter"/>
              </a:rPr>
              <a:t>"Auth v2 Reset Procedures"</a:t>
            </a:r>
            <a:r>
              <a:rPr sz="1350" b="0" i="0" u="none">
                <a:solidFill>
                  <a:srgbClr val="0F2922"/>
                </a:solidFill>
                <a:latin typeface="Inter"/>
              </a:rPr>
              <a:t> document → Generates 3-step verification solution → Computes confidence match score of </a:t>
            </a:r>
            <a:r>
              <a:rPr sz="1350" b="1" i="0" u="none">
                <a:solidFill>
                  <a:srgbClr val="0F2922"/>
                </a:solidFill>
                <a:latin typeface="Inter"/>
              </a:rPr>
              <a:t>92%</a:t>
            </a:r>
            <a:r>
              <a:rPr sz="1350" b="0" i="0" u="none">
                <a:solidFill>
                  <a:srgbClr val="0F2922"/>
                </a:solidFill>
                <a:latin typeface="Inter"/>
              </a:rPr>
              <a:t>.</a:t>
            </a:r>
          </a:p>
        </p:txBody>
      </p:sp>
      <p:sp>
        <p:nvSpPr>
          <p:cNvPr id="12" name="TextBox 11"/>
          <p:cNvSpPr txBox="1"/>
          <p:nvPr/>
        </p:nvSpPr>
        <p:spPr>
          <a:xfrm>
            <a:off x="619125" y="5305425"/>
            <a:ext cx="6548437" cy="161925"/>
          </a:xfrm>
          <a:prstGeom prst="rect">
            <a:avLst/>
          </a:prstGeom>
          <a:noFill/>
        </p:spPr>
        <p:txBody>
          <a:bodyPr wrap="none" lIns="0" tIns="0" rIns="0" bIns="0" anchor="t">
            <a:spAutoFit/>
          </a:bodyPr>
          <a:lstStyle/>
          <a:p>
            <a:pPr algn="l"/>
            <a:r>
              <a:rPr sz="1050" b="1" i="0" u="none">
                <a:solidFill>
                  <a:srgbClr val="065F46"/>
                </a:solidFill>
                <a:latin typeface="Inter"/>
              </a:rPr>
              <a:t>Automated Path (Confidence &gt; 85%)</a:t>
            </a:r>
          </a:p>
        </p:txBody>
      </p:sp>
      <p:sp>
        <p:nvSpPr>
          <p:cNvPr id="13" name="TextBox 12"/>
          <p:cNvSpPr txBox="1"/>
          <p:nvPr/>
        </p:nvSpPr>
        <p:spPr>
          <a:xfrm>
            <a:off x="619125" y="5505450"/>
            <a:ext cx="5334000" cy="409575"/>
          </a:xfrm>
          <a:prstGeom prst="rect">
            <a:avLst/>
          </a:prstGeom>
          <a:noFill/>
        </p:spPr>
        <p:txBody>
          <a:bodyPr wrap="square" lIns="0" tIns="0" rIns="0" bIns="0" anchor="t">
            <a:spAutoFit/>
          </a:bodyPr>
          <a:lstStyle/>
          <a:p>
            <a:pPr algn="l"/>
            <a:r>
              <a:rPr sz="1350" b="0" i="0" u="none">
                <a:solidFill>
                  <a:srgbClr val="047857"/>
                </a:solidFill>
                <a:latin typeface="Inter"/>
              </a:rPr>
              <a:t>Response dispatched directly to customer email &amp; dashboard within 1.2 seconds → Customer clicks "Resolved" → Closed.</a:t>
            </a:r>
          </a:p>
        </p:txBody>
      </p:sp>
      <p:sp>
        <p:nvSpPr>
          <p:cNvPr id="14" name="TextBox 13"/>
          <p:cNvSpPr txBox="1"/>
          <p:nvPr/>
        </p:nvSpPr>
        <p:spPr>
          <a:xfrm>
            <a:off x="6334125" y="5305425"/>
            <a:ext cx="5857875" cy="161925"/>
          </a:xfrm>
          <a:prstGeom prst="rect">
            <a:avLst/>
          </a:prstGeom>
          <a:noFill/>
        </p:spPr>
        <p:txBody>
          <a:bodyPr wrap="none" lIns="0" tIns="0" rIns="0" bIns="0" anchor="t">
            <a:spAutoFit/>
          </a:bodyPr>
          <a:lstStyle/>
          <a:p>
            <a:pPr algn="l"/>
            <a:r>
              <a:rPr sz="1050" b="1" i="0" u="none">
                <a:solidFill>
                  <a:srgbClr val="92400E"/>
                </a:solidFill>
                <a:latin typeface="Inter"/>
              </a:rPr>
              <a:t>Fallback Path (Confidence &lt; 85%)</a:t>
            </a:r>
          </a:p>
        </p:txBody>
      </p:sp>
      <p:sp>
        <p:nvSpPr>
          <p:cNvPr id="15" name="TextBox 14"/>
          <p:cNvSpPr txBox="1"/>
          <p:nvPr/>
        </p:nvSpPr>
        <p:spPr>
          <a:xfrm>
            <a:off x="6334125" y="5505450"/>
            <a:ext cx="5334000" cy="409575"/>
          </a:xfrm>
          <a:prstGeom prst="rect">
            <a:avLst/>
          </a:prstGeom>
          <a:noFill/>
        </p:spPr>
        <p:txBody>
          <a:bodyPr wrap="square" lIns="0" tIns="0" rIns="0" bIns="0" anchor="t">
            <a:spAutoFit/>
          </a:bodyPr>
          <a:lstStyle/>
          <a:p>
            <a:pPr algn="l"/>
            <a:r>
              <a:rPr sz="1350" b="0" i="0" u="none">
                <a:solidFill>
                  <a:srgbClr val="B45309"/>
                </a:solidFill>
                <a:latin typeface="Inter"/>
              </a:rPr>
              <a:t>Ticket routed to Support Agent queue with pre-filled AI draft → Agent verifies, adds custom note, and clicks Send.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9"/>
        </a:solidFill>
        <a:effectLst/>
      </p:bgPr>
    </p:bg>
    <p:spTree>
      <p:nvGrpSpPr>
        <p:cNvPr id="1" name=""/>
        <p:cNvGrpSpPr/>
        <p:nvPr/>
      </p:nvGrpSpPr>
      <p:grpSpPr>
        <a:xfrm>
          <a:off x="0" y="0"/>
          <a:ext cx="0" cy="0"/>
          <a:chOff x="0" y="0"/>
          <a:chExt cx="0" cy="0"/>
        </a:xfrm>
      </p:grpSpPr>
      <p:sp>
        <p:nvSpPr>
          <p:cNvPr id="2" name="Rounded Rectangle 1"/>
          <p:cNvSpPr/>
          <p:nvPr/>
        </p:nvSpPr>
        <p:spPr>
          <a:xfrm>
            <a:off x="457200" y="2386012"/>
            <a:ext cx="3657600" cy="1343025"/>
          </a:xfrm>
          <a:prstGeom prst="roundRect">
            <a:avLst>
              <a:gd name="adj" fmla="val 567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267200" y="2386012"/>
            <a:ext cx="3657600" cy="1343025"/>
          </a:xfrm>
          <a:prstGeom prst="roundRect">
            <a:avLst>
              <a:gd name="adj" fmla="val 567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386012"/>
            <a:ext cx="3657600" cy="1343025"/>
          </a:xfrm>
          <a:prstGeom prst="roundRect">
            <a:avLst>
              <a:gd name="adj" fmla="val 567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3881437"/>
            <a:ext cx="3657600" cy="1343025"/>
          </a:xfrm>
          <a:prstGeom prst="roundRect">
            <a:avLst>
              <a:gd name="adj" fmla="val 567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267200" y="3881437"/>
            <a:ext cx="3657600" cy="1343025"/>
          </a:xfrm>
          <a:prstGeom prst="roundRect">
            <a:avLst>
              <a:gd name="adj" fmla="val 567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077200" y="3881437"/>
            <a:ext cx="3657600" cy="1343025"/>
          </a:xfrm>
          <a:prstGeom prst="roundRect">
            <a:avLst>
              <a:gd name="adj" fmla="val 567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657225" y="2624137"/>
            <a:ext cx="171450" cy="171450"/>
          </a:xfrm>
          <a:prstGeom prst="rect">
            <a:avLst/>
          </a:prstGeom>
        </p:spPr>
      </p:pic>
      <p:pic>
        <p:nvPicPr>
          <p:cNvPr id="9" name="Picture 8" descr="image.png"/>
          <p:cNvPicPr>
            <a:picLocks noChangeAspect="1"/>
          </p:cNvPicPr>
          <p:nvPr/>
        </p:nvPicPr>
        <p:blipFill>
          <a:blip r:embed="rId3"/>
          <a:stretch>
            <a:fillRect/>
          </a:stretch>
        </p:blipFill>
        <p:spPr>
          <a:xfrm>
            <a:off x="4467225" y="2624137"/>
            <a:ext cx="152400" cy="171450"/>
          </a:xfrm>
          <a:prstGeom prst="rect">
            <a:avLst/>
          </a:prstGeom>
        </p:spPr>
      </p:pic>
      <p:pic>
        <p:nvPicPr>
          <p:cNvPr id="10" name="Picture 9" descr="image.png"/>
          <p:cNvPicPr>
            <a:picLocks noChangeAspect="1"/>
          </p:cNvPicPr>
          <p:nvPr/>
        </p:nvPicPr>
        <p:blipFill>
          <a:blip r:embed="rId4"/>
          <a:stretch>
            <a:fillRect/>
          </a:stretch>
        </p:blipFill>
        <p:spPr>
          <a:xfrm>
            <a:off x="8277225" y="2624137"/>
            <a:ext cx="152400" cy="171450"/>
          </a:xfrm>
          <a:prstGeom prst="rect">
            <a:avLst/>
          </a:prstGeom>
        </p:spPr>
      </p:pic>
      <p:pic>
        <p:nvPicPr>
          <p:cNvPr id="11" name="Picture 10" descr="image.png"/>
          <p:cNvPicPr>
            <a:picLocks noChangeAspect="1"/>
          </p:cNvPicPr>
          <p:nvPr/>
        </p:nvPicPr>
        <p:blipFill>
          <a:blip r:embed="rId5"/>
          <a:stretch>
            <a:fillRect/>
          </a:stretch>
        </p:blipFill>
        <p:spPr>
          <a:xfrm>
            <a:off x="657225" y="4119562"/>
            <a:ext cx="171450" cy="171450"/>
          </a:xfrm>
          <a:prstGeom prst="rect">
            <a:avLst/>
          </a:prstGeom>
        </p:spPr>
      </p:pic>
      <p:pic>
        <p:nvPicPr>
          <p:cNvPr id="12" name="Picture 11" descr="image.png"/>
          <p:cNvPicPr>
            <a:picLocks noChangeAspect="1"/>
          </p:cNvPicPr>
          <p:nvPr/>
        </p:nvPicPr>
        <p:blipFill>
          <a:blip r:embed="rId6"/>
          <a:stretch>
            <a:fillRect/>
          </a:stretch>
        </p:blipFill>
        <p:spPr>
          <a:xfrm>
            <a:off x="4467225" y="4119562"/>
            <a:ext cx="133350" cy="171450"/>
          </a:xfrm>
          <a:prstGeom prst="rect">
            <a:avLst/>
          </a:prstGeom>
        </p:spPr>
      </p:pic>
      <p:pic>
        <p:nvPicPr>
          <p:cNvPr id="13" name="Picture 12" descr="image.png"/>
          <p:cNvPicPr>
            <a:picLocks noChangeAspect="1"/>
          </p:cNvPicPr>
          <p:nvPr/>
        </p:nvPicPr>
        <p:blipFill>
          <a:blip r:embed="rId7"/>
          <a:stretch>
            <a:fillRect/>
          </a:stretch>
        </p:blipFill>
        <p:spPr>
          <a:xfrm>
            <a:off x="8277225" y="4119562"/>
            <a:ext cx="219075" cy="171450"/>
          </a:xfrm>
          <a:prstGeom prst="rect">
            <a:avLst/>
          </a:prstGeom>
        </p:spPr>
      </p:pic>
      <p:sp>
        <p:nvSpPr>
          <p:cNvPr id="14" name="TextBox 13"/>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ARCHITECTURE STACK</a:t>
            </a:r>
          </a:p>
        </p:txBody>
      </p:sp>
      <p:sp>
        <p:nvSpPr>
          <p:cNvPr id="15" name="TextBox 14"/>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Enterprise Technology Stack &amp; Libraries</a:t>
            </a:r>
          </a:p>
        </p:txBody>
      </p:sp>
      <p:sp>
        <p:nvSpPr>
          <p:cNvPr id="16" name="TextBox 15"/>
          <p:cNvSpPr txBox="1"/>
          <p:nvPr/>
        </p:nvSpPr>
        <p:spPr>
          <a:xfrm>
            <a:off x="647700" y="2776537"/>
            <a:ext cx="3371850" cy="762000"/>
          </a:xfrm>
          <a:prstGeom prst="rect">
            <a:avLst/>
          </a:prstGeom>
          <a:noFill/>
        </p:spPr>
        <p:txBody>
          <a:bodyPr wrap="square" lIns="0" tIns="0" rIns="0" bIns="0" anchor="t">
            <a:spAutoFit/>
          </a:bodyPr>
          <a:lstStyle/>
          <a:p>
            <a:pPr algn="l"/>
            <a:r>
              <a:rPr sz="1050" b="1" i="0" u="none">
                <a:solidFill>
                  <a:srgbClr val="64748B"/>
                </a:solidFill>
                <a:latin typeface="Inter"/>
              </a:rPr>
              <a:t>• Responsive multi-dashboard interface</a:t>
            </a:r>
          </a:p>
        </p:txBody>
      </p:sp>
      <p:sp>
        <p:nvSpPr>
          <p:cNvPr id="17" name="TextBox 16"/>
          <p:cNvSpPr txBox="1"/>
          <p:nvPr/>
        </p:nvSpPr>
        <p:spPr>
          <a:xfrm>
            <a:off x="4457700" y="2776537"/>
            <a:ext cx="3371850" cy="762000"/>
          </a:xfrm>
          <a:prstGeom prst="rect">
            <a:avLst/>
          </a:prstGeom>
          <a:noFill/>
        </p:spPr>
        <p:txBody>
          <a:bodyPr wrap="square" lIns="0" tIns="0" rIns="0" bIns="0" anchor="t">
            <a:spAutoFit/>
          </a:bodyPr>
          <a:lstStyle/>
          <a:p>
            <a:pPr algn="l"/>
            <a:r>
              <a:rPr sz="1050" b="1" i="0" u="none">
                <a:solidFill>
                  <a:srgbClr val="64748B"/>
                </a:solidFill>
                <a:latin typeface="Inter"/>
              </a:rPr>
              <a:t>• RESTful API architecture with CORS &amp; Auth</a:t>
            </a:r>
          </a:p>
        </p:txBody>
      </p:sp>
      <p:sp>
        <p:nvSpPr>
          <p:cNvPr id="18" name="TextBox 17"/>
          <p:cNvSpPr txBox="1"/>
          <p:nvPr/>
        </p:nvSpPr>
        <p:spPr>
          <a:xfrm>
            <a:off x="8267700" y="2776537"/>
            <a:ext cx="3371850" cy="762000"/>
          </a:xfrm>
          <a:prstGeom prst="rect">
            <a:avLst/>
          </a:prstGeom>
          <a:noFill/>
        </p:spPr>
        <p:txBody>
          <a:bodyPr wrap="square" lIns="0" tIns="0" rIns="0" bIns="0" anchor="t">
            <a:spAutoFit/>
          </a:bodyPr>
          <a:lstStyle/>
          <a:p>
            <a:pPr algn="l"/>
            <a:r>
              <a:rPr sz="1050" b="1" i="0" u="none">
                <a:solidFill>
                  <a:srgbClr val="64748B"/>
                </a:solidFill>
                <a:latin typeface="Inter"/>
              </a:rPr>
              <a:t>• Dynamic document storage for tickets &amp; logs</a:t>
            </a:r>
          </a:p>
        </p:txBody>
      </p:sp>
      <p:sp>
        <p:nvSpPr>
          <p:cNvPr id="19" name="TextBox 18"/>
          <p:cNvSpPr txBox="1"/>
          <p:nvPr/>
        </p:nvSpPr>
        <p:spPr>
          <a:xfrm>
            <a:off x="647700" y="4271962"/>
            <a:ext cx="3371850" cy="762000"/>
          </a:xfrm>
          <a:prstGeom prst="rect">
            <a:avLst/>
          </a:prstGeom>
          <a:noFill/>
        </p:spPr>
        <p:txBody>
          <a:bodyPr wrap="square" lIns="0" tIns="0" rIns="0" bIns="0" anchor="t">
            <a:spAutoFit/>
          </a:bodyPr>
          <a:lstStyle/>
          <a:p>
            <a:pPr algn="l"/>
            <a:r>
              <a:rPr sz="1050" b="1" i="0" u="none">
                <a:solidFill>
                  <a:srgbClr val="64748B"/>
                </a:solidFill>
                <a:latin typeface="Inter"/>
              </a:rPr>
              <a:t>• Multi-stage prompt &amp; context retriever</a:t>
            </a:r>
          </a:p>
        </p:txBody>
      </p:sp>
      <p:sp>
        <p:nvSpPr>
          <p:cNvPr id="20" name="TextBox 19"/>
          <p:cNvSpPr txBox="1"/>
          <p:nvPr/>
        </p:nvSpPr>
        <p:spPr>
          <a:xfrm>
            <a:off x="4457700" y="4271962"/>
            <a:ext cx="3371850" cy="762000"/>
          </a:xfrm>
          <a:prstGeom prst="rect">
            <a:avLst/>
          </a:prstGeom>
          <a:noFill/>
        </p:spPr>
        <p:txBody>
          <a:bodyPr wrap="square" lIns="0" tIns="0" rIns="0" bIns="0" anchor="t">
            <a:spAutoFit/>
          </a:bodyPr>
          <a:lstStyle/>
          <a:p>
            <a:pPr algn="l"/>
            <a:r>
              <a:rPr sz="1050" b="1" i="0" u="none">
                <a:solidFill>
                  <a:srgbClr val="64748B"/>
                </a:solidFill>
                <a:latin typeface="Inter"/>
              </a:rPr>
              <a:t>• Automated issue filing &amp; customer emails</a:t>
            </a:r>
          </a:p>
        </p:txBody>
      </p:sp>
      <p:sp>
        <p:nvSpPr>
          <p:cNvPr id="21" name="TextBox 20"/>
          <p:cNvSpPr txBox="1"/>
          <p:nvPr/>
        </p:nvSpPr>
        <p:spPr>
          <a:xfrm>
            <a:off x="8267700" y="4271962"/>
            <a:ext cx="3371850" cy="762000"/>
          </a:xfrm>
          <a:prstGeom prst="rect">
            <a:avLst/>
          </a:prstGeom>
          <a:noFill/>
        </p:spPr>
        <p:txBody>
          <a:bodyPr wrap="square" lIns="0" tIns="0" rIns="0" bIns="0" anchor="t">
            <a:spAutoFit/>
          </a:bodyPr>
          <a:lstStyle/>
          <a:p>
            <a:pPr algn="l"/>
            <a:r>
              <a:rPr sz="1050" b="1" i="0" u="none">
                <a:solidFill>
                  <a:srgbClr val="64748B"/>
                </a:solidFill>
                <a:latin typeface="Inter"/>
              </a:rPr>
              <a:t>• Continuous delivery via Git &amp; GitHub</a:t>
            </a:r>
          </a:p>
        </p:txBody>
      </p:sp>
      <p:sp>
        <p:nvSpPr>
          <p:cNvPr id="22" name="TextBox 21"/>
          <p:cNvSpPr txBox="1"/>
          <p:nvPr/>
        </p:nvSpPr>
        <p:spPr>
          <a:xfrm>
            <a:off x="657225" y="2586037"/>
            <a:ext cx="4275534" cy="219075"/>
          </a:xfrm>
          <a:prstGeom prst="rect">
            <a:avLst/>
          </a:prstGeom>
          <a:noFill/>
        </p:spPr>
        <p:txBody>
          <a:bodyPr wrap="none" lIns="171450" tIns="0" rIns="0" bIns="0" anchor="t">
            <a:spAutoFit/>
          </a:bodyPr>
          <a:lstStyle/>
          <a:p>
            <a:pPr algn="l"/>
            <a:r>
              <a:rPr sz="1350" b="1" i="0" u="none">
                <a:solidFill>
                  <a:srgbClr val="0D9488"/>
                </a:solidFill>
                <a:latin typeface="Plus Jakarta Sans"/>
              </a:rPr>
              <a:t> Frontend UI Stack</a:t>
            </a:r>
          </a:p>
        </p:txBody>
      </p:sp>
      <p:sp>
        <p:nvSpPr>
          <p:cNvPr id="23" name="TextBox 22"/>
          <p:cNvSpPr txBox="1"/>
          <p:nvPr/>
        </p:nvSpPr>
        <p:spPr>
          <a:xfrm>
            <a:off x="657225" y="2881312"/>
            <a:ext cx="3352800" cy="400050"/>
          </a:xfrm>
          <a:prstGeom prst="rect">
            <a:avLst/>
          </a:prstGeom>
          <a:noFill/>
        </p:spPr>
        <p:txBody>
          <a:bodyPr wrap="square" lIns="0" tIns="0" rIns="0" bIns="0" anchor="t">
            <a:spAutoFit/>
          </a:bodyPr>
          <a:lstStyle/>
          <a:p>
            <a:pPr algn="l"/>
            <a:r>
              <a:rPr sz="1350" b="0" i="0" u="none">
                <a:solidFill>
                  <a:srgbClr val="475569"/>
                </a:solidFill>
                <a:latin typeface="Inter"/>
              </a:rPr>
              <a:t>React.js, Tailwind CSS, FontAwesome Icons, Recharts, Axios</a:t>
            </a:r>
          </a:p>
        </p:txBody>
      </p:sp>
      <p:sp>
        <p:nvSpPr>
          <p:cNvPr id="24" name="TextBox 23"/>
          <p:cNvSpPr txBox="1"/>
          <p:nvPr/>
        </p:nvSpPr>
        <p:spPr>
          <a:xfrm>
            <a:off x="4467225" y="2586037"/>
            <a:ext cx="4275534" cy="219075"/>
          </a:xfrm>
          <a:prstGeom prst="rect">
            <a:avLst/>
          </a:prstGeom>
          <a:noFill/>
        </p:spPr>
        <p:txBody>
          <a:bodyPr wrap="none" lIns="152400" tIns="0" rIns="0" bIns="0" anchor="t">
            <a:spAutoFit/>
          </a:bodyPr>
          <a:lstStyle/>
          <a:p>
            <a:pPr algn="l"/>
            <a:r>
              <a:rPr sz="1350" b="1" i="0" u="none">
                <a:solidFill>
                  <a:srgbClr val="0D9488"/>
                </a:solidFill>
                <a:latin typeface="Plus Jakarta Sans"/>
              </a:rPr>
              <a:t> Backend API Server</a:t>
            </a:r>
          </a:p>
        </p:txBody>
      </p:sp>
      <p:sp>
        <p:nvSpPr>
          <p:cNvPr id="25" name="TextBox 24"/>
          <p:cNvSpPr txBox="1"/>
          <p:nvPr/>
        </p:nvSpPr>
        <p:spPr>
          <a:xfrm>
            <a:off x="4467225" y="2881312"/>
            <a:ext cx="3352800" cy="400050"/>
          </a:xfrm>
          <a:prstGeom prst="rect">
            <a:avLst/>
          </a:prstGeom>
          <a:noFill/>
        </p:spPr>
        <p:txBody>
          <a:bodyPr wrap="square" lIns="0" tIns="0" rIns="0" bIns="0" anchor="t">
            <a:spAutoFit/>
          </a:bodyPr>
          <a:lstStyle/>
          <a:p>
            <a:pPr algn="l"/>
            <a:r>
              <a:rPr sz="1350" b="0" i="0" u="none">
                <a:solidFill>
                  <a:srgbClr val="475569"/>
                </a:solidFill>
                <a:latin typeface="Inter"/>
              </a:rPr>
              <a:t>Python 3.11, Django, Django REST Framework, JWT Tokens</a:t>
            </a:r>
          </a:p>
        </p:txBody>
      </p:sp>
      <p:sp>
        <p:nvSpPr>
          <p:cNvPr id="26" name="TextBox 25"/>
          <p:cNvSpPr txBox="1"/>
          <p:nvPr/>
        </p:nvSpPr>
        <p:spPr>
          <a:xfrm>
            <a:off x="8277225" y="2586037"/>
            <a:ext cx="3914775" cy="219075"/>
          </a:xfrm>
          <a:prstGeom prst="rect">
            <a:avLst/>
          </a:prstGeom>
          <a:noFill/>
        </p:spPr>
        <p:txBody>
          <a:bodyPr wrap="none" lIns="152400" tIns="0" rIns="0" bIns="0" anchor="t">
            <a:spAutoFit/>
          </a:bodyPr>
          <a:lstStyle/>
          <a:p>
            <a:pPr algn="l"/>
            <a:r>
              <a:rPr sz="1350" b="1" i="0" u="none">
                <a:solidFill>
                  <a:srgbClr val="0D9488"/>
                </a:solidFill>
                <a:latin typeface="Plus Jakarta Sans"/>
              </a:rPr>
              <a:t>Database &amp; Storage</a:t>
            </a:r>
          </a:p>
        </p:txBody>
      </p:sp>
      <p:sp>
        <p:nvSpPr>
          <p:cNvPr id="27" name="TextBox 26"/>
          <p:cNvSpPr txBox="1"/>
          <p:nvPr/>
        </p:nvSpPr>
        <p:spPr>
          <a:xfrm>
            <a:off x="8277225" y="2881312"/>
            <a:ext cx="3352800" cy="400050"/>
          </a:xfrm>
          <a:prstGeom prst="rect">
            <a:avLst/>
          </a:prstGeom>
          <a:noFill/>
        </p:spPr>
        <p:txBody>
          <a:bodyPr wrap="square" lIns="0" tIns="0" rIns="0" bIns="0" anchor="t">
            <a:spAutoFit/>
          </a:bodyPr>
          <a:lstStyle/>
          <a:p>
            <a:pPr algn="l"/>
            <a:r>
              <a:rPr sz="1350" b="0" i="0" u="none">
                <a:solidFill>
                  <a:srgbClr val="475569"/>
                </a:solidFill>
                <a:latin typeface="Inter"/>
              </a:rPr>
              <a:t>MongoDB Atlas Cloud, PyMongo / MongoEngine Schema</a:t>
            </a:r>
          </a:p>
        </p:txBody>
      </p:sp>
      <p:sp>
        <p:nvSpPr>
          <p:cNvPr id="28" name="TextBox 27"/>
          <p:cNvSpPr txBox="1"/>
          <p:nvPr/>
        </p:nvSpPr>
        <p:spPr>
          <a:xfrm>
            <a:off x="657225" y="4081462"/>
            <a:ext cx="4275534" cy="219075"/>
          </a:xfrm>
          <a:prstGeom prst="rect">
            <a:avLst/>
          </a:prstGeom>
          <a:noFill/>
        </p:spPr>
        <p:txBody>
          <a:bodyPr wrap="none" lIns="171450" tIns="0" rIns="0" bIns="0" anchor="t">
            <a:spAutoFit/>
          </a:bodyPr>
          <a:lstStyle/>
          <a:p>
            <a:pPr algn="l"/>
            <a:r>
              <a:rPr sz="1350" b="1" i="0" u="none">
                <a:solidFill>
                  <a:srgbClr val="0D9488"/>
                </a:solidFill>
                <a:latin typeface="Plus Jakarta Sans"/>
              </a:rPr>
              <a:t>AI &amp; Vector RAG Engine</a:t>
            </a:r>
          </a:p>
        </p:txBody>
      </p:sp>
      <p:sp>
        <p:nvSpPr>
          <p:cNvPr id="29" name="TextBox 28"/>
          <p:cNvSpPr txBox="1"/>
          <p:nvPr/>
        </p:nvSpPr>
        <p:spPr>
          <a:xfrm>
            <a:off x="657225" y="4376737"/>
            <a:ext cx="3352800" cy="400050"/>
          </a:xfrm>
          <a:prstGeom prst="rect">
            <a:avLst/>
          </a:prstGeom>
          <a:noFill/>
        </p:spPr>
        <p:txBody>
          <a:bodyPr wrap="square" lIns="0" tIns="0" rIns="0" bIns="0" anchor="t">
            <a:spAutoFit/>
          </a:bodyPr>
          <a:lstStyle/>
          <a:p>
            <a:pPr algn="l"/>
            <a:r>
              <a:rPr sz="1350" b="0" i="0" u="none">
                <a:solidFill>
                  <a:srgbClr val="475569"/>
                </a:solidFill>
                <a:latin typeface="Inter"/>
              </a:rPr>
              <a:t>LLM Integrations, Embedding Search, Sentiment Classifier</a:t>
            </a:r>
          </a:p>
        </p:txBody>
      </p:sp>
      <p:sp>
        <p:nvSpPr>
          <p:cNvPr id="30" name="TextBox 29"/>
          <p:cNvSpPr txBox="1"/>
          <p:nvPr/>
        </p:nvSpPr>
        <p:spPr>
          <a:xfrm>
            <a:off x="4467225" y="4081462"/>
            <a:ext cx="4275534" cy="219075"/>
          </a:xfrm>
          <a:prstGeom prst="rect">
            <a:avLst/>
          </a:prstGeom>
          <a:noFill/>
        </p:spPr>
        <p:txBody>
          <a:bodyPr wrap="none" lIns="133350" tIns="0" rIns="0" bIns="0" anchor="t">
            <a:spAutoFit/>
          </a:bodyPr>
          <a:lstStyle/>
          <a:p>
            <a:pPr algn="l"/>
            <a:r>
              <a:rPr sz="1350" b="1" i="0" u="none">
                <a:solidFill>
                  <a:srgbClr val="0D9488"/>
                </a:solidFill>
                <a:latin typeface="Plus Jakarta Sans"/>
              </a:rPr>
              <a:t>Ecosystem Integrations</a:t>
            </a:r>
          </a:p>
        </p:txBody>
      </p:sp>
      <p:sp>
        <p:nvSpPr>
          <p:cNvPr id="31" name="TextBox 30"/>
          <p:cNvSpPr txBox="1"/>
          <p:nvPr/>
        </p:nvSpPr>
        <p:spPr>
          <a:xfrm>
            <a:off x="4467225" y="4376737"/>
            <a:ext cx="3352800" cy="400050"/>
          </a:xfrm>
          <a:prstGeom prst="rect">
            <a:avLst/>
          </a:prstGeom>
          <a:noFill/>
        </p:spPr>
        <p:txBody>
          <a:bodyPr wrap="square" lIns="0" tIns="0" rIns="0" bIns="0" anchor="t">
            <a:spAutoFit/>
          </a:bodyPr>
          <a:lstStyle/>
          <a:p>
            <a:pPr algn="l"/>
            <a:r>
              <a:rPr sz="1350" b="0" i="0" u="none">
                <a:solidFill>
                  <a:srgbClr val="475569"/>
                </a:solidFill>
                <a:latin typeface="Inter"/>
              </a:rPr>
              <a:t>Jira REST API v3 Sync, SMTP Email Automation Framework</a:t>
            </a:r>
          </a:p>
        </p:txBody>
      </p:sp>
      <p:sp>
        <p:nvSpPr>
          <p:cNvPr id="32" name="TextBox 31"/>
          <p:cNvSpPr txBox="1"/>
          <p:nvPr/>
        </p:nvSpPr>
        <p:spPr>
          <a:xfrm>
            <a:off x="8277225" y="4081462"/>
            <a:ext cx="3914775" cy="219075"/>
          </a:xfrm>
          <a:prstGeom prst="rect">
            <a:avLst/>
          </a:prstGeom>
          <a:noFill/>
        </p:spPr>
        <p:txBody>
          <a:bodyPr wrap="none" lIns="219075" tIns="0" rIns="0" bIns="0" anchor="t">
            <a:spAutoFit/>
          </a:bodyPr>
          <a:lstStyle/>
          <a:p>
            <a:pPr algn="l"/>
            <a:r>
              <a:rPr sz="1350" b="1" i="0" u="none">
                <a:solidFill>
                  <a:srgbClr val="0D9488"/>
                </a:solidFill>
                <a:latin typeface="Plus Jakarta Sans"/>
              </a:rPr>
              <a:t>Cloud Deployment</a:t>
            </a:r>
          </a:p>
        </p:txBody>
      </p:sp>
      <p:sp>
        <p:nvSpPr>
          <p:cNvPr id="33" name="TextBox 32"/>
          <p:cNvSpPr txBox="1"/>
          <p:nvPr/>
        </p:nvSpPr>
        <p:spPr>
          <a:xfrm>
            <a:off x="8277225" y="4376737"/>
            <a:ext cx="3352800" cy="400050"/>
          </a:xfrm>
          <a:prstGeom prst="rect">
            <a:avLst/>
          </a:prstGeom>
          <a:noFill/>
        </p:spPr>
        <p:txBody>
          <a:bodyPr wrap="square" lIns="0" tIns="0" rIns="0" bIns="0" anchor="t">
            <a:spAutoFit/>
          </a:bodyPr>
          <a:lstStyle/>
          <a:p>
            <a:pPr algn="l"/>
            <a:r>
              <a:rPr sz="1350" b="0" i="0" u="none">
                <a:solidFill>
                  <a:srgbClr val="475569"/>
                </a:solidFill>
                <a:latin typeface="Inter"/>
              </a:rPr>
              <a:t>Vercel (Frontend CDN), Render Web Service (Backend)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2943225"/>
            <a:ext cx="2705100" cy="1724025"/>
          </a:xfrm>
          <a:prstGeom prst="roundRect">
            <a:avLst>
              <a:gd name="adj" fmla="val 4419"/>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314700" y="2943225"/>
            <a:ext cx="2705100" cy="1724025"/>
          </a:xfrm>
          <a:prstGeom prst="roundRect">
            <a:avLst>
              <a:gd name="adj" fmla="val 4419"/>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72200" y="2943225"/>
            <a:ext cx="2705100" cy="1724025"/>
          </a:xfrm>
          <a:prstGeom prst="roundRect">
            <a:avLst>
              <a:gd name="adj" fmla="val 4419"/>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029700" y="2943225"/>
            <a:ext cx="2705100" cy="1724025"/>
          </a:xfrm>
          <a:prstGeom prst="roundRect">
            <a:avLst>
              <a:gd name="adj" fmla="val 4419"/>
            </a:avLst>
          </a:prstGeom>
          <a:solidFill>
            <a:srgbClr val="F8FA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MEASURABLE VALUE</a:t>
            </a:r>
          </a:p>
        </p:txBody>
      </p:sp>
      <p:sp>
        <p:nvSpPr>
          <p:cNvPr id="7" name="TextBox 6"/>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Project Impact &amp; Operational Benchmarks</a:t>
            </a:r>
          </a:p>
        </p:txBody>
      </p:sp>
      <p:sp>
        <p:nvSpPr>
          <p:cNvPr id="8" name="TextBox 7"/>
          <p:cNvSpPr txBox="1"/>
          <p:nvPr/>
        </p:nvSpPr>
        <p:spPr>
          <a:xfrm>
            <a:off x="416718" y="3181350"/>
            <a:ext cx="2786062" cy="466725"/>
          </a:xfrm>
          <a:prstGeom prst="rect">
            <a:avLst/>
          </a:prstGeom>
          <a:noFill/>
        </p:spPr>
        <p:txBody>
          <a:bodyPr wrap="none" lIns="0" tIns="0" rIns="0" bIns="0" anchor="t">
            <a:spAutoFit/>
          </a:bodyPr>
          <a:lstStyle/>
          <a:p>
            <a:pPr algn="ctr"/>
            <a:r>
              <a:rPr sz="3000" b="1" i="0" u="none">
                <a:solidFill>
                  <a:srgbClr val="0D9488"/>
                </a:solidFill>
                <a:latin typeface="Inter"/>
              </a:rPr>
              <a:t>75%</a:t>
            </a:r>
          </a:p>
        </p:txBody>
      </p:sp>
      <p:sp>
        <p:nvSpPr>
          <p:cNvPr id="9" name="TextBox 8"/>
          <p:cNvSpPr txBox="1"/>
          <p:nvPr/>
        </p:nvSpPr>
        <p:spPr>
          <a:xfrm>
            <a:off x="416718" y="3686175"/>
            <a:ext cx="2786062" cy="200025"/>
          </a:xfrm>
          <a:prstGeom prst="rect">
            <a:avLst/>
          </a:prstGeom>
          <a:noFill/>
        </p:spPr>
        <p:txBody>
          <a:bodyPr wrap="none" lIns="0" tIns="0" rIns="0" bIns="0" anchor="t">
            <a:spAutoFit/>
          </a:bodyPr>
          <a:lstStyle/>
          <a:p>
            <a:pPr algn="ctr"/>
            <a:r>
              <a:rPr sz="1350" b="1" i="0" u="none">
                <a:solidFill>
                  <a:srgbClr val="0F2922"/>
                </a:solidFill>
                <a:latin typeface="Inter"/>
              </a:rPr>
              <a:t>Repetitive Work Cut</a:t>
            </a:r>
          </a:p>
        </p:txBody>
      </p:sp>
      <p:sp>
        <p:nvSpPr>
          <p:cNvPr id="10" name="TextBox 9"/>
          <p:cNvSpPr txBox="1"/>
          <p:nvPr/>
        </p:nvSpPr>
        <p:spPr>
          <a:xfrm>
            <a:off x="416718" y="3943350"/>
            <a:ext cx="2786062" cy="485775"/>
          </a:xfrm>
          <a:prstGeom prst="rect">
            <a:avLst/>
          </a:prstGeom>
          <a:noFill/>
        </p:spPr>
        <p:txBody>
          <a:bodyPr wrap="square" lIns="0" tIns="0" rIns="0" bIns="0" anchor="t">
            <a:spAutoFit/>
          </a:bodyPr>
          <a:lstStyle/>
          <a:p>
            <a:pPr algn="ctr"/>
            <a:r>
              <a:rPr sz="1050" b="0" i="0" u="none">
                <a:solidFill>
                  <a:srgbClr val="64748B"/>
                </a:solidFill>
                <a:latin typeface="Inter"/>
              </a:rPr>
              <a:t>Automating L1 query response handling and standard troubleshooting steps.</a:t>
            </a:r>
          </a:p>
        </p:txBody>
      </p:sp>
      <p:sp>
        <p:nvSpPr>
          <p:cNvPr id="11" name="TextBox 10"/>
          <p:cNvSpPr txBox="1"/>
          <p:nvPr/>
        </p:nvSpPr>
        <p:spPr>
          <a:xfrm>
            <a:off x="3274218" y="3181350"/>
            <a:ext cx="2786062" cy="466725"/>
          </a:xfrm>
          <a:prstGeom prst="rect">
            <a:avLst/>
          </a:prstGeom>
          <a:noFill/>
        </p:spPr>
        <p:txBody>
          <a:bodyPr wrap="none" lIns="0" tIns="0" rIns="0" bIns="0" anchor="t">
            <a:spAutoFit/>
          </a:bodyPr>
          <a:lstStyle/>
          <a:p>
            <a:pPr algn="ctr"/>
            <a:r>
              <a:rPr sz="3000" b="1" i="0" u="none">
                <a:solidFill>
                  <a:srgbClr val="0D9488"/>
                </a:solidFill>
                <a:latin typeface="Inter"/>
              </a:rPr>
              <a:t>10x</a:t>
            </a:r>
          </a:p>
        </p:txBody>
      </p:sp>
      <p:sp>
        <p:nvSpPr>
          <p:cNvPr id="12" name="TextBox 11"/>
          <p:cNvSpPr txBox="1"/>
          <p:nvPr/>
        </p:nvSpPr>
        <p:spPr>
          <a:xfrm>
            <a:off x="3274218" y="3686175"/>
            <a:ext cx="2786062" cy="200025"/>
          </a:xfrm>
          <a:prstGeom prst="rect">
            <a:avLst/>
          </a:prstGeom>
          <a:noFill/>
        </p:spPr>
        <p:txBody>
          <a:bodyPr wrap="none" lIns="0" tIns="0" rIns="0" bIns="0" anchor="t">
            <a:spAutoFit/>
          </a:bodyPr>
          <a:lstStyle/>
          <a:p>
            <a:pPr algn="ctr"/>
            <a:r>
              <a:rPr sz="1350" b="1" i="0" u="none">
                <a:solidFill>
                  <a:srgbClr val="0F2922"/>
                </a:solidFill>
                <a:latin typeface="Inter"/>
              </a:rPr>
              <a:t>Faster Triage Speed</a:t>
            </a:r>
          </a:p>
        </p:txBody>
      </p:sp>
      <p:sp>
        <p:nvSpPr>
          <p:cNvPr id="13" name="TextBox 12"/>
          <p:cNvSpPr txBox="1"/>
          <p:nvPr/>
        </p:nvSpPr>
        <p:spPr>
          <a:xfrm>
            <a:off x="3274218" y="3943350"/>
            <a:ext cx="2786062" cy="485775"/>
          </a:xfrm>
          <a:prstGeom prst="rect">
            <a:avLst/>
          </a:prstGeom>
          <a:noFill/>
        </p:spPr>
        <p:txBody>
          <a:bodyPr wrap="square" lIns="0" tIns="0" rIns="0" bIns="0" anchor="t">
            <a:spAutoFit/>
          </a:bodyPr>
          <a:lstStyle/>
          <a:p>
            <a:pPr algn="ctr"/>
            <a:r>
              <a:rPr sz="1050" b="0" i="0" u="none">
                <a:solidFill>
                  <a:srgbClr val="64748B"/>
                </a:solidFill>
                <a:latin typeface="Inter"/>
              </a:rPr>
              <a:t>Instant category, severity, and customer sentiment classification upon submission.</a:t>
            </a:r>
          </a:p>
        </p:txBody>
      </p:sp>
      <p:sp>
        <p:nvSpPr>
          <p:cNvPr id="14" name="TextBox 13"/>
          <p:cNvSpPr txBox="1"/>
          <p:nvPr/>
        </p:nvSpPr>
        <p:spPr>
          <a:xfrm>
            <a:off x="6131718" y="3181350"/>
            <a:ext cx="2786062" cy="466725"/>
          </a:xfrm>
          <a:prstGeom prst="rect">
            <a:avLst/>
          </a:prstGeom>
          <a:noFill/>
        </p:spPr>
        <p:txBody>
          <a:bodyPr wrap="none" lIns="0" tIns="0" rIns="0" bIns="0" anchor="t">
            <a:spAutoFit/>
          </a:bodyPr>
          <a:lstStyle/>
          <a:p>
            <a:pPr algn="ctr"/>
            <a:r>
              <a:rPr sz="3000" b="1" i="0" u="none">
                <a:solidFill>
                  <a:srgbClr val="0D9488"/>
                </a:solidFill>
                <a:latin typeface="Inter"/>
              </a:rPr>
              <a:t>&lt;1s</a:t>
            </a:r>
          </a:p>
        </p:txBody>
      </p:sp>
      <p:sp>
        <p:nvSpPr>
          <p:cNvPr id="15" name="TextBox 14"/>
          <p:cNvSpPr txBox="1"/>
          <p:nvPr/>
        </p:nvSpPr>
        <p:spPr>
          <a:xfrm>
            <a:off x="6131718" y="3686175"/>
            <a:ext cx="2786062" cy="200025"/>
          </a:xfrm>
          <a:prstGeom prst="rect">
            <a:avLst/>
          </a:prstGeom>
          <a:noFill/>
        </p:spPr>
        <p:txBody>
          <a:bodyPr wrap="none" lIns="0" tIns="0" rIns="0" bIns="0" anchor="t">
            <a:spAutoFit/>
          </a:bodyPr>
          <a:lstStyle/>
          <a:p>
            <a:pPr algn="ctr"/>
            <a:r>
              <a:rPr sz="1350" b="1" i="0" u="none">
                <a:solidFill>
                  <a:srgbClr val="0F2922"/>
                </a:solidFill>
                <a:latin typeface="Inter"/>
              </a:rPr>
              <a:t>Knowledge Retrieval</a:t>
            </a:r>
          </a:p>
        </p:txBody>
      </p:sp>
      <p:sp>
        <p:nvSpPr>
          <p:cNvPr id="16" name="TextBox 15"/>
          <p:cNvSpPr txBox="1"/>
          <p:nvPr/>
        </p:nvSpPr>
        <p:spPr>
          <a:xfrm>
            <a:off x="6131718" y="3943350"/>
            <a:ext cx="2786062" cy="485775"/>
          </a:xfrm>
          <a:prstGeom prst="rect">
            <a:avLst/>
          </a:prstGeom>
          <a:noFill/>
        </p:spPr>
        <p:txBody>
          <a:bodyPr wrap="square" lIns="0" tIns="0" rIns="0" bIns="0" anchor="t">
            <a:spAutoFit/>
          </a:bodyPr>
          <a:lstStyle/>
          <a:p>
            <a:pPr algn="ctr"/>
            <a:r>
              <a:rPr sz="1050" b="0" i="0" u="none">
                <a:solidFill>
                  <a:srgbClr val="64748B"/>
                </a:solidFill>
                <a:latin typeface="Inter"/>
              </a:rPr>
              <a:t>Vector similarity search pinpointing exact documentation across millions of words.</a:t>
            </a:r>
          </a:p>
        </p:txBody>
      </p:sp>
      <p:sp>
        <p:nvSpPr>
          <p:cNvPr id="17" name="TextBox 16"/>
          <p:cNvSpPr txBox="1"/>
          <p:nvPr/>
        </p:nvSpPr>
        <p:spPr>
          <a:xfrm>
            <a:off x="8989218" y="3181350"/>
            <a:ext cx="2786062" cy="466725"/>
          </a:xfrm>
          <a:prstGeom prst="rect">
            <a:avLst/>
          </a:prstGeom>
          <a:noFill/>
        </p:spPr>
        <p:txBody>
          <a:bodyPr wrap="none" lIns="0" tIns="0" rIns="0" bIns="0" anchor="t">
            <a:spAutoFit/>
          </a:bodyPr>
          <a:lstStyle/>
          <a:p>
            <a:pPr algn="ctr"/>
            <a:r>
              <a:rPr sz="3000" b="1" i="0" u="none">
                <a:solidFill>
                  <a:srgbClr val="0D9488"/>
                </a:solidFill>
                <a:latin typeface="Inter"/>
              </a:rPr>
              <a:t>100%</a:t>
            </a:r>
          </a:p>
        </p:txBody>
      </p:sp>
      <p:sp>
        <p:nvSpPr>
          <p:cNvPr id="18" name="TextBox 17"/>
          <p:cNvSpPr txBox="1"/>
          <p:nvPr/>
        </p:nvSpPr>
        <p:spPr>
          <a:xfrm>
            <a:off x="8989218" y="3686175"/>
            <a:ext cx="2786062" cy="200025"/>
          </a:xfrm>
          <a:prstGeom prst="rect">
            <a:avLst/>
          </a:prstGeom>
          <a:noFill/>
        </p:spPr>
        <p:txBody>
          <a:bodyPr wrap="none" lIns="0" tIns="0" rIns="0" bIns="0" anchor="t">
            <a:spAutoFit/>
          </a:bodyPr>
          <a:lstStyle/>
          <a:p>
            <a:pPr algn="ctr"/>
            <a:r>
              <a:rPr sz="1350" b="1" i="0" u="none">
                <a:solidFill>
                  <a:srgbClr val="0F2922"/>
                </a:solidFill>
                <a:latin typeface="Inter"/>
              </a:rPr>
              <a:t>SLA Audit Visibility</a:t>
            </a:r>
          </a:p>
        </p:txBody>
      </p:sp>
      <p:sp>
        <p:nvSpPr>
          <p:cNvPr id="19" name="TextBox 18"/>
          <p:cNvSpPr txBox="1"/>
          <p:nvPr/>
        </p:nvSpPr>
        <p:spPr>
          <a:xfrm>
            <a:off x="8989218" y="3943350"/>
            <a:ext cx="2786062" cy="485775"/>
          </a:xfrm>
          <a:prstGeom prst="rect">
            <a:avLst/>
          </a:prstGeom>
          <a:noFill/>
        </p:spPr>
        <p:txBody>
          <a:bodyPr wrap="square" lIns="0" tIns="0" rIns="0" bIns="0" anchor="t">
            <a:spAutoFit/>
          </a:bodyPr>
          <a:lstStyle/>
          <a:p>
            <a:pPr algn="ctr"/>
            <a:r>
              <a:rPr sz="1050" b="0" i="0" u="none">
                <a:solidFill>
                  <a:srgbClr val="64748B"/>
                </a:solidFill>
                <a:latin typeface="Inter"/>
              </a:rPr>
              <a:t>Proactive countdown monitoring, breach prevention, and manager alerts.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9"/>
        </a:solidFill>
        <a:effectLst/>
      </p:bgPr>
    </p:bg>
    <p:spTree>
      <p:nvGrpSpPr>
        <p:cNvPr id="1" name=""/>
        <p:cNvGrpSpPr/>
        <p:nvPr/>
      </p:nvGrpSpPr>
      <p:grpSpPr>
        <a:xfrm>
          <a:off x="0" y="0"/>
          <a:ext cx="0" cy="0"/>
          <a:chOff x="0" y="0"/>
          <a:chExt cx="0" cy="0"/>
        </a:xfrm>
      </p:grpSpPr>
      <p:sp>
        <p:nvSpPr>
          <p:cNvPr id="2" name="Rounded Rectangle 1"/>
          <p:cNvSpPr/>
          <p:nvPr/>
        </p:nvSpPr>
        <p:spPr>
          <a:xfrm>
            <a:off x="457200" y="2224087"/>
            <a:ext cx="5562600" cy="1504950"/>
          </a:xfrm>
          <a:prstGeom prst="roundRect">
            <a:avLst>
              <a:gd name="adj" fmla="val 506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172200" y="2224087"/>
            <a:ext cx="5562600" cy="1504950"/>
          </a:xfrm>
          <a:prstGeom prst="roundRect">
            <a:avLst>
              <a:gd name="adj" fmla="val 506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3881437"/>
            <a:ext cx="5562600" cy="1504950"/>
          </a:xfrm>
          <a:prstGeom prst="roundRect">
            <a:avLst>
              <a:gd name="adj" fmla="val 506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72200" y="3881437"/>
            <a:ext cx="5562600" cy="1504950"/>
          </a:xfrm>
          <a:prstGeom prst="roundRect">
            <a:avLst>
              <a:gd name="adj" fmla="val 506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8-WEEK MILESTONES</a:t>
            </a:r>
          </a:p>
        </p:txBody>
      </p:sp>
      <p:sp>
        <p:nvSpPr>
          <p:cNvPr id="7" name="TextBox 6"/>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Key Project Deliverables &amp; Outcomes</a:t>
            </a:r>
          </a:p>
        </p:txBody>
      </p:sp>
      <p:sp>
        <p:nvSpPr>
          <p:cNvPr id="8" name="TextBox 7"/>
          <p:cNvSpPr txBox="1"/>
          <p:nvPr/>
        </p:nvSpPr>
        <p:spPr>
          <a:xfrm>
            <a:off x="647700" y="2414587"/>
            <a:ext cx="5276850" cy="1123950"/>
          </a:xfrm>
          <a:prstGeom prst="rect">
            <a:avLst/>
          </a:prstGeom>
          <a:noFill/>
        </p:spPr>
        <p:txBody>
          <a:bodyPr wrap="square" lIns="0" tIns="0" rIns="0" bIns="0" anchor="t">
            <a:spAutoFit/>
          </a:bodyPr>
          <a:lstStyle/>
          <a:p>
            <a:pPr algn="l"/>
            <a:r>
              <a:rPr sz="900" b="1" i="0" u="none">
                <a:solidFill>
                  <a:srgbClr val="0D9488"/>
                </a:solidFill>
                <a:latin typeface="Inter"/>
              </a:rPr>
              <a:t>Milestone 1 • Weeks 1-2</a:t>
            </a:r>
          </a:p>
        </p:txBody>
      </p:sp>
      <p:sp>
        <p:nvSpPr>
          <p:cNvPr id="9" name="TextBox 8"/>
          <p:cNvSpPr txBox="1"/>
          <p:nvPr/>
        </p:nvSpPr>
        <p:spPr>
          <a:xfrm>
            <a:off x="6362700" y="2414587"/>
            <a:ext cx="5276850" cy="1123950"/>
          </a:xfrm>
          <a:prstGeom prst="rect">
            <a:avLst/>
          </a:prstGeom>
          <a:noFill/>
        </p:spPr>
        <p:txBody>
          <a:bodyPr wrap="square" lIns="0" tIns="0" rIns="0" bIns="0" anchor="t">
            <a:spAutoFit/>
          </a:bodyPr>
          <a:lstStyle/>
          <a:p>
            <a:pPr algn="l"/>
            <a:r>
              <a:rPr sz="900" b="1" i="0" u="none">
                <a:solidFill>
                  <a:srgbClr val="0D9488"/>
                </a:solidFill>
                <a:latin typeface="Inter"/>
              </a:rPr>
              <a:t>Milestone 2 • Weeks 3-4</a:t>
            </a:r>
          </a:p>
        </p:txBody>
      </p:sp>
      <p:sp>
        <p:nvSpPr>
          <p:cNvPr id="10" name="TextBox 9"/>
          <p:cNvSpPr txBox="1"/>
          <p:nvPr/>
        </p:nvSpPr>
        <p:spPr>
          <a:xfrm>
            <a:off x="647700" y="4071937"/>
            <a:ext cx="5276850" cy="1123950"/>
          </a:xfrm>
          <a:prstGeom prst="rect">
            <a:avLst/>
          </a:prstGeom>
          <a:noFill/>
        </p:spPr>
        <p:txBody>
          <a:bodyPr wrap="square" lIns="0" tIns="0" rIns="0" bIns="0" anchor="t">
            <a:spAutoFit/>
          </a:bodyPr>
          <a:lstStyle/>
          <a:p>
            <a:pPr algn="l"/>
            <a:r>
              <a:rPr sz="900" b="1" i="0" u="none">
                <a:solidFill>
                  <a:srgbClr val="0D9488"/>
                </a:solidFill>
                <a:latin typeface="Inter"/>
              </a:rPr>
              <a:t>Milestone 3 • Weeks 5-6</a:t>
            </a:r>
          </a:p>
        </p:txBody>
      </p:sp>
      <p:sp>
        <p:nvSpPr>
          <p:cNvPr id="11" name="TextBox 10"/>
          <p:cNvSpPr txBox="1"/>
          <p:nvPr/>
        </p:nvSpPr>
        <p:spPr>
          <a:xfrm>
            <a:off x="6362700" y="4071937"/>
            <a:ext cx="5276850" cy="1123950"/>
          </a:xfrm>
          <a:prstGeom prst="rect">
            <a:avLst/>
          </a:prstGeom>
          <a:noFill/>
        </p:spPr>
        <p:txBody>
          <a:bodyPr wrap="square" lIns="0" tIns="0" rIns="0" bIns="0" anchor="t">
            <a:spAutoFit/>
          </a:bodyPr>
          <a:lstStyle/>
          <a:p>
            <a:pPr algn="l"/>
            <a:r>
              <a:rPr sz="900" b="1" i="0" u="none">
                <a:solidFill>
                  <a:srgbClr val="0D9488"/>
                </a:solidFill>
                <a:latin typeface="Inter"/>
              </a:rPr>
              <a:t>Milestone 4 • Weeks 7-8</a:t>
            </a:r>
          </a:p>
        </p:txBody>
      </p:sp>
      <p:sp>
        <p:nvSpPr>
          <p:cNvPr id="12" name="TextBox 11"/>
          <p:cNvSpPr txBox="1"/>
          <p:nvPr/>
        </p:nvSpPr>
        <p:spPr>
          <a:xfrm>
            <a:off x="657225" y="2652712"/>
            <a:ext cx="6775846" cy="219075"/>
          </a:xfrm>
          <a:prstGeom prst="rect">
            <a:avLst/>
          </a:prstGeom>
          <a:noFill/>
        </p:spPr>
        <p:txBody>
          <a:bodyPr wrap="none" lIns="0" tIns="0" rIns="0" bIns="0" anchor="t">
            <a:spAutoFit/>
          </a:bodyPr>
          <a:lstStyle/>
          <a:p>
            <a:pPr algn="l"/>
            <a:r>
              <a:rPr sz="1350" b="1" i="0" u="none">
                <a:solidFill>
                  <a:srgbClr val="0F2922"/>
                </a:solidFill>
                <a:latin typeface="Plus Jakarta Sans"/>
              </a:rPr>
              <a:t>Lifecycle Foundation &amp; Schema</a:t>
            </a:r>
          </a:p>
        </p:txBody>
      </p:sp>
      <p:sp>
        <p:nvSpPr>
          <p:cNvPr id="13" name="TextBox 12"/>
          <p:cNvSpPr txBox="1"/>
          <p:nvPr/>
        </p:nvSpPr>
        <p:spPr>
          <a:xfrm>
            <a:off x="657225" y="2928937"/>
            <a:ext cx="5257800" cy="600075"/>
          </a:xfrm>
          <a:prstGeom prst="rect">
            <a:avLst/>
          </a:prstGeom>
          <a:noFill/>
        </p:spPr>
        <p:txBody>
          <a:bodyPr wrap="square" lIns="0" tIns="0" rIns="0" bIns="0" anchor="t">
            <a:spAutoFit/>
          </a:bodyPr>
          <a:lstStyle/>
          <a:p>
            <a:pPr algn="l"/>
            <a:r>
              <a:rPr sz="1350" b="0" i="0" u="none">
                <a:solidFill>
                  <a:srgbClr val="475569"/>
                </a:solidFill>
                <a:latin typeface="Inter"/>
              </a:rPr>
              <a:t>Designed MongoDB schemas, Django REST authentication API, role-based access control, and complete ticket state transition model.</a:t>
            </a:r>
          </a:p>
        </p:txBody>
      </p:sp>
      <p:sp>
        <p:nvSpPr>
          <p:cNvPr id="14" name="TextBox 13"/>
          <p:cNvSpPr txBox="1"/>
          <p:nvPr/>
        </p:nvSpPr>
        <p:spPr>
          <a:xfrm>
            <a:off x="6372225" y="2652712"/>
            <a:ext cx="5819775" cy="219075"/>
          </a:xfrm>
          <a:prstGeom prst="rect">
            <a:avLst/>
          </a:prstGeom>
          <a:noFill/>
        </p:spPr>
        <p:txBody>
          <a:bodyPr wrap="none" lIns="0" tIns="0" rIns="0" bIns="0" anchor="t">
            <a:spAutoFit/>
          </a:bodyPr>
          <a:lstStyle/>
          <a:p>
            <a:pPr algn="l"/>
            <a:r>
              <a:rPr sz="1350" b="1" i="0" u="none">
                <a:solidFill>
                  <a:srgbClr val="0F2922"/>
                </a:solidFill>
                <a:latin typeface="Plus Jakarta Sans"/>
              </a:rPr>
              <a:t>AI Classification &amp; RAG Pipeline</a:t>
            </a:r>
          </a:p>
        </p:txBody>
      </p:sp>
      <p:sp>
        <p:nvSpPr>
          <p:cNvPr id="15" name="TextBox 14"/>
          <p:cNvSpPr txBox="1"/>
          <p:nvPr/>
        </p:nvSpPr>
        <p:spPr>
          <a:xfrm>
            <a:off x="6372225" y="2928937"/>
            <a:ext cx="5257800" cy="400050"/>
          </a:xfrm>
          <a:prstGeom prst="rect">
            <a:avLst/>
          </a:prstGeom>
          <a:noFill/>
        </p:spPr>
        <p:txBody>
          <a:bodyPr wrap="square" lIns="0" tIns="0" rIns="0" bIns="0" anchor="t">
            <a:spAutoFit/>
          </a:bodyPr>
          <a:lstStyle/>
          <a:p>
            <a:pPr algn="l"/>
            <a:r>
              <a:rPr sz="1350" b="0" i="0" u="none">
                <a:solidFill>
                  <a:srgbClr val="475569"/>
                </a:solidFill>
                <a:latin typeface="Inter"/>
              </a:rPr>
              <a:t>Integrated automated category and priority classifier, VADER sentiment analyzer, and vector RAG document retrieval engine.</a:t>
            </a:r>
          </a:p>
        </p:txBody>
      </p:sp>
      <p:sp>
        <p:nvSpPr>
          <p:cNvPr id="16" name="TextBox 15"/>
          <p:cNvSpPr txBox="1"/>
          <p:nvPr/>
        </p:nvSpPr>
        <p:spPr>
          <a:xfrm>
            <a:off x="657225" y="4310062"/>
            <a:ext cx="6775846" cy="219075"/>
          </a:xfrm>
          <a:prstGeom prst="rect">
            <a:avLst/>
          </a:prstGeom>
          <a:noFill/>
        </p:spPr>
        <p:txBody>
          <a:bodyPr wrap="none" lIns="0" tIns="0" rIns="0" bIns="0" anchor="t">
            <a:spAutoFit/>
          </a:bodyPr>
          <a:lstStyle/>
          <a:p>
            <a:pPr algn="l"/>
            <a:r>
              <a:rPr sz="1350" b="1" i="0" u="none">
                <a:solidFill>
                  <a:srgbClr val="0F2922"/>
                </a:solidFill>
                <a:latin typeface="Plus Jakarta Sans"/>
              </a:rPr>
              <a:t>Confidence Routing &amp; Jira Sync</a:t>
            </a:r>
          </a:p>
        </p:txBody>
      </p:sp>
      <p:sp>
        <p:nvSpPr>
          <p:cNvPr id="17" name="TextBox 16"/>
          <p:cNvSpPr txBox="1"/>
          <p:nvPr/>
        </p:nvSpPr>
        <p:spPr>
          <a:xfrm>
            <a:off x="657225" y="4586287"/>
            <a:ext cx="5257800" cy="600075"/>
          </a:xfrm>
          <a:prstGeom prst="rect">
            <a:avLst/>
          </a:prstGeom>
          <a:noFill/>
        </p:spPr>
        <p:txBody>
          <a:bodyPr wrap="square" lIns="0" tIns="0" rIns="0" bIns="0" anchor="t">
            <a:spAutoFit/>
          </a:bodyPr>
          <a:lstStyle/>
          <a:p>
            <a:pPr algn="l"/>
            <a:r>
              <a:rPr sz="1350" b="0" i="0" u="none">
                <a:solidFill>
                  <a:srgbClr val="475569"/>
                </a:solidFill>
                <a:latin typeface="Inter"/>
              </a:rPr>
              <a:t>Implemented threshold-based automated resolution vs human agent escalation gate, two-way Jira sync, and automated SMTP notifications.</a:t>
            </a:r>
          </a:p>
        </p:txBody>
      </p:sp>
      <p:sp>
        <p:nvSpPr>
          <p:cNvPr id="18" name="TextBox 17"/>
          <p:cNvSpPr txBox="1"/>
          <p:nvPr/>
        </p:nvSpPr>
        <p:spPr>
          <a:xfrm>
            <a:off x="6372225" y="4310062"/>
            <a:ext cx="5819775" cy="219075"/>
          </a:xfrm>
          <a:prstGeom prst="rect">
            <a:avLst/>
          </a:prstGeom>
          <a:noFill/>
        </p:spPr>
        <p:txBody>
          <a:bodyPr wrap="none" lIns="0" tIns="0" rIns="0" bIns="0" anchor="t">
            <a:spAutoFit/>
          </a:bodyPr>
          <a:lstStyle/>
          <a:p>
            <a:pPr algn="l"/>
            <a:r>
              <a:rPr sz="1350" b="1" i="0" u="none">
                <a:solidFill>
                  <a:srgbClr val="0F2922"/>
                </a:solidFill>
                <a:latin typeface="Plus Jakarta Sans"/>
              </a:rPr>
              <a:t>Analytics &amp; Live Cloud Deployment</a:t>
            </a:r>
          </a:p>
        </p:txBody>
      </p:sp>
      <p:sp>
        <p:nvSpPr>
          <p:cNvPr id="19" name="TextBox 18"/>
          <p:cNvSpPr txBox="1"/>
          <p:nvPr/>
        </p:nvSpPr>
        <p:spPr>
          <a:xfrm>
            <a:off x="6372225" y="4586287"/>
            <a:ext cx="5257800" cy="600075"/>
          </a:xfrm>
          <a:prstGeom prst="rect">
            <a:avLst/>
          </a:prstGeom>
          <a:noFill/>
        </p:spPr>
        <p:txBody>
          <a:bodyPr wrap="square" lIns="0" tIns="0" rIns="0" bIns="0" anchor="t">
            <a:spAutoFit/>
          </a:bodyPr>
          <a:lstStyle/>
          <a:p>
            <a:pPr algn="l"/>
            <a:r>
              <a:rPr sz="1350" b="0" i="0" u="none">
                <a:solidFill>
                  <a:srgbClr val="475569"/>
                </a:solidFill>
                <a:latin typeface="Inter"/>
              </a:rPr>
              <a:t>Built Recharts analytics dashboards for managers, customer reopening feedback loop, and deployed live to Vercel and Render.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57200" y="2452687"/>
            <a:ext cx="5543550" cy="1257300"/>
          </a:xfrm>
          <a:prstGeom prst="roundRect">
            <a:avLst>
              <a:gd name="adj" fmla="val 4545"/>
            </a:avLst>
          </a:prstGeom>
          <a:solidFill>
            <a:srgbClr val="F8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191250" y="2452687"/>
            <a:ext cx="5543550" cy="1257300"/>
          </a:xfrm>
          <a:prstGeom prst="roundRect">
            <a:avLst>
              <a:gd name="adj" fmla="val 4545"/>
            </a:avLst>
          </a:prstGeom>
          <a:solidFill>
            <a:srgbClr val="F8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3900487"/>
            <a:ext cx="5543550" cy="1257300"/>
          </a:xfrm>
          <a:prstGeom prst="roundRect">
            <a:avLst>
              <a:gd name="adj" fmla="val 4545"/>
            </a:avLst>
          </a:prstGeom>
          <a:solidFill>
            <a:srgbClr val="F8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91250" y="3900487"/>
            <a:ext cx="5543550" cy="1257300"/>
          </a:xfrm>
          <a:prstGeom prst="roundRect">
            <a:avLst>
              <a:gd name="adj" fmla="val 4545"/>
            </a:avLst>
          </a:prstGeom>
          <a:solidFill>
            <a:srgbClr val="F8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452687"/>
            <a:ext cx="38100" cy="12573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191250" y="2452687"/>
            <a:ext cx="38100" cy="12573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3900487"/>
            <a:ext cx="38100" cy="12573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1250" y="3900487"/>
            <a:ext cx="38100" cy="12573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685800" y="2681287"/>
            <a:ext cx="152400" cy="171450"/>
          </a:xfrm>
          <a:prstGeom prst="rect">
            <a:avLst/>
          </a:prstGeom>
        </p:spPr>
      </p:pic>
      <p:pic>
        <p:nvPicPr>
          <p:cNvPr id="11" name="Picture 10" descr="image.png"/>
          <p:cNvPicPr>
            <a:picLocks noChangeAspect="1"/>
          </p:cNvPicPr>
          <p:nvPr/>
        </p:nvPicPr>
        <p:blipFill>
          <a:blip r:embed="rId3"/>
          <a:stretch>
            <a:fillRect/>
          </a:stretch>
        </p:blipFill>
        <p:spPr>
          <a:xfrm>
            <a:off x="6419850" y="2681287"/>
            <a:ext cx="171450" cy="171450"/>
          </a:xfrm>
          <a:prstGeom prst="rect">
            <a:avLst/>
          </a:prstGeom>
        </p:spPr>
      </p:pic>
      <p:pic>
        <p:nvPicPr>
          <p:cNvPr id="12" name="Picture 11" descr="image.png"/>
          <p:cNvPicPr>
            <a:picLocks noChangeAspect="1"/>
          </p:cNvPicPr>
          <p:nvPr/>
        </p:nvPicPr>
        <p:blipFill>
          <a:blip r:embed="rId4"/>
          <a:stretch>
            <a:fillRect/>
          </a:stretch>
        </p:blipFill>
        <p:spPr>
          <a:xfrm>
            <a:off x="685800" y="4129087"/>
            <a:ext cx="171450" cy="171450"/>
          </a:xfrm>
          <a:prstGeom prst="rect">
            <a:avLst/>
          </a:prstGeom>
        </p:spPr>
      </p:pic>
      <p:pic>
        <p:nvPicPr>
          <p:cNvPr id="13" name="Picture 12" descr="image.png"/>
          <p:cNvPicPr>
            <a:picLocks noChangeAspect="1"/>
          </p:cNvPicPr>
          <p:nvPr/>
        </p:nvPicPr>
        <p:blipFill>
          <a:blip r:embed="rId5"/>
          <a:stretch>
            <a:fillRect/>
          </a:stretch>
        </p:blipFill>
        <p:spPr>
          <a:xfrm>
            <a:off x="6419850" y="4129087"/>
            <a:ext cx="133350" cy="171450"/>
          </a:xfrm>
          <a:prstGeom prst="rect">
            <a:avLst/>
          </a:prstGeom>
        </p:spPr>
      </p:pic>
      <p:sp>
        <p:nvSpPr>
          <p:cNvPr id="14" name="TextBox 13"/>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STAKEHOLDER VALUE MATRIX</a:t>
            </a:r>
          </a:p>
        </p:txBody>
      </p:sp>
      <p:sp>
        <p:nvSpPr>
          <p:cNvPr id="15" name="TextBox 14"/>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Comprehensive Stakeholder Benefits</a:t>
            </a:r>
          </a:p>
        </p:txBody>
      </p:sp>
      <p:sp>
        <p:nvSpPr>
          <p:cNvPr id="16" name="TextBox 15"/>
          <p:cNvSpPr txBox="1"/>
          <p:nvPr/>
        </p:nvSpPr>
        <p:spPr>
          <a:xfrm>
            <a:off x="685800" y="2643187"/>
            <a:ext cx="6725840" cy="219075"/>
          </a:xfrm>
          <a:prstGeom prst="rect">
            <a:avLst/>
          </a:prstGeom>
          <a:noFill/>
        </p:spPr>
        <p:txBody>
          <a:bodyPr wrap="none" lIns="152400" tIns="0" rIns="0" bIns="0" anchor="t">
            <a:spAutoFit/>
          </a:bodyPr>
          <a:lstStyle/>
          <a:p>
            <a:pPr algn="l"/>
            <a:r>
              <a:rPr sz="1350" b="1" i="0" u="none">
                <a:solidFill>
                  <a:srgbClr val="0F2922"/>
                </a:solidFill>
                <a:latin typeface="Plus Jakarta Sans"/>
              </a:rPr>
              <a:t>For Customers</a:t>
            </a:r>
          </a:p>
        </p:txBody>
      </p:sp>
      <p:sp>
        <p:nvSpPr>
          <p:cNvPr id="17" name="TextBox 16"/>
          <p:cNvSpPr txBox="1"/>
          <p:nvPr/>
        </p:nvSpPr>
        <p:spPr>
          <a:xfrm>
            <a:off x="685800" y="2919412"/>
            <a:ext cx="5219700" cy="600075"/>
          </a:xfrm>
          <a:prstGeom prst="rect">
            <a:avLst/>
          </a:prstGeom>
          <a:noFill/>
        </p:spPr>
        <p:txBody>
          <a:bodyPr wrap="square" lIns="0" tIns="0" rIns="0" bIns="0" anchor="t">
            <a:spAutoFit/>
          </a:bodyPr>
          <a:lstStyle/>
          <a:p>
            <a:pPr algn="l"/>
            <a:r>
              <a:rPr sz="1350" b="0" i="0" u="none">
                <a:solidFill>
                  <a:srgbClr val="475569"/>
                </a:solidFill>
                <a:latin typeface="Inter"/>
              </a:rPr>
              <a:t>Near-instant answers to routine queries, 24/7 self-service accuracy, transparent stage tracking, and seamless single-click ticket reopening if solutions require further clarification.</a:t>
            </a:r>
          </a:p>
        </p:txBody>
      </p:sp>
      <p:sp>
        <p:nvSpPr>
          <p:cNvPr id="18" name="TextBox 17"/>
          <p:cNvSpPr txBox="1"/>
          <p:nvPr/>
        </p:nvSpPr>
        <p:spPr>
          <a:xfrm>
            <a:off x="6419850" y="2643187"/>
            <a:ext cx="5772150" cy="219075"/>
          </a:xfrm>
          <a:prstGeom prst="rect">
            <a:avLst/>
          </a:prstGeom>
          <a:noFill/>
        </p:spPr>
        <p:txBody>
          <a:bodyPr wrap="none" lIns="171450" tIns="0" rIns="0" bIns="0" anchor="t">
            <a:spAutoFit/>
          </a:bodyPr>
          <a:lstStyle/>
          <a:p>
            <a:pPr algn="l"/>
            <a:r>
              <a:rPr sz="1350" b="1" i="0" u="none">
                <a:solidFill>
                  <a:srgbClr val="0F2922"/>
                </a:solidFill>
                <a:latin typeface="Plus Jakarta Sans"/>
              </a:rPr>
              <a:t>For Support Agents</a:t>
            </a:r>
          </a:p>
        </p:txBody>
      </p:sp>
      <p:sp>
        <p:nvSpPr>
          <p:cNvPr id="19" name="TextBox 18"/>
          <p:cNvSpPr txBox="1"/>
          <p:nvPr/>
        </p:nvSpPr>
        <p:spPr>
          <a:xfrm>
            <a:off x="6419850" y="2919412"/>
            <a:ext cx="5219700" cy="600075"/>
          </a:xfrm>
          <a:prstGeom prst="rect">
            <a:avLst/>
          </a:prstGeom>
          <a:noFill/>
        </p:spPr>
        <p:txBody>
          <a:bodyPr wrap="square" lIns="0" tIns="0" rIns="0" bIns="0" anchor="t">
            <a:spAutoFit/>
          </a:bodyPr>
          <a:lstStyle/>
          <a:p>
            <a:pPr algn="l"/>
            <a:r>
              <a:rPr sz="1350" b="0" i="0" u="none">
                <a:solidFill>
                  <a:srgbClr val="475569"/>
                </a:solidFill>
                <a:latin typeface="Inter"/>
              </a:rPr>
              <a:t>Elimination of manual repetitive responses, instant AI-drafted context &amp; step-by-step documentation, automatic Jira issue creation, and focus on high-value complex tasks.</a:t>
            </a:r>
          </a:p>
        </p:txBody>
      </p:sp>
      <p:sp>
        <p:nvSpPr>
          <p:cNvPr id="20" name="TextBox 19"/>
          <p:cNvSpPr txBox="1"/>
          <p:nvPr/>
        </p:nvSpPr>
        <p:spPr>
          <a:xfrm>
            <a:off x="685800" y="4090987"/>
            <a:ext cx="6725840" cy="219075"/>
          </a:xfrm>
          <a:prstGeom prst="rect">
            <a:avLst/>
          </a:prstGeom>
          <a:noFill/>
        </p:spPr>
        <p:txBody>
          <a:bodyPr wrap="none" lIns="171450" tIns="0" rIns="0" bIns="0" anchor="t">
            <a:spAutoFit/>
          </a:bodyPr>
          <a:lstStyle/>
          <a:p>
            <a:pPr algn="l"/>
            <a:r>
              <a:rPr sz="1350" b="1" i="0" u="none">
                <a:solidFill>
                  <a:srgbClr val="0F2922"/>
                </a:solidFill>
                <a:latin typeface="Plus Jakarta Sans"/>
              </a:rPr>
              <a:t>For Support Managers</a:t>
            </a:r>
          </a:p>
        </p:txBody>
      </p:sp>
      <p:sp>
        <p:nvSpPr>
          <p:cNvPr id="21" name="TextBox 20"/>
          <p:cNvSpPr txBox="1"/>
          <p:nvPr/>
        </p:nvSpPr>
        <p:spPr>
          <a:xfrm>
            <a:off x="685800" y="4367212"/>
            <a:ext cx="5219700" cy="600075"/>
          </a:xfrm>
          <a:prstGeom prst="rect">
            <a:avLst/>
          </a:prstGeom>
          <a:noFill/>
        </p:spPr>
        <p:txBody>
          <a:bodyPr wrap="square" lIns="0" tIns="0" rIns="0" bIns="0" anchor="t">
            <a:spAutoFit/>
          </a:bodyPr>
          <a:lstStyle/>
          <a:p>
            <a:pPr algn="l"/>
            <a:r>
              <a:rPr sz="1350" b="0" i="0" u="none">
                <a:solidFill>
                  <a:srgbClr val="475569"/>
                </a:solidFill>
                <a:latin typeface="Inter"/>
              </a:rPr>
              <a:t>Real-time visibility into queue backlogs, automatic team workload balancing, instant SLA breach alerts, and quantitative insights into team resolution performance.</a:t>
            </a:r>
          </a:p>
        </p:txBody>
      </p:sp>
      <p:sp>
        <p:nvSpPr>
          <p:cNvPr id="22" name="TextBox 21"/>
          <p:cNvSpPr txBox="1"/>
          <p:nvPr/>
        </p:nvSpPr>
        <p:spPr>
          <a:xfrm>
            <a:off x="6419850" y="4090987"/>
            <a:ext cx="5772150" cy="219075"/>
          </a:xfrm>
          <a:prstGeom prst="rect">
            <a:avLst/>
          </a:prstGeom>
          <a:noFill/>
        </p:spPr>
        <p:txBody>
          <a:bodyPr wrap="none" lIns="133350" tIns="0" rIns="0" bIns="0" anchor="t">
            <a:spAutoFit/>
          </a:bodyPr>
          <a:lstStyle/>
          <a:p>
            <a:pPr algn="l"/>
            <a:r>
              <a:rPr sz="1350" b="1" i="0" u="none">
                <a:solidFill>
                  <a:srgbClr val="0F2922"/>
                </a:solidFill>
                <a:latin typeface="Plus Jakarta Sans"/>
              </a:rPr>
              <a:t>For Enterprise Organization</a:t>
            </a:r>
          </a:p>
        </p:txBody>
      </p:sp>
      <p:sp>
        <p:nvSpPr>
          <p:cNvPr id="23" name="TextBox 22"/>
          <p:cNvSpPr txBox="1"/>
          <p:nvPr/>
        </p:nvSpPr>
        <p:spPr>
          <a:xfrm>
            <a:off x="6419850" y="4367212"/>
            <a:ext cx="5219700" cy="600075"/>
          </a:xfrm>
          <a:prstGeom prst="rect">
            <a:avLst/>
          </a:prstGeom>
          <a:noFill/>
        </p:spPr>
        <p:txBody>
          <a:bodyPr wrap="square" lIns="0" tIns="0" rIns="0" bIns="0" anchor="t">
            <a:spAutoFit/>
          </a:bodyPr>
          <a:lstStyle/>
          <a:p>
            <a:pPr algn="l"/>
            <a:r>
              <a:rPr sz="1350" b="0" i="0" u="none">
                <a:solidFill>
                  <a:srgbClr val="475569"/>
                </a:solidFill>
                <a:latin typeface="Inter"/>
              </a:rPr>
              <a:t>Dramatically lowered operational cost per ticket, scalable support architecture without linear headcount growth, and improved customer satisfaction (CSAT) scores.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9"/>
        </a:solidFill>
        <a:effectLst/>
      </p:bgPr>
    </p:bg>
    <p:spTree>
      <p:nvGrpSpPr>
        <p:cNvPr id="1" name=""/>
        <p:cNvGrpSpPr/>
        <p:nvPr/>
      </p:nvGrpSpPr>
      <p:grpSpPr>
        <a:xfrm>
          <a:off x="0" y="0"/>
          <a:ext cx="0" cy="0"/>
          <a:chOff x="0" y="0"/>
          <a:chExt cx="0" cy="0"/>
        </a:xfrm>
      </p:grpSpPr>
      <p:sp>
        <p:nvSpPr>
          <p:cNvPr id="2" name="Rounded Rectangle 1"/>
          <p:cNvSpPr/>
          <p:nvPr/>
        </p:nvSpPr>
        <p:spPr>
          <a:xfrm>
            <a:off x="457200" y="1133475"/>
            <a:ext cx="5065514" cy="5343525"/>
          </a:xfrm>
          <a:prstGeom prst="roundRect">
            <a:avLst>
              <a:gd name="adj" fmla="val 150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751314" y="1133475"/>
            <a:ext cx="5983485" cy="5343525"/>
          </a:xfrm>
          <a:prstGeom prst="roundRect">
            <a:avLst>
              <a:gd name="adj" fmla="val 142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989439" y="1724025"/>
            <a:ext cx="2696467" cy="38100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800207" y="1724025"/>
            <a:ext cx="2696467" cy="381000"/>
          </a:xfrm>
          <a:prstGeom prst="roundRect">
            <a:avLst>
              <a:gd name="adj" fmla="val 1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89439" y="2219325"/>
            <a:ext cx="2696467" cy="5715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800207" y="2219325"/>
            <a:ext cx="2696467" cy="5715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989439" y="2905125"/>
            <a:ext cx="2696467" cy="5715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800207" y="2905125"/>
            <a:ext cx="2696467" cy="5715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81000"/>
            <a:ext cx="11734800" cy="161925"/>
          </a:xfrm>
          <a:prstGeom prst="rect">
            <a:avLst/>
          </a:prstGeom>
          <a:noFill/>
        </p:spPr>
        <p:txBody>
          <a:bodyPr wrap="none" lIns="0" tIns="0" rIns="0" bIns="0" anchor="t">
            <a:spAutoFit/>
          </a:bodyPr>
          <a:lstStyle/>
          <a:p>
            <a:pPr algn="l"/>
            <a:r>
              <a:rPr sz="1050" b="1" i="0" u="none">
                <a:solidFill>
                  <a:srgbClr val="0D9488"/>
                </a:solidFill>
                <a:latin typeface="Inter"/>
              </a:rPr>
              <a:t>VISION &amp; SCALE</a:t>
            </a:r>
          </a:p>
        </p:txBody>
      </p:sp>
      <p:sp>
        <p:nvSpPr>
          <p:cNvPr id="11" name="TextBox 10"/>
          <p:cNvSpPr txBox="1"/>
          <p:nvPr/>
        </p:nvSpPr>
        <p:spPr>
          <a:xfrm>
            <a:off x="457200" y="581025"/>
            <a:ext cx="11734800" cy="361950"/>
          </a:xfrm>
          <a:prstGeom prst="rect">
            <a:avLst/>
          </a:prstGeom>
          <a:noFill/>
        </p:spPr>
        <p:txBody>
          <a:bodyPr wrap="none" lIns="0" tIns="0" rIns="0" bIns="0" anchor="t">
            <a:spAutoFit/>
          </a:bodyPr>
          <a:lstStyle/>
          <a:p>
            <a:pPr algn="l"/>
            <a:r>
              <a:rPr sz="2250" b="1" i="0" u="none">
                <a:solidFill>
                  <a:srgbClr val="0F2922"/>
                </a:solidFill>
                <a:latin typeface="Plus Jakarta Sans"/>
              </a:rPr>
              <a:t>Real-World Enterprise Impact &amp; Future Roadmap</a:t>
            </a:r>
          </a:p>
        </p:txBody>
      </p:sp>
      <p:sp>
        <p:nvSpPr>
          <p:cNvPr id="12" name="TextBox 11"/>
          <p:cNvSpPr txBox="1"/>
          <p:nvPr/>
        </p:nvSpPr>
        <p:spPr>
          <a:xfrm>
            <a:off x="695325" y="1371600"/>
            <a:ext cx="6023409" cy="238125"/>
          </a:xfrm>
          <a:prstGeom prst="rect">
            <a:avLst/>
          </a:prstGeom>
          <a:noFill/>
        </p:spPr>
        <p:txBody>
          <a:bodyPr wrap="none" lIns="0" tIns="0" rIns="0" bIns="0" anchor="t">
            <a:spAutoFit/>
          </a:bodyPr>
          <a:lstStyle/>
          <a:p>
            <a:pPr algn="l"/>
            <a:r>
              <a:rPr sz="1500" b="1" i="0" u="none">
                <a:solidFill>
                  <a:srgbClr val="0F2922"/>
                </a:solidFill>
                <a:latin typeface="Plus Jakarta Sans"/>
              </a:rPr>
              <a:t>Real-World Enterprise Impact</a:t>
            </a:r>
          </a:p>
        </p:txBody>
      </p:sp>
      <p:sp>
        <p:nvSpPr>
          <p:cNvPr id="13" name="TextBox 12"/>
          <p:cNvSpPr txBox="1"/>
          <p:nvPr/>
        </p:nvSpPr>
        <p:spPr>
          <a:xfrm>
            <a:off x="695325" y="1724025"/>
            <a:ext cx="4684514" cy="771525"/>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SupportPilot equips IT service desks, SaaS platforms, and enterprise support centers to process thousands of daily support queries smoothly.</a:t>
            </a:r>
          </a:p>
        </p:txBody>
      </p:sp>
      <p:sp>
        <p:nvSpPr>
          <p:cNvPr id="14" name="TextBox 13"/>
          <p:cNvSpPr txBox="1"/>
          <p:nvPr/>
        </p:nvSpPr>
        <p:spPr>
          <a:xfrm>
            <a:off x="695325" y="2609850"/>
            <a:ext cx="4684514" cy="1028700"/>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By resolving standard L1 queries autonomously and elevating human agents into specialized problem solvers, organizations achieve rapid resolution times and predictable support SLAs.</a:t>
            </a:r>
          </a:p>
        </p:txBody>
      </p:sp>
      <p:sp>
        <p:nvSpPr>
          <p:cNvPr id="15" name="TextBox 14"/>
          <p:cNvSpPr txBox="1"/>
          <p:nvPr/>
        </p:nvSpPr>
        <p:spPr>
          <a:xfrm>
            <a:off x="5989439" y="1371600"/>
            <a:ext cx="6202560" cy="238125"/>
          </a:xfrm>
          <a:prstGeom prst="rect">
            <a:avLst/>
          </a:prstGeom>
          <a:noFill/>
        </p:spPr>
        <p:txBody>
          <a:bodyPr wrap="none" lIns="0" tIns="0" rIns="0" bIns="0" anchor="t">
            <a:spAutoFit/>
          </a:bodyPr>
          <a:lstStyle/>
          <a:p>
            <a:pPr algn="l"/>
            <a:r>
              <a:rPr sz="1500" b="1" i="0" u="none">
                <a:solidFill>
                  <a:srgbClr val="0F2922"/>
                </a:solidFill>
                <a:latin typeface="Plus Jakarta Sans"/>
              </a:rPr>
              <a:t>Future Technology Roadmap</a:t>
            </a:r>
          </a:p>
        </p:txBody>
      </p:sp>
      <p:sp>
        <p:nvSpPr>
          <p:cNvPr id="16" name="TextBox 15"/>
          <p:cNvSpPr txBox="1"/>
          <p:nvPr/>
        </p:nvSpPr>
        <p:spPr>
          <a:xfrm>
            <a:off x="6084689" y="1819275"/>
            <a:ext cx="2601217" cy="190500"/>
          </a:xfrm>
          <a:prstGeom prst="rect">
            <a:avLst/>
          </a:prstGeom>
          <a:noFill/>
        </p:spPr>
        <p:txBody>
          <a:bodyPr wrap="square" lIns="0" tIns="0" rIns="0" bIns="0" anchor="t">
            <a:spAutoFit/>
          </a:bodyPr>
          <a:lstStyle/>
          <a:p>
            <a:pPr algn="l"/>
            <a:r>
              <a:rPr sz="1200" b="0" i="0" u="none">
                <a:solidFill>
                  <a:srgbClr val="334155"/>
                </a:solidFill>
                <a:latin typeface="Inter"/>
              </a:rPr>
              <a:t>• MS Teams &amp; Slack Support Bots</a:t>
            </a:r>
          </a:p>
        </p:txBody>
      </p:sp>
      <p:sp>
        <p:nvSpPr>
          <p:cNvPr id="17" name="TextBox 16"/>
          <p:cNvSpPr txBox="1"/>
          <p:nvPr/>
        </p:nvSpPr>
        <p:spPr>
          <a:xfrm>
            <a:off x="8895457" y="1819275"/>
            <a:ext cx="2601217" cy="190500"/>
          </a:xfrm>
          <a:prstGeom prst="rect">
            <a:avLst/>
          </a:prstGeom>
          <a:noFill/>
        </p:spPr>
        <p:txBody>
          <a:bodyPr wrap="square" lIns="0" tIns="0" rIns="0" bIns="0" anchor="t">
            <a:spAutoFit/>
          </a:bodyPr>
          <a:lstStyle/>
          <a:p>
            <a:pPr algn="l"/>
            <a:r>
              <a:rPr sz="1200" b="0" i="0" u="none">
                <a:solidFill>
                  <a:srgbClr val="334155"/>
                </a:solidFill>
                <a:latin typeface="Inter"/>
              </a:rPr>
              <a:t>• Predictive AI SLA Breach Alerts</a:t>
            </a:r>
          </a:p>
        </p:txBody>
      </p:sp>
      <p:sp>
        <p:nvSpPr>
          <p:cNvPr id="18" name="TextBox 17"/>
          <p:cNvSpPr txBox="1"/>
          <p:nvPr/>
        </p:nvSpPr>
        <p:spPr>
          <a:xfrm>
            <a:off x="6084689" y="2314575"/>
            <a:ext cx="2601217" cy="381000"/>
          </a:xfrm>
          <a:prstGeom prst="rect">
            <a:avLst/>
          </a:prstGeom>
          <a:noFill/>
        </p:spPr>
        <p:txBody>
          <a:bodyPr wrap="square" lIns="0" tIns="0" rIns="0" bIns="0" anchor="t">
            <a:spAutoFit/>
          </a:bodyPr>
          <a:lstStyle/>
          <a:p>
            <a:pPr algn="l"/>
            <a:r>
              <a:rPr sz="1200" b="0" i="0" u="none">
                <a:solidFill>
                  <a:srgbClr val="334155"/>
                </a:solidFill>
                <a:latin typeface="Inter"/>
              </a:rPr>
              <a:t>• Multilingual Generative Translation</a:t>
            </a:r>
          </a:p>
        </p:txBody>
      </p:sp>
      <p:sp>
        <p:nvSpPr>
          <p:cNvPr id="19" name="TextBox 18"/>
          <p:cNvSpPr txBox="1"/>
          <p:nvPr/>
        </p:nvSpPr>
        <p:spPr>
          <a:xfrm>
            <a:off x="8895457" y="2314575"/>
            <a:ext cx="2601217" cy="381000"/>
          </a:xfrm>
          <a:prstGeom prst="rect">
            <a:avLst/>
          </a:prstGeom>
          <a:noFill/>
        </p:spPr>
        <p:txBody>
          <a:bodyPr wrap="square" lIns="0" tIns="0" rIns="0" bIns="0" anchor="t">
            <a:spAutoFit/>
          </a:bodyPr>
          <a:lstStyle/>
          <a:p>
            <a:pPr algn="l"/>
            <a:r>
              <a:rPr sz="1200" b="0" i="0" u="none">
                <a:solidFill>
                  <a:srgbClr val="334155"/>
                </a:solidFill>
                <a:latin typeface="Inter"/>
              </a:rPr>
              <a:t>• Automated KB Gap Detection</a:t>
            </a:r>
          </a:p>
        </p:txBody>
      </p:sp>
      <p:sp>
        <p:nvSpPr>
          <p:cNvPr id="20" name="TextBox 19"/>
          <p:cNvSpPr txBox="1"/>
          <p:nvPr/>
        </p:nvSpPr>
        <p:spPr>
          <a:xfrm>
            <a:off x="6084689" y="3000375"/>
            <a:ext cx="2601217" cy="381000"/>
          </a:xfrm>
          <a:prstGeom prst="rect">
            <a:avLst/>
          </a:prstGeom>
          <a:noFill/>
        </p:spPr>
        <p:txBody>
          <a:bodyPr wrap="square" lIns="0" tIns="0" rIns="0" bIns="0" anchor="t">
            <a:spAutoFit/>
          </a:bodyPr>
          <a:lstStyle/>
          <a:p>
            <a:pPr algn="l"/>
            <a:r>
              <a:rPr sz="1200" b="0" i="0" u="none">
                <a:solidFill>
                  <a:srgbClr val="334155"/>
                </a:solidFill>
                <a:latin typeface="Inter"/>
              </a:rPr>
              <a:t>• Conversational Voice AI Agent</a:t>
            </a:r>
          </a:p>
        </p:txBody>
      </p:sp>
      <p:sp>
        <p:nvSpPr>
          <p:cNvPr id="21" name="TextBox 20"/>
          <p:cNvSpPr txBox="1"/>
          <p:nvPr/>
        </p:nvSpPr>
        <p:spPr>
          <a:xfrm>
            <a:off x="8895457" y="3000375"/>
            <a:ext cx="2601217" cy="381000"/>
          </a:xfrm>
          <a:prstGeom prst="rect">
            <a:avLst/>
          </a:prstGeom>
          <a:noFill/>
        </p:spPr>
        <p:txBody>
          <a:bodyPr wrap="square" lIns="0" tIns="0" rIns="0" bIns="0" anchor="t">
            <a:spAutoFit/>
          </a:bodyPr>
          <a:lstStyle/>
          <a:p>
            <a:pPr algn="l"/>
            <a:r>
              <a:rPr sz="1200" b="0" i="0" u="none">
                <a:solidFill>
                  <a:srgbClr val="334155"/>
                </a:solidFill>
                <a:latin typeface="Inter"/>
              </a:rPr>
              <a:t>• Automated System API Remediation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F19"/>
        </a:solidFill>
        <a:effectLst/>
      </p:bgPr>
    </p:bg>
    <p:spTree>
      <p:nvGrpSpPr>
        <p:cNvPr id="1" name=""/>
        <p:cNvGrpSpPr/>
        <p:nvPr/>
      </p:nvGrpSpPr>
      <p:grpSpPr>
        <a:xfrm>
          <a:off x="0" y="0"/>
          <a:ext cx="0" cy="0"/>
          <a:chOff x="0" y="0"/>
          <a:chExt cx="0" cy="0"/>
        </a:xfrm>
      </p:grpSpPr>
      <p:sp>
        <p:nvSpPr>
          <p:cNvPr id="2" name="Rounded Rectangle 1"/>
          <p:cNvSpPr/>
          <p:nvPr/>
        </p:nvSpPr>
        <p:spPr>
          <a:xfrm>
            <a:off x="609600" y="2876550"/>
            <a:ext cx="10972800" cy="1933575"/>
          </a:xfrm>
          <a:prstGeom prst="roundRect">
            <a:avLst>
              <a:gd name="adj" fmla="val 5911"/>
            </a:avLst>
          </a:prstGeom>
          <a:solidFill>
            <a:srgbClr val="162A25"/>
          </a:solidFill>
          <a:ln w="9525">
            <a:solidFill>
              <a:srgbClr val="2335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7725" y="4076700"/>
            <a:ext cx="1049655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47725" y="4076700"/>
            <a:ext cx="1049655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457200"/>
            <a:ext cx="11068050" cy="1143000"/>
          </a:xfrm>
          <a:prstGeom prst="rect">
            <a:avLst/>
          </a:prstGeom>
          <a:noFill/>
        </p:spPr>
        <p:txBody>
          <a:bodyPr wrap="square" lIns="0" tIns="0" rIns="0" bIns="0" anchor="t">
            <a:spAutoFit/>
          </a:bodyPr>
          <a:lstStyle/>
          <a:p>
            <a:pPr algn="l"/>
            <a:r>
              <a:rPr sz="1050" b="1" i="0" u="none">
                <a:solidFill>
                  <a:srgbClr val="2DD4BF"/>
                </a:solidFill>
                <a:latin typeface="Inter"/>
              </a:rPr>
              <a:t> Infosys Springboard Virtual Internship 7.0 • Final Review </a:t>
            </a:r>
          </a:p>
        </p:txBody>
      </p:sp>
      <p:sp>
        <p:nvSpPr>
          <p:cNvPr id="7" name="TextBox 6"/>
          <p:cNvSpPr txBox="1"/>
          <p:nvPr/>
        </p:nvSpPr>
        <p:spPr>
          <a:xfrm>
            <a:off x="609600" y="762000"/>
            <a:ext cx="11582400" cy="533400"/>
          </a:xfrm>
          <a:prstGeom prst="rect">
            <a:avLst/>
          </a:prstGeom>
          <a:noFill/>
        </p:spPr>
        <p:txBody>
          <a:bodyPr wrap="none" lIns="0" tIns="0" rIns="0" bIns="0" anchor="t">
            <a:spAutoFit/>
          </a:bodyPr>
          <a:lstStyle/>
          <a:p>
            <a:pPr algn="l"/>
            <a:r>
              <a:rPr sz="3300" b="1" i="0" u="none">
                <a:solidFill>
                  <a:srgbClr val="FFFFFF"/>
                </a:solidFill>
                <a:latin typeface="Plus Jakarta Sans"/>
              </a:rPr>
              <a:t>SupportPilot</a:t>
            </a:r>
          </a:p>
        </p:txBody>
      </p:sp>
      <p:sp>
        <p:nvSpPr>
          <p:cNvPr id="8" name="TextBox 7"/>
          <p:cNvSpPr txBox="1"/>
          <p:nvPr/>
        </p:nvSpPr>
        <p:spPr>
          <a:xfrm>
            <a:off x="609600" y="1333500"/>
            <a:ext cx="11582400" cy="266700"/>
          </a:xfrm>
          <a:prstGeom prst="rect">
            <a:avLst/>
          </a:prstGeom>
          <a:noFill/>
        </p:spPr>
        <p:txBody>
          <a:bodyPr wrap="none" lIns="0" tIns="0" rIns="0" bIns="0" anchor="t">
            <a:spAutoFit/>
          </a:bodyPr>
          <a:lstStyle/>
          <a:p>
            <a:pPr algn="l"/>
            <a:r>
              <a:rPr sz="1650" b="1" i="0" u="none">
                <a:solidFill>
                  <a:srgbClr val="2DD4BF"/>
                </a:solidFill>
                <a:latin typeface="Plus Jakarta Sans"/>
              </a:rPr>
              <a:t>"Smarter Support. Faster Resolution. Superior Customer Experience."</a:t>
            </a:r>
          </a:p>
        </p:txBody>
      </p:sp>
      <p:sp>
        <p:nvSpPr>
          <p:cNvPr id="9" name="TextBox 8"/>
          <p:cNvSpPr txBox="1"/>
          <p:nvPr/>
        </p:nvSpPr>
        <p:spPr>
          <a:xfrm>
            <a:off x="847725" y="3114675"/>
            <a:ext cx="10591800" cy="771525"/>
          </a:xfrm>
          <a:prstGeom prst="rect">
            <a:avLst/>
          </a:prstGeom>
          <a:noFill/>
        </p:spPr>
        <p:txBody>
          <a:bodyPr wrap="square" lIns="0" tIns="0" rIns="0" bIns="0" anchor="t">
            <a:spAutoFit/>
          </a:bodyPr>
          <a:lstStyle/>
          <a:p>
            <a:pPr algn="l">
              <a:lnSpc>
                <a:spcPts val="2025"/>
              </a:lnSpc>
            </a:pPr>
            <a:r>
              <a:rPr sz="1350" b="0" i="0" u="none">
                <a:solidFill>
                  <a:srgbClr val="CBD5E1"/>
                </a:solidFill>
                <a:latin typeface="Inter"/>
              </a:rPr>
              <a:t>SupportPilot successfully delivers an end-to-end AI-assisted customer support platform featuring automated triage, RAG knowledge retrieval, confidence-gated escalation routing, Jira integration, and executive SLA analytics. Developed, tested, and deployed live during the 8-week Infosys Springboard Virtual Internship 7.0.</a:t>
            </a:r>
          </a:p>
        </p:txBody>
      </p:sp>
      <p:sp>
        <p:nvSpPr>
          <p:cNvPr id="12" name="TextBox 11"/>
          <p:cNvSpPr txBox="1"/>
          <p:nvPr/>
        </p:nvSpPr>
        <p:spPr>
          <a:xfrm>
            <a:off x="847725" y="4238625"/>
            <a:ext cx="2786062" cy="142875"/>
          </a:xfrm>
          <a:prstGeom prst="rect">
            <a:avLst/>
          </a:prstGeom>
          <a:noFill/>
        </p:spPr>
        <p:txBody>
          <a:bodyPr wrap="none" lIns="0" tIns="0" rIns="0" bIns="0" anchor="t">
            <a:spAutoFit/>
          </a:bodyPr>
          <a:lstStyle/>
          <a:p>
            <a:pPr algn="l"/>
            <a:r>
              <a:rPr sz="900" b="1" i="0" u="none">
                <a:solidFill>
                  <a:srgbClr val="2DD4BF"/>
                </a:solidFill>
                <a:latin typeface="Inter"/>
              </a:rPr>
              <a:t>LIVE PRODUCTION URL</a:t>
            </a:r>
          </a:p>
        </p:txBody>
      </p:sp>
      <p:sp>
        <p:nvSpPr>
          <p:cNvPr id="13" name="TextBox 12"/>
          <p:cNvSpPr txBox="1"/>
          <p:nvPr/>
        </p:nvSpPr>
        <p:spPr>
          <a:xfrm>
            <a:off x="847725" y="4381500"/>
            <a:ext cx="2786062" cy="190500"/>
          </a:xfrm>
          <a:prstGeom prst="rect">
            <a:avLst/>
          </a:prstGeom>
          <a:noFill/>
        </p:spPr>
        <p:txBody>
          <a:bodyPr wrap="none" lIns="0" tIns="0" rIns="0" bIns="0" anchor="t">
            <a:spAutoFit/>
          </a:bodyPr>
          <a:lstStyle/>
          <a:p>
            <a:pPr algn="l"/>
            <a:r>
              <a:rPr sz="1200" b="1" i="0" u="none">
                <a:solidFill>
                  <a:srgbClr val="FFFFFF"/>
                </a:solidFill>
                <a:latin typeface="Inter"/>
              </a:rPr>
              <a:t>https://sitm-deploy.vercel.app</a:t>
            </a:r>
          </a:p>
        </p:txBody>
      </p:sp>
      <p:sp>
        <p:nvSpPr>
          <p:cNvPr id="14" name="TextBox 13"/>
          <p:cNvSpPr txBox="1"/>
          <p:nvPr/>
        </p:nvSpPr>
        <p:spPr>
          <a:xfrm>
            <a:off x="5019675" y="4238625"/>
            <a:ext cx="7172325" cy="142875"/>
          </a:xfrm>
          <a:prstGeom prst="rect">
            <a:avLst/>
          </a:prstGeom>
          <a:noFill/>
        </p:spPr>
        <p:txBody>
          <a:bodyPr wrap="none" lIns="0" tIns="0" rIns="0" bIns="0" anchor="t">
            <a:spAutoFit/>
          </a:bodyPr>
          <a:lstStyle/>
          <a:p>
            <a:pPr algn="l"/>
            <a:r>
              <a:rPr sz="900" b="1" i="0" u="none">
                <a:solidFill>
                  <a:srgbClr val="2DD4BF"/>
                </a:solidFill>
                <a:latin typeface="Inter"/>
              </a:rPr>
              <a:t>SOURCE CODE REPOSITORY</a:t>
            </a:r>
          </a:p>
        </p:txBody>
      </p:sp>
      <p:sp>
        <p:nvSpPr>
          <p:cNvPr id="15" name="TextBox 14"/>
          <p:cNvSpPr txBox="1"/>
          <p:nvPr/>
        </p:nvSpPr>
        <p:spPr>
          <a:xfrm>
            <a:off x="5019675" y="4381500"/>
            <a:ext cx="7172325" cy="190500"/>
          </a:xfrm>
          <a:prstGeom prst="rect">
            <a:avLst/>
          </a:prstGeom>
          <a:noFill/>
        </p:spPr>
        <p:txBody>
          <a:bodyPr wrap="none" lIns="0" tIns="0" rIns="0" bIns="0" anchor="t">
            <a:spAutoFit/>
          </a:bodyPr>
          <a:lstStyle/>
          <a:p>
            <a:pPr algn="l"/>
            <a:r>
              <a:rPr sz="1200" b="1" i="0" u="none">
                <a:solidFill>
                  <a:srgbClr val="FFFFFF"/>
                </a:solidFill>
                <a:latin typeface="Inter"/>
              </a:rPr>
              <a:t>https://github.com/ananyaravikumar548/Infosys_Support-AI-Ticket-Management-.git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1667</Words>
  <Application>Microsoft Office PowerPoint</Application>
  <PresentationFormat>Widescreen</PresentationFormat>
  <Paragraphs>243</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Inter</vt:lpstr>
      <vt:lpstr>Arial</vt:lpstr>
      <vt:lpstr>Calibri</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TASLEEM SYED</dc:creator>
  <cp:keywords/>
  <dc:description>generated using python-pptx</dc:description>
  <cp:lastModifiedBy>Syed tasleem</cp:lastModifiedBy>
  <cp:revision>2</cp:revision>
  <dcterms:created xsi:type="dcterms:W3CDTF">2013-01-27T09:14:16Z</dcterms:created>
  <dcterms:modified xsi:type="dcterms:W3CDTF">2026-09-18T11:26:37Z</dcterms:modified>
  <cp:category/>
</cp:coreProperties>
</file>